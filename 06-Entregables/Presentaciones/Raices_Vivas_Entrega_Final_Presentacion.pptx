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21"/>
    <p:sldId id="271" r:id="rId22"/>
    <p:sldId id="263" r:id="rId9"/>
    <p:sldId id="272" r:id="rId23"/>
    <p:sldId id="273" r:id="rId24"/>
    <p:sldId id="274" r:id="rId25"/>
    <p:sldId id="264" r:id="rId10"/>
    <p:sldId id="265" r:id="rId11"/>
    <p:sldId id="266" r:id="rId12"/>
    <p:sldId id="275" r:id="rId26"/>
    <p:sldId id="276" r:id="rId27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problema central: el proyecto no se diseñó desde escritorio. Resaltar que la propuesta integra problema social, rigor metodológico, arquitectura y gestión. Cerrar con la idea de soberanía y continuidad cultural.
[Sources]
- Raíces Vivas — Entrega Final: Implementación y Gestión (archivo subido por el usuario, 2026-04-19)
- https://github.com/yonrasgg/RAICES_VIVAS/blob/main/README.md
- https://github.com/yonrasgg/RAICES_VIVAS/blob/main/01-Proyecto/Decisiones/ADR-007.md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este slide como mapa general. Sirve para que el tribunal vea en menos de un minuto el problema, la evidencia, la respuesta técnica y la forma en que el equipo gobernó el proyecto.
[Sources]
- Raíces Vivas — Entrega Final: Implementación y Gestión (archivo subido por el usuario, 2026-04-19)
- https://github.com/yonrasgg/RAICES_VIVAS/blob/main/README.md
- https://github.com/yonrasgg/RAICES_VIVAS/blob/main/01-Proyecto/Decisiones/ADR-001.md
- https://github.com/yonrasgg/RAICES_VIVAS/blob/main/01-Proyecto/Decisiones/ADR-007.md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lámina para conectar el contexto físico con la decisión técnica. Subrayar que el problema no es solo tecnológico, sino territorial, cultural y logístico.
[Sources]
- Raíces Vivas — Entrega Final: Implementación y Gestión (archivo subido por el usuario, 2026-04-19)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no se trató de una simple recopilación de requisitos. Hubo un diseño metodológico con lógica de investigación aplicada y un marco ético compatible con datos indígenas.
[Sources]
- Raíces Vivas — Entrega Final: Implementación y Gestión (archivo subido por el usuario, 2026-04-19)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esta lámina como una síntesis de evidencia. Conviene mostrar cómo cada módulo tiene su propio problema visible, pero todos convergen en una misma lógica de diseño y gobernanza.
[Sources]
- Raíces Vivas — Entrega Final: Implementación y Gestión (archivo subido por el usuario, 2026-04-19)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 solución no solo responde al problema técnico. Responde a restricciones territoriales, lingüísticas, éticas y operativas. La distinción más fuerte es que la gobernanza CARE se modela como arquitectura.
[Sources]
- Raíces Vivas — Entrega Final: Implementación y Gestión (archivo subido por el usuario, 2026-04-19)
- https://github.com/yonrasgg/RAICES_VIVAS/blob/main/04-Arquitectura/Visión%20General.md
- https://github.com/yonrasgg/RAICES_VIVAS/blob/main/04-Arquitectura/Stack%20Tecnológico.md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es ideal para defender la arquitectura. El mensaje clave es que la política de acceso no está fuera del sistema: está embebida en el modelo de datos, en el flujo de sincronización y en el control de conflictos.
[Sources]
- Raíces Vivas — Entrega Final: Implementación y Gestión (archivo subido por el usuario, 2026-04-19)
- https://github.com/yonrasgg/RAICES_VIVAS/blob/main/04-Arquitectura/Visión%20General.md
- https://github.com/yonrasgg/RAICES_VIVAS/blob/main/04-Arquitectura/Modelo%20de%20Datos.md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conviene mostrar que hubo disciplina de ingeniería de software: especificación, priorización, matriz de trazabilidad y alineación entre el modelo funcional y el plan de trabajo.
[Sources]
- Raíces Vivas — Entrega Final: Implementación y Gestión (archivo subido por el usuario, 2026-04-19)
- https://github.com/yonrasgg/RAICES_VIVAS/blob/main/03-Requerimientos/_RTM.md
- https://github.com/yonrasgg/RAICES_VIVAS/blob/main/04-Arquitectura/WBS.md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esta lámina se incorpora explícitamente el punto solicitado por el usuario: Obsidian, GitHub y Jira sincronizados. Explicar que el API token y el campo jira_key permiten vincular el vault con el tablero operativo.
[Sources]
- https://github.com/yonrasgg/RAICES_VIVAS/blob/main/01-Proyecto/Decisiones/ADR-001.md
- https://github.com/yonrasgg/RAICES_VIVAS/blob/main/01-Proyecto/Decisiones/ADR-007.md
- https://github.com/yonrasgg/RAICES_VIVAS/blob/main/README.md
- Raíces Vivas — Entrega Final: Implementación y Gestión (archivo subido por el usuario, 2026-04-19)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comunica control. Resaltar que hubo planificación, medición, desviación controlada y evidencia documental del proceso, no solo del producto.
[Sources]
- Raíces Vivas — Entrega Final: Implementación y Gestión (archivo subido por el usuario, 2026-04-19)
- https://github.com/yonrasgg/RAICES_VIVAS/blob/main/00-Dashboard/Roadmap.md
- https://github.com/yonrasgg/RAICES_VIVAS/blob/main/00-Dashboard/Métricas.md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lámina para reconocer al equipo y demostrar madurez de gestión. Conviene mostrar cómo se distribuyeron responsabilidades y cómo se capturó el aprendizaje del proceso.
[Sources]
- Raíces Vivas — Entrega Final: Implementación y Gestión (archivo subido por el usuario, 2026-04-19)
- https://github.com/yonrasgg/RAICES_VIVAS/blob/main/00-Dashboard/Métricas.md
- https://github.com/yonrasgg/RAICES_VIVAS/blob/main/01-Proyecto/Decisiones/ADR-001.md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esta lámina como evidencia de que el proyecto avanzó hasta un estado demostrable. El objetivo no es vender un producto terminado, sino mostrar preparación técnica, coherencia de stack y un MVP funcional.
[Sources]
- Raíces Vivas — Entrega Final: Implementación y Gestión (archivo subido por el usuario, 2026-04-19)
- https://github.com/yonrasgg/RAICES_VIVAS/blob/main/04-Arquitectura/Stack%20Tecnológico.md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tres ideas fuertes y tres acciones concretas. Es una buena lámina para dejar claro que el proyecto no termina en la entrega, sino que abre una ruta de validación y despliegue responsable.
[Sources]
- Raíces Vivas — Entrega Final: Implementación y Gestión (archivo subido por el usuario, 2026-04-19)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la presentación devolviendo el foco a la pregunta central: cómo una solución de software puede respetar la complejidad territorial y cultural sin perder trazabilidad, gestión y viabilidad técnica.
[Sources]
- Raíces Vivas — Entrega Final: Implementación y Gestión (archivo subido por el usuario, 2026-04-19)
- https://github.com/yonrasgg/RAICES_VIVAS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731520"/>
            <a:ext cx="4023360" cy="4023360"/>
          </a:xfrm>
          <a:prstGeom prst="ellipse">
            <a:avLst/>
          </a:prstGeom>
          <a:solidFill>
            <a:srgbClr val="B85C38">
              <a:alpha val="78000"/>
            </a:srgbClr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4206240" cy="4206240"/>
          </a:xfrm>
          <a:prstGeom prst="ellipse">
            <a:avLst/>
          </a:prstGeom>
          <a:solidFill>
            <a:srgbClr val="C5A05A">
              <a:alpha val="65000"/>
            </a:srgbClr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657600"/>
            <a:ext cx="4572000" cy="4572000"/>
          </a:xfrm>
          <a:prstGeom prst="ellipse">
            <a:avLst/>
          </a:prstGeom>
          <a:solidFill>
            <a:srgbClr val="8FA49B">
              <a:alpha val="20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48640"/>
            <a:ext cx="109728" cy="539496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7498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9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170432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 Final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 y Gestión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96112" y="27432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3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propuesta académica y sociotécnica para educación intercultural, preservación de saberes ancestrales y salud comunitaria en territorios indígenas de Costa Rica.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384048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986784"/>
            <a:ext cx="4151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“Que nos traten como socios, no como beneficiarios de un proyecto.”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" y="498348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5020056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CENFOTEC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32304" y="4983480"/>
            <a:ext cx="1664208" cy="274320"/>
          </a:xfrm>
          <a:prstGeom prst="roundRect">
            <a:avLst>
              <a:gd name="adj" fmla="val 26667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502005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SOFT-09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06240" y="4983480"/>
            <a:ext cx="1783080" cy="274320"/>
          </a:xfrm>
          <a:prstGeom prst="roundRect">
            <a:avLst>
              <a:gd name="adj" fmla="val 26667"/>
            </a:avLst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5020056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abril 2026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37960" y="960120"/>
            <a:ext cx="4709160" cy="5212080"/>
          </a:xfrm>
          <a:prstGeom prst="roundRect">
            <a:avLst>
              <a:gd name="adj" fmla="val 1553"/>
            </a:avLst>
          </a:prstGeom>
          <a:solidFill>
            <a:srgbClr val="FFF8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1704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TESIS DE LA PRESENTACIÓN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12280" y="14173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arquitectura, la gestión y la implementación nacen del territorio, de la evidencia y de la gobernanza comunitaria.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39712" y="2423160"/>
            <a:ext cx="40690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Investigación aplicada con enfoque mixto y principios CARE
</a:t>
            </a:r>
            <a:pPr indent="0" marL="0">
              <a:buNone/>
            </a:pPr>
            <a:r>
              <a:rPr lang="en-US" sz="113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Diseño offline-first como condición operativa, no como contingencia
</a:t>
            </a:r>
            <a:pPr indent="0" marL="0">
              <a:buNone/>
            </a:pPr>
            <a:r>
              <a:rPr lang="en-US" sz="113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Gestión híbrida con Obsidian, GitHub y Jira sincronizados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812280" y="388620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3886200"/>
            <a:ext cx="91440" cy="96012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3448" y="4050792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13448" y="445312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11312" y="388620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11312" y="3886200"/>
            <a:ext cx="91440" cy="960120"/>
          </a:xfrm>
          <a:prstGeom prst="rect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4050792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6E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412480" y="445312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 funcionales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10344" y="388620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10344" y="3886200"/>
            <a:ext cx="91440" cy="960120"/>
          </a:xfrm>
          <a:prstGeom prst="rect">
            <a:avLst/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11512" y="4050792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811512" y="445312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 del modelo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58200" y="498348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58200" y="4983480"/>
            <a:ext cx="91440" cy="868680"/>
          </a:xfrm>
          <a:prstGeom prst="rect">
            <a:avLst/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59368" y="514807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 tareas · 90%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659368" y="555040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del proyecto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6112" y="603504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E3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Geovanny Alpízar · Elkin · Santiago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96112" y="626364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C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Curso: Introducción a la Ingeniería de Software · Docente: Johnny Marín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326880" y="63093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0C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académica de cierre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entrega final + repo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-1097280"/>
            <a:ext cx="2926080" cy="2926080"/>
          </a:xfrm>
          <a:prstGeom prst="ellipse">
            <a:avLst/>
          </a:prstGeom>
          <a:solidFill>
            <a:srgbClr val="E8D9C4">
              <a:alpha val="65000"/>
            </a:srgbClr>
          </a:solidFill>
          <a:ln w="12700">
            <a:solidFill>
              <a:srgbClr val="E8D9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5166360"/>
            <a:ext cx="2286000" cy="2286000"/>
          </a:xfrm>
          <a:prstGeom prst="ellipse">
            <a:avLst/>
          </a:prstGeom>
          <a:solidFill>
            <a:srgbClr val="8FA49B">
              <a:alpha val="25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-640080"/>
            <a:ext cx="2743200" cy="2743200"/>
          </a:xfrm>
          <a:prstGeom prst="ellipse">
            <a:avLst/>
          </a:prstGeom>
          <a:solidFill>
            <a:srgbClr val="C5A05A">
              <a:alpha val="18000"/>
            </a:srgbClr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10896"/>
            <a:ext cx="1138428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VISIÓN INTEGRAL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ejecutivo en una sola página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 · Entrega Final · CENFOTEC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8686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hallazgo de campo a la solución operativa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207008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4672" y="1664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Fortalecer tres ejes interrelacionados en comunidades indígenas de Costa Rica: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" y="2176272"/>
            <a:ext cx="932688" cy="274320"/>
          </a:xfrm>
          <a:prstGeom prst="roundRect">
            <a:avLst>
              <a:gd name="adj" fmla="val 26667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21284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47088" y="220370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intercultural bilingüe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2624328"/>
            <a:ext cx="932688" cy="274320"/>
          </a:xfrm>
          <a:prstGeom prst="roundRect">
            <a:avLst>
              <a:gd name="adj" fmla="val 26667"/>
            </a:avLst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266090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47088" y="26517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Preservación de saberes ancestrales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" y="3072384"/>
            <a:ext cx="932688" cy="274320"/>
          </a:xfrm>
          <a:prstGeom prst="roundRect">
            <a:avLst>
              <a:gd name="adj" fmla="val 26667"/>
            </a:avLst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10896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847088" y="309981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Salud comunitaria y seguimiento territorial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" y="3657600"/>
            <a:ext cx="3127248" cy="1051560"/>
          </a:xfrm>
          <a:prstGeom prst="roundRect">
            <a:avLst>
              <a:gd name="adj" fmla="val 6957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3803904"/>
            <a:ext cx="27980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solución debía funcionar sin internet, respetar la soberanía cultural y ser usable en contextos de alta complejidad territorial.”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49194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aporte académico del proyecto combina investigación aplicada, ingeniería de software, gestión ágil, trazabilidad y un enfoque de gobernanza cultural CARE.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12344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1234440"/>
            <a:ext cx="91440" cy="1005840"/>
          </a:xfrm>
          <a:prstGeom prst="rect">
            <a:avLst/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399032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+ 3 + 3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681728" y="1801368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entrevistas, observaciones y encuestas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12344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1234440"/>
            <a:ext cx="91440" cy="100584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1399032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93408" y="1801368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 en instrumentos cuantitativos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03920" y="12344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503920" y="1234440"/>
            <a:ext cx="91440" cy="1005840"/>
          </a:xfrm>
          <a:prstGeom prst="rect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05088" y="1399032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6E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705088" y="1801368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 totales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378440" y="123444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378440" y="1234440"/>
            <a:ext cx="91440" cy="1005840"/>
          </a:xfrm>
          <a:prstGeom prst="rect">
            <a:avLst/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79608" y="1399032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0579608" y="1801368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de uso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80560" y="2496312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FBF6EE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09160" y="27249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09160" y="2980944"/>
            <a:ext cx="31089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87% de docentes reporta escasez de materiales en lengua indígena
</a:t>
            </a:r>
            <a:pPr indent="0" marL="0">
              <a:buNone/>
            </a:pPr>
            <a:r>
              <a:rPr lang="en-US" sz="105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80% de portadores teme mal uso de saberes digitalizados
</a:t>
            </a:r>
            <a:pPr indent="0" marL="0">
              <a:buNone/>
            </a:pPr>
            <a:r>
              <a:rPr lang="en-US" sz="105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44% del personal de salud ha perdido datos en giras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247888" y="2496312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F7FAF8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485632" y="27249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485632" y="2980944"/>
            <a:ext cx="28346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PWA offline-first con PouchDB/CouchDB
</a:t>
            </a:r>
            <a:pPr indent="0" marL="0">
              <a:buNone/>
            </a:pPr>
            <a:r>
              <a:rPr lang="en-US" sz="103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Multilingüe en español, bribri, cabécar y ngäbere
</a:t>
            </a:r>
            <a:pPr indent="0" marL="0">
              <a:buNone/>
            </a:pPr>
            <a:r>
              <a:rPr lang="en-US" sz="103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Gobernanza CARE con cuatro niveles de acceso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4480560" y="4160520"/>
            <a:ext cx="7132320" cy="1600200"/>
          </a:xfrm>
          <a:prstGeom prst="roundRect">
            <a:avLst>
              <a:gd name="adj" fmla="val 4571"/>
            </a:avLst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709160" y="43708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MECANISMO DE GESTIÓN Y CONTROL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09160" y="4700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Obsidian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709160" y="495604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hub de conocimiento, documentación y trazabilidad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46520" y="470001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46520" y="49560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versionado, respaldo y colaboración del vault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339328" y="47000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6E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Jira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39328" y="4956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fuente operativa de sprint, estado y asignación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213848" y="4700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Sincronización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213848" y="49560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vía plugin/API token, issue keys y vínculos desde frontmatter</a:t>
            </a:r>
            <a:endParaRPr lang="en-US" sz="960" dirty="0"/>
          </a:p>
        </p:txBody>
      </p:sp>
      <p:sp>
        <p:nvSpPr>
          <p:cNvPr id="58" name="Text 56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documento final + repo RAICES_VIVAS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-1097280"/>
            <a:ext cx="2926080" cy="2926080"/>
          </a:xfrm>
          <a:prstGeom prst="ellipse">
            <a:avLst/>
          </a:prstGeom>
          <a:solidFill>
            <a:srgbClr val="E8D9C4">
              <a:alpha val="65000"/>
            </a:srgbClr>
          </a:solidFill>
          <a:ln w="12700">
            <a:solidFill>
              <a:srgbClr val="E8D9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5166360"/>
            <a:ext cx="2286000" cy="2286000"/>
          </a:xfrm>
          <a:prstGeom prst="ellipse">
            <a:avLst/>
          </a:prstGeom>
          <a:solidFill>
            <a:srgbClr val="8FA49B">
              <a:alpha val="25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-640080"/>
            <a:ext cx="2743200" cy="2743200"/>
          </a:xfrm>
          <a:prstGeom prst="ellipse">
            <a:avLst/>
          </a:prstGeom>
          <a:solidFill>
            <a:srgbClr val="C5A05A">
              <a:alpha val="18000"/>
            </a:srgbClr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10896"/>
            <a:ext cx="1138428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1 · ANÁLISIS DEL PROBLEMA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realidad territorial define el sistema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 · Entrega Final · CENFOTEC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8686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mismo país conviven territorios con 4G estable y otros donde la señal celular es inexistente.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234440"/>
            <a:ext cx="562356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ASIMETRÍA TERRITORIAL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4672" y="1783080"/>
            <a:ext cx="1325880" cy="310896"/>
          </a:xfrm>
          <a:prstGeom prst="rect">
            <a:avLst/>
          </a:prstGeom>
          <a:solidFill>
            <a:srgbClr val="EFE7DB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1865376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Territorio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30552" y="1783080"/>
            <a:ext cx="1024128" cy="310896"/>
          </a:xfrm>
          <a:prstGeom prst="rect">
            <a:avLst/>
          </a:prstGeom>
          <a:solidFill>
            <a:srgbClr val="EFE7DB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6272" y="1865376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Electricidad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54680" y="1783080"/>
            <a:ext cx="1078992" cy="310896"/>
          </a:xfrm>
          <a:prstGeom prst="rect">
            <a:avLst/>
          </a:prstGeom>
          <a:solidFill>
            <a:srgbClr val="EFE7DB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865376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33672" y="1783080"/>
            <a:ext cx="1005840" cy="310896"/>
          </a:xfrm>
          <a:prstGeom prst="rect">
            <a:avLst/>
          </a:prstGeom>
          <a:solidFill>
            <a:srgbClr val="EFE7DB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9392" y="186537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EBAIS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39512" y="1783080"/>
            <a:ext cx="868680" cy="310896"/>
          </a:xfrm>
          <a:prstGeom prst="rect">
            <a:avLst/>
          </a:prstGeom>
          <a:solidFill>
            <a:srgbClr val="EFE7DB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5232" y="1865376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Complejidad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4672" y="2093976"/>
            <a:ext cx="1325880" cy="393192"/>
          </a:xfrm>
          <a:prstGeom prst="rect">
            <a:avLst/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221284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Guatuso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130552" y="2093976"/>
            <a:ext cx="1024128" cy="393192"/>
          </a:xfrm>
          <a:prstGeom prst="rect">
            <a:avLst/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221284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154680" y="2093976"/>
            <a:ext cx="1078992" cy="393192"/>
          </a:xfrm>
          <a:prstGeom prst="rect">
            <a:avLst/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21284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4G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233672" y="2093976"/>
            <a:ext cx="1005840" cy="393192"/>
          </a:xfrm>
          <a:prstGeom prst="rect">
            <a:avLst/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79392" y="221284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30 min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239512" y="2093976"/>
            <a:ext cx="868680" cy="393192"/>
          </a:xfrm>
          <a:prstGeom prst="rect">
            <a:avLst/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85232" y="221284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04672" y="2487168"/>
            <a:ext cx="1325880" cy="393192"/>
          </a:xfrm>
          <a:prstGeom prst="rect">
            <a:avLst/>
          </a:prstGeom>
          <a:solidFill>
            <a:srgbClr val="FAF7F0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260604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Boruca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130552" y="2487168"/>
            <a:ext cx="1024128" cy="393192"/>
          </a:xfrm>
          <a:prstGeom prst="rect">
            <a:avLst/>
          </a:prstGeom>
          <a:solidFill>
            <a:srgbClr val="FAF7F0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76272" y="2606040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154680" y="2487168"/>
            <a:ext cx="1078992" cy="393192"/>
          </a:xfrm>
          <a:prstGeom prst="rect">
            <a:avLst/>
          </a:prstGeom>
          <a:solidFill>
            <a:srgbClr val="FAF7F0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2606040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3G/4G parcial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233672" y="2487168"/>
            <a:ext cx="1005840" cy="393192"/>
          </a:xfrm>
          <a:prstGeom prst="rect">
            <a:avLst/>
          </a:prstGeom>
          <a:solidFill>
            <a:srgbClr val="FAF7F0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9392" y="260604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30 min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239512" y="2487168"/>
            <a:ext cx="868680" cy="393192"/>
          </a:xfrm>
          <a:prstGeom prst="rect">
            <a:avLst/>
          </a:prstGeom>
          <a:solidFill>
            <a:srgbClr val="FAF7F0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85232" y="2606040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Baja-media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04672" y="2880360"/>
            <a:ext cx="1325880" cy="393192"/>
          </a:xfrm>
          <a:prstGeom prst="rect">
            <a:avLst/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" y="299923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Talamanca Alta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2130552" y="2880360"/>
            <a:ext cx="1024128" cy="393192"/>
          </a:xfrm>
          <a:prstGeom prst="rect">
            <a:avLst/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76272" y="2999232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Solar/intermitente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3154680" y="2880360"/>
            <a:ext cx="1078992" cy="393192"/>
          </a:xfrm>
          <a:prstGeom prst="rect">
            <a:avLst/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0" y="2999232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2G parcial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233672" y="2880360"/>
            <a:ext cx="1005840" cy="393192"/>
          </a:xfrm>
          <a:prstGeom prst="rect">
            <a:avLst/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79392" y="299923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ATAP mensual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239512" y="2880360"/>
            <a:ext cx="868680" cy="393192"/>
          </a:xfrm>
          <a:prstGeom prst="rect">
            <a:avLst/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85232" y="299923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804672" y="3273552"/>
            <a:ext cx="1325880" cy="393192"/>
          </a:xfrm>
          <a:prstGeom prst="rect">
            <a:avLst/>
          </a:prstGeom>
          <a:solidFill>
            <a:srgbClr val="FAF7F0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0392" y="3392424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Chirripó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2130552" y="3273552"/>
            <a:ext cx="1024128" cy="393192"/>
          </a:xfrm>
          <a:prstGeom prst="rect">
            <a:avLst/>
          </a:prstGeom>
          <a:solidFill>
            <a:srgbClr val="FAF7F0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76272" y="339242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Solar/micro-hidro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3154680" y="3273552"/>
            <a:ext cx="1078992" cy="393192"/>
          </a:xfrm>
          <a:prstGeom prst="rect">
            <a:avLst/>
          </a:prstGeom>
          <a:solidFill>
            <a:srgbClr val="FAF7F0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0" y="339242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cobertura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4233672" y="3273552"/>
            <a:ext cx="1005840" cy="393192"/>
          </a:xfrm>
          <a:prstGeom prst="rect">
            <a:avLst/>
          </a:prstGeom>
          <a:solidFill>
            <a:srgbClr val="FAF7F0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79392" y="339242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4-8 h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5239512" y="3273552"/>
            <a:ext cx="868680" cy="393192"/>
          </a:xfrm>
          <a:prstGeom prst="rect">
            <a:avLst/>
          </a:prstGeom>
          <a:solidFill>
            <a:srgbClr val="FAF7F0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85232" y="339242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Muy alta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804672" y="37033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Implicación arquitectónica: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04672" y="39136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offline-first no era una preferencia de diseño. Era una condición de viabilidad.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804672" y="4434840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9264" y="4581144"/>
            <a:ext cx="4654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“Si no hay señal, el sistema debe seguir funcionando igual.”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0" y="12344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7F4"/>
          </a:solidFill>
          <a:ln w="12700">
            <a:solidFill>
              <a:srgbClr val="E8D5C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611112" y="1444752"/>
            <a:ext cx="713232" cy="256032"/>
          </a:xfrm>
          <a:prstGeom prst="roundRect">
            <a:avLst>
              <a:gd name="adj" fmla="val 28571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84264" y="14813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452360" y="1481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87% de docentes carece de materiales en lengua indígena y 83% registra el progreso en papel.</a:t>
            </a:r>
            <a:endParaRPr lang="en-US" sz="1120" dirty="0"/>
          </a:p>
        </p:txBody>
      </p:sp>
      <p:sp>
        <p:nvSpPr>
          <p:cNvPr id="71" name="Text 69"/>
          <p:cNvSpPr/>
          <p:nvPr/>
        </p:nvSpPr>
        <p:spPr>
          <a:xfrm>
            <a:off x="6629400" y="19842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87%</a:t>
            </a:r>
            <a:endParaRPr lang="en-US" sz="920" dirty="0"/>
          </a:p>
        </p:txBody>
      </p:sp>
      <p:sp>
        <p:nvSpPr>
          <p:cNvPr id="72" name="Text 70"/>
          <p:cNvSpPr/>
          <p:nvPr/>
        </p:nvSpPr>
        <p:spPr>
          <a:xfrm>
            <a:off x="10515600" y="198424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4E6E66</a:t>
            </a:r>
            <a:endParaRPr lang="en-US" sz="920" dirty="0"/>
          </a:p>
        </p:txBody>
      </p:sp>
      <p:sp>
        <p:nvSpPr>
          <p:cNvPr id="73" name="Shape 71"/>
          <p:cNvSpPr/>
          <p:nvPr/>
        </p:nvSpPr>
        <p:spPr>
          <a:xfrm>
            <a:off x="6629400" y="2157984"/>
            <a:ext cx="4480560" cy="118872"/>
          </a:xfrm>
          <a:prstGeom prst="roundRect">
            <a:avLst>
              <a:gd name="adj" fmla="val 23077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629400" y="2157984"/>
            <a:ext cx="914400" cy="118872"/>
          </a:xfrm>
          <a:prstGeom prst="roundRect">
            <a:avLst>
              <a:gd name="adj" fmla="val 23077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400800" y="2852928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8F5"/>
          </a:solidFill>
          <a:ln w="12700">
            <a:solidFill>
              <a:srgbClr val="E8D5C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611112" y="3063240"/>
            <a:ext cx="713232" cy="256032"/>
          </a:xfrm>
          <a:prstGeom prst="roundRect">
            <a:avLst>
              <a:gd name="adj" fmla="val 28571"/>
            </a:avLst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84264" y="30998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452360" y="30998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patrimonio está en cuenta regresiva: el boruca sobrevive en cerca de 10 hablantes fluidos mayores de 65 años.</a:t>
            </a:r>
            <a:endParaRPr lang="en-US" sz="1120" dirty="0"/>
          </a:p>
        </p:txBody>
      </p:sp>
      <p:sp>
        <p:nvSpPr>
          <p:cNvPr id="79" name="Text 77"/>
          <p:cNvSpPr/>
          <p:nvPr/>
        </p:nvSpPr>
        <p:spPr>
          <a:xfrm>
            <a:off x="6629400" y="36027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10515600" y="360273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B85C38</a:t>
            </a:r>
            <a:endParaRPr lang="en-US" sz="920" dirty="0"/>
          </a:p>
        </p:txBody>
      </p:sp>
      <p:sp>
        <p:nvSpPr>
          <p:cNvPr id="81" name="Shape 79"/>
          <p:cNvSpPr/>
          <p:nvPr/>
        </p:nvSpPr>
        <p:spPr>
          <a:xfrm>
            <a:off x="6629400" y="3776472"/>
            <a:ext cx="4480560" cy="118872"/>
          </a:xfrm>
          <a:prstGeom prst="roundRect">
            <a:avLst>
              <a:gd name="adj" fmla="val 23077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29400" y="3776472"/>
            <a:ext cx="914400" cy="118872"/>
          </a:xfrm>
          <a:prstGeom prst="roundRect">
            <a:avLst>
              <a:gd name="adj" fmla="val 23077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00800" y="4471416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BEF"/>
          </a:solidFill>
          <a:ln w="12700">
            <a:solidFill>
              <a:srgbClr val="E7DEC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611112" y="4681728"/>
            <a:ext cx="713232" cy="256032"/>
          </a:xfrm>
          <a:prstGeom prst="roundRect">
            <a:avLst>
              <a:gd name="adj" fmla="val 28571"/>
            </a:avLst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684264" y="471830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7452360" y="47183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44% del personal de salud ha perdido datos durante giras y 72% reporta dificultad en el seguimiento de pacientes crónicos.</a:t>
            </a:r>
            <a:endParaRPr lang="en-US" sz="1120" dirty="0"/>
          </a:p>
        </p:txBody>
      </p:sp>
      <p:sp>
        <p:nvSpPr>
          <p:cNvPr id="87" name="Text 85"/>
          <p:cNvSpPr/>
          <p:nvPr/>
        </p:nvSpPr>
        <p:spPr>
          <a:xfrm>
            <a:off x="6629400" y="52212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44%</a:t>
            </a:r>
            <a:endParaRPr lang="en-US" sz="920" dirty="0"/>
          </a:p>
        </p:txBody>
      </p:sp>
      <p:sp>
        <p:nvSpPr>
          <p:cNvPr id="88" name="Text 86"/>
          <p:cNvSpPr/>
          <p:nvPr/>
        </p:nvSpPr>
        <p:spPr>
          <a:xfrm>
            <a:off x="10515600" y="522122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C5A05A</a:t>
            </a:r>
            <a:endParaRPr lang="en-US" sz="920" dirty="0"/>
          </a:p>
        </p:txBody>
      </p:sp>
      <p:sp>
        <p:nvSpPr>
          <p:cNvPr id="89" name="Shape 87"/>
          <p:cNvSpPr/>
          <p:nvPr/>
        </p:nvSpPr>
        <p:spPr>
          <a:xfrm>
            <a:off x="6629400" y="5394960"/>
            <a:ext cx="4480560" cy="118872"/>
          </a:xfrm>
          <a:prstGeom prst="roundRect">
            <a:avLst>
              <a:gd name="adj" fmla="val 23077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29400" y="5394960"/>
            <a:ext cx="914400" cy="118872"/>
          </a:xfrm>
          <a:prstGeom prst="roundRect">
            <a:avLst>
              <a:gd name="adj" fmla="val 23077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documento final + repo RAICES_VIVAS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-1097280"/>
            <a:ext cx="2926080" cy="2926080"/>
          </a:xfrm>
          <a:prstGeom prst="ellipse">
            <a:avLst/>
          </a:prstGeom>
          <a:solidFill>
            <a:srgbClr val="E8D9C4">
              <a:alpha val="65000"/>
            </a:srgbClr>
          </a:solidFill>
          <a:ln w="12700">
            <a:solidFill>
              <a:srgbClr val="E8D9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5166360"/>
            <a:ext cx="2286000" cy="2286000"/>
          </a:xfrm>
          <a:prstGeom prst="ellipse">
            <a:avLst/>
          </a:prstGeom>
          <a:solidFill>
            <a:srgbClr val="8FA49B">
              <a:alpha val="25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-640080"/>
            <a:ext cx="2743200" cy="2743200"/>
          </a:xfrm>
          <a:prstGeom prst="ellipse">
            <a:avLst/>
          </a:prstGeom>
          <a:solidFill>
            <a:srgbClr val="C5A05A">
              <a:alpha val="18000"/>
            </a:srgbClr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10896"/>
            <a:ext cx="1138428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RIGOR ACADÉMICO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 de investigación aplicada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 · Entrega Final · CENFOTEC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86868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adoptó un enfoque mixto QUAL → QUAN y un marco ético basado en los principios CARE.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234440"/>
            <a:ext cx="64008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METODOLÓGICO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18288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 w="12700">
            <a:solidFill>
              <a:srgbClr val="D7E6D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19933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Exploración cualitativa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97480" y="18288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6F2"/>
          </a:solidFill>
          <a:ln w="12700">
            <a:solidFill>
              <a:srgbClr val="EBD4C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34640" y="19933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de instrumentos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26280" y="18288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BEF"/>
          </a:solidFill>
          <a:ln w="12700">
            <a:solidFill>
              <a:srgbClr val="E9DF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9933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cuantitativa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468880" y="2286000"/>
            <a:ext cx="228600" cy="0"/>
          </a:xfrm>
          <a:prstGeom prst="line">
            <a:avLst/>
          </a:prstGeom>
          <a:noFill/>
          <a:ln w="12700">
            <a:solidFill>
              <a:srgbClr val="4E6E6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97680" y="2286000"/>
            <a:ext cx="228600" cy="0"/>
          </a:xfrm>
          <a:prstGeom prst="line">
            <a:avLst/>
          </a:prstGeom>
          <a:noFill/>
          <a:ln w="12700">
            <a:solidFill>
              <a:srgbClr val="B85C3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408176" y="160934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6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99816" y="160934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02352" y="160934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" y="315468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3154680"/>
            <a:ext cx="91440" cy="960120"/>
          </a:xfrm>
          <a:prstGeom prst="rect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331927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6E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69848" y="372160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entrevistas semiestructuradas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78608" y="315468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78608" y="3154680"/>
            <a:ext cx="91440" cy="96012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79776" y="331927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779776" y="372160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observaciones de campo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88536" y="315468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88536" y="3154680"/>
            <a:ext cx="91440" cy="960120"/>
          </a:xfrm>
          <a:prstGeom prst="rect">
            <a:avLst/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9704" y="331927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489704" y="372160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 Likert y multiselección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98464" y="3154680"/>
            <a:ext cx="694944" cy="9601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98464" y="3154680"/>
            <a:ext cx="91440" cy="960120"/>
          </a:xfrm>
          <a:prstGeom prst="rect">
            <a:avLst/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199632" y="37216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8680" y="4617720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" y="4764024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“Consentimiento en tres niveles: comunitario, individual y cultural.”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895344" y="461772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59936" y="4764024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muestra fue intencional, guiada por accesibilidad y representatividad de realidades tecnológicas distintas.”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223760" y="1234440"/>
            <a:ext cx="4389120" cy="4983480"/>
          </a:xfrm>
          <a:prstGeom prst="roundRect">
            <a:avLst>
              <a:gd name="adj" fmla="val 1667"/>
            </a:avLst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452360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APORTÓ LA METODOLOGÍA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452360" y="17007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combinación de entrevistas, observación y encuestas permitió traducir hallazgos de contexto en decisiones de producto y arquitectura.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479792" y="2514600"/>
            <a:ext cx="36576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Reveló necesidades que no surgen en un formulario estándar
</a:t>
            </a:r>
            <a:pPr indent="0" marL="0">
              <a:buNone/>
            </a:pPr>
            <a:r>
              <a:rPr lang="en-US" sz="112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Validó la necesidad de control comunitario sobre el dato
</a:t>
            </a:r>
            <a:pPr indent="0" marL="0">
              <a:buNone/>
            </a:pPr>
            <a:r>
              <a:rPr lang="en-US" sz="112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Justificó el soporte offline, multilingüe y multimódulo
</a:t>
            </a:r>
            <a:pPr indent="0" marL="0">
              <a:buNone/>
            </a:pPr>
            <a:r>
              <a:rPr lang="en-US" sz="112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Alineó diseño técnico con principios CARE y con el territorio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7479792" y="4206240"/>
            <a:ext cx="3675888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79792" y="44074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Territorios incluidos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79792" y="4663440"/>
            <a:ext cx="932688" cy="256032"/>
          </a:xfrm>
          <a:prstGeom prst="roundRect">
            <a:avLst>
              <a:gd name="adj" fmla="val 28571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52944" y="470001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Guatuso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522208" y="466344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95360" y="4700016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Talamanca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784080" y="4663440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57232" y="4700016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Boruca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0863072" y="4663440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8FA49B"/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936224" y="4700016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479792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Resultado: cinco hallazgos transversales que guiaron toda la propuesta.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documento final + repo RAICES_VIVAS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-1097280"/>
            <a:ext cx="2926080" cy="2926080"/>
          </a:xfrm>
          <a:prstGeom prst="ellipse">
            <a:avLst/>
          </a:prstGeom>
          <a:solidFill>
            <a:srgbClr val="E8D9C4">
              <a:alpha val="65000"/>
            </a:srgbClr>
          </a:solidFill>
          <a:ln w="12700">
            <a:solidFill>
              <a:srgbClr val="E8D9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5166360"/>
            <a:ext cx="2286000" cy="2286000"/>
          </a:xfrm>
          <a:prstGeom prst="ellipse">
            <a:avLst/>
          </a:prstGeom>
          <a:solidFill>
            <a:srgbClr val="8FA49B">
              <a:alpha val="25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-640080"/>
            <a:ext cx="2743200" cy="2743200"/>
          </a:xfrm>
          <a:prstGeom prst="ellipse">
            <a:avLst/>
          </a:prstGeom>
          <a:solidFill>
            <a:srgbClr val="C5A05A">
              <a:alpha val="18000"/>
            </a:srgbClr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10896"/>
            <a:ext cx="1138428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 ANALÍTICA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Hallazgos transversales: tres módulos, una misma necesidad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 · Entrega Final · CENFOTEC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86868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convergen en una idea central: el sistema debía ser usable, soberano y resiliente en territorios de alta complejidad.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234440"/>
            <a:ext cx="2971800" cy="4983480"/>
          </a:xfrm>
          <a:prstGeom prst="roundRect">
            <a:avLst>
              <a:gd name="adj" fmla="val 2462"/>
            </a:avLst>
          </a:prstGeom>
          <a:solidFill>
            <a:srgbClr val="F4FAF7"/>
          </a:solidFill>
          <a:ln w="12700">
            <a:solidFill>
              <a:srgbClr val="E7DED1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1481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 · Educación intercultural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68096" y="1792224"/>
            <a:ext cx="256032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04825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87%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679192" y="204825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4E6E66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68096" y="2221992"/>
            <a:ext cx="2505456" cy="137160"/>
          </a:xfrm>
          <a:prstGeom prst="roundRect">
            <a:avLst>
              <a:gd name="adj" fmla="val 20000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2221992"/>
            <a:ext cx="914400" cy="137160"/>
          </a:xfrm>
          <a:prstGeom prst="roundRect">
            <a:avLst>
              <a:gd name="adj" fmla="val 20000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8529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73%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679192" y="28529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4E6E66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68096" y="3026664"/>
            <a:ext cx="2505456" cy="137160"/>
          </a:xfrm>
          <a:prstGeom prst="roundRect">
            <a:avLst>
              <a:gd name="adj" fmla="val 20000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3026664"/>
            <a:ext cx="914400" cy="137160"/>
          </a:xfrm>
          <a:prstGeom prst="roundRect">
            <a:avLst>
              <a:gd name="adj" fmla="val 20000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6576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83%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2679192" y="36576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4E6E66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68096" y="3831336"/>
            <a:ext cx="2505456" cy="137160"/>
          </a:xfrm>
          <a:prstGeom prst="roundRect">
            <a:avLst>
              <a:gd name="adj" fmla="val 20000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3831336"/>
            <a:ext cx="914400" cy="137160"/>
          </a:xfrm>
          <a:prstGeom prst="roundRect">
            <a:avLst>
              <a:gd name="adj" fmla="val 20000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" y="4526280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672584"/>
            <a:ext cx="22128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brecha no es actitudinal, sino instrumental.”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96512" y="1234440"/>
            <a:ext cx="2971800" cy="4983480"/>
          </a:xfrm>
          <a:prstGeom prst="roundRect">
            <a:avLst>
              <a:gd name="adj" fmla="val 2462"/>
            </a:avLst>
          </a:prstGeom>
          <a:solidFill>
            <a:srgbClr val="FFF7F4"/>
          </a:solidFill>
          <a:ln w="12700">
            <a:solidFill>
              <a:srgbClr val="E7DED1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97680" y="1481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SAB · Saberes ancestrales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297680" y="1792224"/>
            <a:ext cx="256032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204825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208776" y="204825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B85C38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4297680" y="2221992"/>
            <a:ext cx="2505456" cy="137160"/>
          </a:xfrm>
          <a:prstGeom prst="roundRect">
            <a:avLst>
              <a:gd name="adj" fmla="val 20000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2221992"/>
            <a:ext cx="914400" cy="137160"/>
          </a:xfrm>
          <a:prstGeom prst="roundRect">
            <a:avLst>
              <a:gd name="adj" fmla="val 20000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28529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6208776" y="28529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B85C38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4297680" y="3026664"/>
            <a:ext cx="2505456" cy="137160"/>
          </a:xfrm>
          <a:prstGeom prst="roundRect">
            <a:avLst>
              <a:gd name="adj" fmla="val 20000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97680" y="3026664"/>
            <a:ext cx="914400" cy="137160"/>
          </a:xfrm>
          <a:prstGeom prst="roundRect">
            <a:avLst>
              <a:gd name="adj" fmla="val 20000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36576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85%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6208776" y="36576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B85C38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4297680" y="3831336"/>
            <a:ext cx="2505456" cy="137160"/>
          </a:xfrm>
          <a:prstGeom prst="roundRect">
            <a:avLst>
              <a:gd name="adj" fmla="val 20000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97680" y="3831336"/>
            <a:ext cx="914400" cy="137160"/>
          </a:xfrm>
          <a:prstGeom prst="roundRect">
            <a:avLst>
              <a:gd name="adj" fmla="val 20000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7680" y="4526280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62272" y="4672584"/>
            <a:ext cx="22128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gobernanza cultural no podía ser una capa opcional.”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626096" y="1234440"/>
            <a:ext cx="2971800" cy="4983480"/>
          </a:xfrm>
          <a:prstGeom prst="roundRect">
            <a:avLst>
              <a:gd name="adj" fmla="val 2462"/>
            </a:avLst>
          </a:prstGeom>
          <a:solidFill>
            <a:srgbClr val="FFFBEF"/>
          </a:solidFill>
          <a:ln w="12700">
            <a:solidFill>
              <a:srgbClr val="E7DED1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827264" y="1481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 · Salud comunitaria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7827264" y="1792224"/>
            <a:ext cx="256032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27264" y="204825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44%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9738360" y="204825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C5A05A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7827264" y="2221992"/>
            <a:ext cx="2505456" cy="137160"/>
          </a:xfrm>
          <a:prstGeom prst="roundRect">
            <a:avLst>
              <a:gd name="adj" fmla="val 20000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27264" y="2221992"/>
            <a:ext cx="914400" cy="137160"/>
          </a:xfrm>
          <a:prstGeom prst="roundRect">
            <a:avLst>
              <a:gd name="adj" fmla="val 20000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27264" y="28529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9738360" y="28529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C5A05A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7827264" y="3026664"/>
            <a:ext cx="2505456" cy="137160"/>
          </a:xfrm>
          <a:prstGeom prst="roundRect">
            <a:avLst>
              <a:gd name="adj" fmla="val 20000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27264" y="3026664"/>
            <a:ext cx="914400" cy="137160"/>
          </a:xfrm>
          <a:prstGeom prst="roundRect">
            <a:avLst>
              <a:gd name="adj" fmla="val 20000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27264" y="36576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56%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9738360" y="36576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C5A05A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7827264" y="3831336"/>
            <a:ext cx="2505456" cy="137160"/>
          </a:xfrm>
          <a:prstGeom prst="roundRect">
            <a:avLst>
              <a:gd name="adj" fmla="val 20000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27264" y="3831336"/>
            <a:ext cx="914400" cy="137160"/>
          </a:xfrm>
          <a:prstGeom prst="roundRect">
            <a:avLst>
              <a:gd name="adj" fmla="val 20000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827264" y="4526280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91856" y="4672584"/>
            <a:ext cx="22128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“El dato clínico cruza ríos, senderos y ausencia de conectividad.”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documento final + repo RAICES_VIVAS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-1097280"/>
            <a:ext cx="2926080" cy="2926080"/>
          </a:xfrm>
          <a:prstGeom prst="ellipse">
            <a:avLst/>
          </a:prstGeom>
          <a:solidFill>
            <a:srgbClr val="E8D9C4">
              <a:alpha val="65000"/>
            </a:srgbClr>
          </a:solidFill>
          <a:ln w="12700">
            <a:solidFill>
              <a:srgbClr val="E8D9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5166360"/>
            <a:ext cx="2286000" cy="2286000"/>
          </a:xfrm>
          <a:prstGeom prst="ellipse">
            <a:avLst/>
          </a:prstGeom>
          <a:solidFill>
            <a:srgbClr val="8FA49B">
              <a:alpha val="25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-640080"/>
            <a:ext cx="2743200" cy="2743200"/>
          </a:xfrm>
          <a:prstGeom prst="ellipse">
            <a:avLst/>
          </a:prstGeom>
          <a:solidFill>
            <a:srgbClr val="C5A05A">
              <a:alpha val="18000"/>
            </a:srgbClr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10896"/>
            <a:ext cx="1138428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2 · DISEÑO DE LA SOLUCIÓN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solución propuesta: una PWA diseñada desde el territorio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 · Entrega Final · CENFOTEC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86868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 se concibe como una Progressive Web Application offline-first con soporte multilingüe y gobernanza cultural integrada.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234440"/>
            <a:ext cx="56692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FUNCIONAL DEL PRODUCTO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4600" y="23317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FF5F2"/>
          </a:solidFill>
          <a:ln w="12700">
            <a:solidFill>
              <a:srgbClr val="D7E6D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61488" y="2578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RAÍCES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VIVAS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68680" y="192024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F4FAF7"/>
          </a:solidFill>
          <a:ln w="12700">
            <a:solidFill>
              <a:srgbClr val="D7E6D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15568" y="21671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6E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388620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FFF7F4"/>
          </a:solidFill>
          <a:ln w="12700">
            <a:solidFill>
              <a:srgbClr val="E8D5C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15568" y="413308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SAB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FFFBEF"/>
          </a:solidFill>
          <a:ln w="12700">
            <a:solidFill>
              <a:srgbClr val="E7DEC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312724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103120" y="2295144"/>
            <a:ext cx="411480" cy="374904"/>
          </a:xfrm>
          <a:prstGeom prst="line">
            <a:avLst/>
          </a:prstGeom>
          <a:noFill/>
          <a:ln w="12700">
            <a:solidFill>
              <a:srgbClr val="4E6E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2103120" y="2944368"/>
            <a:ext cx="411480" cy="1316736"/>
          </a:xfrm>
          <a:prstGeom prst="line">
            <a:avLst/>
          </a:prstGeom>
          <a:noFill/>
          <a:ln w="12700">
            <a:solidFill>
              <a:srgbClr val="B85C3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297680" y="2816352"/>
            <a:ext cx="411480" cy="438912"/>
          </a:xfrm>
          <a:prstGeom prst="line">
            <a:avLst/>
          </a:prstGeom>
          <a:noFill/>
          <a:ln w="12700">
            <a:solidFill>
              <a:srgbClr val="C5A05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0120" y="4983480"/>
            <a:ext cx="4572000" cy="841248"/>
          </a:xfrm>
          <a:prstGeom prst="roundRect">
            <a:avLst>
              <a:gd name="adj" fmla="val 8696"/>
            </a:avLst>
          </a:prstGeom>
          <a:solidFill>
            <a:srgbClr val="FBF7F0"/>
          </a:solidFill>
          <a:ln w="12700">
            <a:solidFill>
              <a:srgbClr val="E4DBC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70432" y="517550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transversales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606040" y="5093208"/>
            <a:ext cx="877824" cy="228600"/>
          </a:xfrm>
          <a:prstGeom prst="roundRect">
            <a:avLst>
              <a:gd name="adj" fmla="val 32000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9192" y="5129784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84448" y="5093208"/>
            <a:ext cx="1024128" cy="228600"/>
          </a:xfrm>
          <a:prstGeom prst="roundRect">
            <a:avLst>
              <a:gd name="adj" fmla="val 32000"/>
            </a:avLst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5129784"/>
            <a:ext cx="8778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18304" y="5093208"/>
            <a:ext cx="868680" cy="228600"/>
          </a:xfrm>
          <a:prstGeom prst="roundRect">
            <a:avLst>
              <a:gd name="adj" fmla="val 32000"/>
            </a:avLst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5129784"/>
            <a:ext cx="722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i18n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06040" y="5394960"/>
            <a:ext cx="1097280" cy="228600"/>
          </a:xfrm>
          <a:prstGeom prst="roundRect">
            <a:avLst>
              <a:gd name="adj" fmla="val 32000"/>
            </a:avLst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79192" y="5431536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22192" y="5394960"/>
            <a:ext cx="1444752" cy="228600"/>
          </a:xfrm>
          <a:prstGeom prst="roundRect">
            <a:avLst>
              <a:gd name="adj" fmla="val 32000"/>
            </a:avLst>
          </a:prstGeom>
          <a:solidFill>
            <a:srgbClr val="8FA49B"/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95344" y="5431536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Consentimiento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46520" y="1234440"/>
            <a:ext cx="5166360" cy="4983480"/>
          </a:xfrm>
          <a:prstGeom prst="roundRect">
            <a:avLst>
              <a:gd name="adj" fmla="val 1468"/>
            </a:avLst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75120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QUE DIFERENCIARON LA SOLUCIÓN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675120" y="17830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675120" y="1783080"/>
            <a:ext cx="91440" cy="914400"/>
          </a:xfrm>
          <a:prstGeom prst="rect">
            <a:avLst/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76288" y="194767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PWA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76288" y="235000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instalable en Android y navegadores modernos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144000" y="17830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144000" y="1783080"/>
            <a:ext cx="91440" cy="91440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45168" y="1947672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idiomas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9345168" y="2350008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español, bribri, cabécar y ngäbere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75120" y="2907792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675120" y="2907792"/>
            <a:ext cx="91440" cy="914400"/>
          </a:xfrm>
          <a:prstGeom prst="rect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76288" y="3072384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6E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876288" y="3474720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niveles de acceso y revocación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144000" y="2907792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144000" y="2907792"/>
            <a:ext cx="91440" cy="914400"/>
          </a:xfrm>
          <a:prstGeom prst="rect">
            <a:avLst/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45168" y="3072384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AES-256 + TLS 1.3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9345168" y="3474720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en reposo y en tránsito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675120" y="4160520"/>
            <a:ext cx="4572000" cy="841248"/>
          </a:xfrm>
          <a:prstGeom prst="roundRect">
            <a:avLst>
              <a:gd name="adj" fmla="val 8696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39712" y="4306824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decisión crítica: los datos ceremoniales nunca abandonan el dispositivo local.”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75120" y="5285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esperado: continuidad operativa, soberanía del dato y adopción contextual.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documento final + repo RAICES_VIVAS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-1097280"/>
            <a:ext cx="2926080" cy="2926080"/>
          </a:xfrm>
          <a:prstGeom prst="ellipse">
            <a:avLst/>
          </a:prstGeom>
          <a:solidFill>
            <a:srgbClr val="E8D9C4">
              <a:alpha val="65000"/>
            </a:srgbClr>
          </a:solidFill>
          <a:ln w="12700">
            <a:solidFill>
              <a:srgbClr val="E8D9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5166360"/>
            <a:ext cx="2286000" cy="2286000"/>
          </a:xfrm>
          <a:prstGeom prst="ellipse">
            <a:avLst/>
          </a:prstGeom>
          <a:solidFill>
            <a:srgbClr val="8FA49B">
              <a:alpha val="25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-640080"/>
            <a:ext cx="2743200" cy="2743200"/>
          </a:xfrm>
          <a:prstGeom prst="ellipse">
            <a:avLst/>
          </a:prstGeom>
          <a:solidFill>
            <a:srgbClr val="C5A05A">
              <a:alpha val="18000"/>
            </a:srgbClr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10896"/>
            <a:ext cx="1138428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TÉCNICA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y gobernanza: donde la técnica se encuentra con la soberanía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 · Entrega Final · CENFOTEC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86868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arquitectura offline-first y los niveles CARE se diseñaron como un mismo sistema de control.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234440"/>
            <a:ext cx="64008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TÉCNICO SIMPLIFICADO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182880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F4FAF7"/>
          </a:solidFill>
          <a:ln w="12700">
            <a:solidFill>
              <a:srgbClr val="D7E6D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87552" y="19933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Docente · Líder · Salud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31720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06040" y="1947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PWA Raíces Vivas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42032" y="222199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multilingüe + formularios ligeros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0" y="2999232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EFF5F2"/>
          </a:solidFill>
          <a:ln w="12700">
            <a:solidFill>
              <a:srgbClr val="D7E6D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70632" y="318211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PouchDB local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modo offline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999232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6F2"/>
          </a:solidFill>
          <a:ln w="12700">
            <a:solidFill>
              <a:srgbClr val="EBD4C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318211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CouchDB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 eventual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BF7F0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73168" y="19476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Servicios transversales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54880" y="222199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· auditoría · consentimiento · i18n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11680" y="2167128"/>
            <a:ext cx="320040" cy="0"/>
          </a:xfrm>
          <a:prstGeom prst="line">
            <a:avLst/>
          </a:prstGeom>
          <a:noFill/>
          <a:ln w="12700">
            <a:solidFill>
              <a:srgbClr val="4E6E6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97680" y="2167128"/>
            <a:ext cx="274320" cy="0"/>
          </a:xfrm>
          <a:prstGeom prst="line">
            <a:avLst/>
          </a:prstGeom>
          <a:noFill/>
          <a:ln w="12700">
            <a:solidFill>
              <a:srgbClr val="B85C3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319272" y="2651760"/>
            <a:ext cx="0" cy="347472"/>
          </a:xfrm>
          <a:prstGeom prst="line">
            <a:avLst/>
          </a:prstGeom>
          <a:noFill/>
          <a:ln w="12700">
            <a:solidFill>
              <a:srgbClr val="4E6E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069080" y="3355848"/>
            <a:ext cx="548640" cy="0"/>
          </a:xfrm>
          <a:prstGeom prst="line">
            <a:avLst/>
          </a:prstGeom>
          <a:noFill/>
          <a:ln w="12700">
            <a:solidFill>
              <a:srgbClr val="B85C38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886200" y="314553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 bidireccional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68680" y="4709160"/>
            <a:ext cx="5394960" cy="786384"/>
          </a:xfrm>
          <a:prstGeom prst="roundRect">
            <a:avLst>
              <a:gd name="adj" fmla="val 9302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4855464"/>
            <a:ext cx="5065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“Si el dispositivo recupera conectividad, sincroniza. Si no, el sistema sigue operando.”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1234440"/>
            <a:ext cx="4389120" cy="4983480"/>
          </a:xfrm>
          <a:prstGeom prst="roundRect">
            <a:avLst>
              <a:gd name="adj" fmla="val 1667"/>
            </a:avLst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52360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NIVELES CARE IMPLEMENTADOS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79792" y="181051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1938528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Público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8485632" y="1856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Cualquier usuario autenticado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10680192" y="189280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Sincroniza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7479792" y="2258568"/>
            <a:ext cx="388620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9792" y="2596896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8FA49B"/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79792" y="272491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Comunitario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8485632" y="26426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Miembros del pueblo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10680192" y="267919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Sincroniza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7479792" y="3044952"/>
            <a:ext cx="388620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79792" y="3383280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79792" y="351129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Restringido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8485632" y="3429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autorizados por consejo o Awá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10680192" y="346557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Sincroniza cifrado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7479792" y="3831336"/>
            <a:ext cx="388620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79792" y="4169664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79792" y="429768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Ceremonial</a:t>
            </a:r>
            <a:endParaRPr lang="en-US" sz="960" dirty="0"/>
          </a:p>
        </p:txBody>
      </p:sp>
      <p:sp>
        <p:nvSpPr>
          <p:cNvPr id="51" name="Text 49"/>
          <p:cNvSpPr/>
          <p:nvPr/>
        </p:nvSpPr>
        <p:spPr>
          <a:xfrm>
            <a:off x="8485632" y="4215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autoridad máxima</a:t>
            </a:r>
            <a:endParaRPr lang="en-US" sz="960" dirty="0"/>
          </a:p>
        </p:txBody>
      </p:sp>
      <p:sp>
        <p:nvSpPr>
          <p:cNvPr id="52" name="Text 50"/>
          <p:cNvSpPr/>
          <p:nvPr/>
        </p:nvSpPr>
        <p:spPr>
          <a:xfrm>
            <a:off x="10680192" y="4251960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AF51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sale del dispositivo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7479792" y="4617720"/>
            <a:ext cx="388620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79792" y="504748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 rector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79792" y="526694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revocación comunitaria prevalece sobre cualquier conflicto de sincronización.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documento final + repo RAICES_VIVAS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-1097280"/>
            <a:ext cx="2926080" cy="2926080"/>
          </a:xfrm>
          <a:prstGeom prst="ellipse">
            <a:avLst/>
          </a:prstGeom>
          <a:solidFill>
            <a:srgbClr val="E8D9C4">
              <a:alpha val="65000"/>
            </a:srgbClr>
          </a:solidFill>
          <a:ln w="12700">
            <a:solidFill>
              <a:srgbClr val="E8D9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5166360"/>
            <a:ext cx="2286000" cy="2286000"/>
          </a:xfrm>
          <a:prstGeom prst="ellipse">
            <a:avLst/>
          </a:prstGeom>
          <a:solidFill>
            <a:srgbClr val="8FA49B">
              <a:alpha val="25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-640080"/>
            <a:ext cx="2743200" cy="2743200"/>
          </a:xfrm>
          <a:prstGeom prst="ellipse">
            <a:avLst/>
          </a:prstGeom>
          <a:solidFill>
            <a:srgbClr val="C5A05A">
              <a:alpha val="18000"/>
            </a:srgbClr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10896"/>
            <a:ext cx="1138428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REQUISITOS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Trazabilidad: del requerimiento al sprint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 · Entrega Final · CENFOTEC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86868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propuesta no se quedó en ideas. Fue estructurada como requerimientos, casos de uso, modelo de datos, WBS y ejecución por sprint.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234440"/>
            <a:ext cx="64008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CADENA DE TRAZABILIDAD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41248" y="201168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EFF5F2"/>
          </a:solidFill>
          <a:ln w="12700">
            <a:solidFill>
              <a:srgbClr val="DCD4C7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29514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6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RF + 4 RNF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01368" y="2450592"/>
            <a:ext cx="320040" cy="0"/>
          </a:xfrm>
          <a:prstGeom prst="line">
            <a:avLst/>
          </a:prstGeom>
          <a:noFill/>
          <a:ln w="12700">
            <a:solidFill>
              <a:srgbClr val="8FA4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21408" y="201168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FFF6F2"/>
          </a:solidFill>
          <a:ln w="12700">
            <a:solidFill>
              <a:srgbClr val="DCD4C7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229514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CU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81528" y="2450592"/>
            <a:ext cx="137160" cy="0"/>
          </a:xfrm>
          <a:prstGeom prst="line">
            <a:avLst/>
          </a:prstGeom>
          <a:noFill/>
          <a:ln w="12700">
            <a:solidFill>
              <a:srgbClr val="8FA49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18688" y="201168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FFFBEF"/>
          </a:solidFill>
          <a:ln w="12700">
            <a:solidFill>
              <a:srgbClr val="DCD4C7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29514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5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 entidades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78808" y="2450592"/>
            <a:ext cx="320040" cy="0"/>
          </a:xfrm>
          <a:prstGeom prst="line">
            <a:avLst/>
          </a:prstGeom>
          <a:noFill/>
          <a:ln w="12700">
            <a:solidFill>
              <a:srgbClr val="8FA49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98848" y="201168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F6F1E7"/>
          </a:solidFill>
          <a:ln w="12700">
            <a:solidFill>
              <a:srgbClr val="DCD4C7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229514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WBS / paquetes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58968" y="2450592"/>
            <a:ext cx="320040" cy="0"/>
          </a:xfrm>
          <a:prstGeom prst="line">
            <a:avLst/>
          </a:prstGeom>
          <a:noFill/>
          <a:ln w="12700">
            <a:solidFill>
              <a:srgbClr val="8FA49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79008" y="201168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EEF4F1"/>
          </a:solidFill>
          <a:ln w="12700">
            <a:solidFill>
              <a:srgbClr val="DCD4C7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52160" y="229514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A4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/ tareas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" y="3246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 de trazabilidad reportada entre RF y CU, con cobertura explícita en la RTM del proyecto.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1248" y="379476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Priorización MoSCoW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40325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5184648" y="403250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4E6E66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41248" y="4206240"/>
            <a:ext cx="4937760" cy="128016"/>
          </a:xfrm>
          <a:prstGeom prst="roundRect">
            <a:avLst>
              <a:gd name="adj" fmla="val 21429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" y="4206240"/>
            <a:ext cx="914400" cy="128016"/>
          </a:xfrm>
          <a:prstGeom prst="roundRect">
            <a:avLst>
              <a:gd name="adj" fmla="val 21429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6542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5184648" y="465429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B85C38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841248" y="4828032"/>
            <a:ext cx="4937760" cy="128016"/>
          </a:xfrm>
          <a:prstGeom prst="roundRect">
            <a:avLst>
              <a:gd name="adj" fmla="val 21429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" y="4828032"/>
            <a:ext cx="914400" cy="128016"/>
          </a:xfrm>
          <a:prstGeom prst="roundRect">
            <a:avLst>
              <a:gd name="adj" fmla="val 21429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5276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5184648" y="5276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C5A05A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841248" y="5449824"/>
            <a:ext cx="4937760" cy="128016"/>
          </a:xfrm>
          <a:prstGeom prst="roundRect">
            <a:avLst>
              <a:gd name="adj" fmla="val 21429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" y="5449824"/>
            <a:ext cx="914400" cy="128016"/>
          </a:xfrm>
          <a:prstGeom prst="roundRect">
            <a:avLst>
              <a:gd name="adj" fmla="val 21429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23760" y="1234440"/>
            <a:ext cx="4389120" cy="4983480"/>
          </a:xfrm>
          <a:prstGeom prst="roundRect">
            <a:avLst>
              <a:gd name="adj" fmla="val 1667"/>
            </a:avLst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452360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ESTRUCTURAL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479792" y="1792224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79792" y="1792224"/>
            <a:ext cx="91440" cy="914400"/>
          </a:xfrm>
          <a:prstGeom prst="rect">
            <a:avLst/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1956816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680960" y="235915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de uso documentados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436608" y="1792224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436608" y="1792224"/>
            <a:ext cx="91440" cy="91440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37776" y="1956816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9637776" y="235915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expandidos con escenario completo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79792" y="2907792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479792" y="2907792"/>
            <a:ext cx="91440" cy="914400"/>
          </a:xfrm>
          <a:prstGeom prst="rect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80960" y="3072384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6E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680960" y="347472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módulos lógicos del WBS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436608" y="2907792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436608" y="2907792"/>
            <a:ext cx="91440" cy="914400"/>
          </a:xfrm>
          <a:prstGeom prst="rect">
            <a:avLst/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37776" y="3072384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9637776" y="347472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paquetes de trabajo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479792" y="416966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RTM permitió vincular prioridad, actor, validación, cobertura y estado de cada requerimiento.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479792" y="4709160"/>
            <a:ext cx="3703320" cy="841248"/>
          </a:xfrm>
          <a:prstGeom prst="roundRect">
            <a:avLst>
              <a:gd name="adj" fmla="val 8696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44384" y="4855464"/>
            <a:ext cx="3374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trazabilidad fue un mecanismo de control, pero también un dispositivo de calidad académica.”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documento final + repo RAICES_VIVAS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-1097280"/>
            <a:ext cx="2926080" cy="2926080"/>
          </a:xfrm>
          <a:prstGeom prst="ellipse">
            <a:avLst/>
          </a:prstGeom>
          <a:solidFill>
            <a:srgbClr val="E8D9C4">
              <a:alpha val="65000"/>
            </a:srgbClr>
          </a:solidFill>
          <a:ln w="12700">
            <a:solidFill>
              <a:srgbClr val="E8D9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5166360"/>
            <a:ext cx="2286000" cy="2286000"/>
          </a:xfrm>
          <a:prstGeom prst="ellipse">
            <a:avLst/>
          </a:prstGeom>
          <a:solidFill>
            <a:srgbClr val="8FA49B">
              <a:alpha val="25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-640080"/>
            <a:ext cx="2743200" cy="2743200"/>
          </a:xfrm>
          <a:prstGeom prst="ellipse">
            <a:avLst/>
          </a:prstGeom>
          <a:solidFill>
            <a:srgbClr val="C5A05A">
              <a:alpha val="18000"/>
            </a:srgbClr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10896"/>
            <a:ext cx="1138428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GOBERNANZA DEL PROYECTO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operativo de gestión: Obsidian + GitHub + Jira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 · Entrega Final · CENFOTEC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868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separó conocimiento y operación: documentación en Obsidian, versionado en GitHub y ejecución de sprint en Jira Cloud.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234440"/>
            <a:ext cx="740664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HÍBRIDA DE GESTIÓN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4400" y="187452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F6FBF8"/>
          </a:solidFill>
          <a:ln w="12700">
            <a:solidFill>
              <a:srgbClr val="D7E6D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61288" y="20848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Obsidian Vault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97280" y="2487168"/>
            <a:ext cx="157276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Requerimientos RF/RNF
</a:t>
            </a:r>
            <a:pPr indent="0" marL="0">
              <a:buNone/>
            </a:pPr>
            <a:r>
              <a:rPr lang="en-US" sz="106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Investigación y minutas
</a:t>
            </a:r>
            <a:pPr indent="0" marL="0">
              <a:buNone/>
            </a:pPr>
            <a:r>
              <a:rPr lang="en-US" sz="106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ADR, riesgos y RTM
</a:t>
            </a:r>
            <a:pPr indent="0" marL="0">
              <a:buNone/>
            </a:pPr>
            <a:r>
              <a:rPr lang="en-US" sz="106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Dataview + SQLSeal dashboards
</a:t>
            </a:r>
            <a:pPr indent="0" marL="0">
              <a:buNone/>
            </a:pPr>
            <a:r>
              <a:rPr lang="en-US" sz="106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Frontmatter estructurado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3246120" y="2057400"/>
            <a:ext cx="1783080" cy="2468880"/>
          </a:xfrm>
          <a:prstGeom prst="roundRect">
            <a:avLst>
              <a:gd name="adj" fmla="val 4103"/>
            </a:avLst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56432" y="2286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de sincronización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56432" y="2670048"/>
            <a:ext cx="135331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Plugin obsidian-jira-issue
</a:t>
            </a:r>
            <a:pPr indent="0" marL="0">
              <a:buNone/>
            </a:pPr>
            <a:r>
              <a:rPr lang="en-US" sz="9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jira_key en frontmatter
</a:t>
            </a:r>
            <a:pPr indent="0" marL="0">
              <a:buNone/>
            </a:pPr>
            <a:r>
              <a:rPr lang="en-US" sz="9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token / REST v3
</a:t>
            </a:r>
            <a:pPr indent="0" marL="0">
              <a:buNone/>
            </a:pPr>
            <a:r>
              <a:rPr lang="en-US" sz="9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Scripts de carga y sync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440680" y="187452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FFF7F4"/>
          </a:solidFill>
          <a:ln w="12700">
            <a:solidFill>
              <a:srgbClr val="EBD4C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0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Jira Cloud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614416" y="2487168"/>
            <a:ext cx="157276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Epics, stories y tasks
</a:t>
            </a:r>
            <a:pPr indent="0" marL="0">
              <a:buNone/>
            </a:pPr>
            <a:r>
              <a:rPr lang="en-US" sz="106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Sprints y board visual
</a:t>
            </a:r>
            <a:pPr indent="0" marL="0">
              <a:buNone/>
            </a:pPr>
            <a:r>
              <a:rPr lang="en-US" sz="106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Burndown y velocity
</a:t>
            </a:r>
            <a:pPr indent="0" marL="0">
              <a:buNone/>
            </a:pPr>
            <a:r>
              <a:rPr lang="en-US" sz="106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Status y asignación
</a:t>
            </a:r>
            <a:pPr indent="0" marL="0">
              <a:buNone/>
            </a:pPr>
            <a:r>
              <a:rPr lang="en-US" sz="106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JQL y seguimiento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2834640" y="3291840"/>
            <a:ext cx="411480" cy="0"/>
          </a:xfrm>
          <a:prstGeom prst="line">
            <a:avLst/>
          </a:prstGeom>
          <a:noFill/>
          <a:ln w="12700">
            <a:solidFill>
              <a:srgbClr val="4E6E6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29200" y="3291840"/>
            <a:ext cx="411480" cy="0"/>
          </a:xfrm>
          <a:prstGeom prst="line">
            <a:avLst/>
          </a:prstGeom>
          <a:noFill/>
          <a:ln w="12700">
            <a:solidFill>
              <a:srgbClr val="B85C3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41832" y="4882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6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= fuente de verdad contextual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58968" y="4882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= fuente de verdad de estado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68680" y="5102352"/>
            <a:ext cx="6858000" cy="658368"/>
          </a:xfrm>
          <a:prstGeom prst="roundRect">
            <a:avLst>
              <a:gd name="adj" fmla="val 11111"/>
            </a:avLst>
          </a:prstGeom>
          <a:solidFill>
            <a:srgbClr val="FBF7F0"/>
          </a:solidFill>
          <a:ln w="12700">
            <a:solidFill>
              <a:srgbClr val="E4DBC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51560" y="5330952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trazabilidad viva, respaldo distribuido, dashboards automáticos y sincronización entre notas del vault y issues de Jira mediante clave vinculante.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1234440"/>
            <a:ext cx="3383280" cy="4983480"/>
          </a:xfrm>
          <a:prstGeom prst="roundRect">
            <a:avLst>
              <a:gd name="adj" fmla="val 2162"/>
            </a:avLst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58200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GANÓ EL PROYECTO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485632" y="1792224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85632" y="1792224"/>
            <a:ext cx="91440" cy="914400"/>
          </a:xfrm>
          <a:prstGeom prst="rect">
            <a:avLst/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1956816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686800" y="2359152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plugins activados en el vault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76688" y="1792224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076688" y="1792224"/>
            <a:ext cx="91440" cy="914400"/>
          </a:xfrm>
          <a:prstGeom prst="rect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77856" y="1956816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6E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277856" y="235915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QuickAdd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85632" y="2907792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485632" y="2907792"/>
            <a:ext cx="91440" cy="91440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0" y="3072384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686800" y="3474720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y respaldo completo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076688" y="2907792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0076688" y="2907792"/>
            <a:ext cx="91440" cy="914400"/>
          </a:xfrm>
          <a:prstGeom prst="rect">
            <a:avLst/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77856" y="307238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JQL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0277856" y="347472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tableros y filtros nativos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85632" y="4187952"/>
            <a:ext cx="2871216" cy="960120"/>
          </a:xfrm>
          <a:prstGeom prst="roundRect">
            <a:avLst>
              <a:gd name="adj" fmla="val 7619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50224" y="4334256"/>
            <a:ext cx="25420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“Obsidian conservó la inteligencia documental; Jira concentró la ejecución; GitHub aseguró persistencia y colaboración.”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documento final + repo RAICES_VIVAS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-1097280"/>
            <a:ext cx="2926080" cy="2926080"/>
          </a:xfrm>
          <a:prstGeom prst="ellipse">
            <a:avLst/>
          </a:prstGeom>
          <a:solidFill>
            <a:srgbClr val="E8D9C4">
              <a:alpha val="65000"/>
            </a:srgbClr>
          </a:solidFill>
          <a:ln w="12700">
            <a:solidFill>
              <a:srgbClr val="E8D9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5166360"/>
            <a:ext cx="2286000" cy="2286000"/>
          </a:xfrm>
          <a:prstGeom prst="ellipse">
            <a:avLst/>
          </a:prstGeom>
          <a:solidFill>
            <a:srgbClr val="8FA49B">
              <a:alpha val="25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-640080"/>
            <a:ext cx="2743200" cy="2743200"/>
          </a:xfrm>
          <a:prstGeom prst="ellipse">
            <a:avLst/>
          </a:prstGeom>
          <a:solidFill>
            <a:srgbClr val="C5A05A">
              <a:alpha val="18000"/>
            </a:srgbClr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10896"/>
            <a:ext cx="1138428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3 · GESTIÓN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Ejecución del proyecto: sprints, control y resultados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 · Entrega Final · CENFOTEC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868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gestión se estructuró en tres sprints adaptados, con 58 tareas, 257 horas reales y una completitud global del 90%.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23444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EJECUTIVO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5840" y="4069080"/>
            <a:ext cx="6309360" cy="0"/>
          </a:xfrm>
          <a:prstGeom prst="line">
            <a:avLst/>
          </a:prstGeom>
          <a:noFill/>
          <a:ln w="12700">
            <a:solidFill>
              <a:srgbClr val="D9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148840"/>
            <a:ext cx="1874520" cy="1298448"/>
          </a:xfrm>
          <a:prstGeom prst="roundRect">
            <a:avLst>
              <a:gd name="adj" fmla="val 4225"/>
            </a:avLst>
          </a:prstGeom>
          <a:solidFill>
            <a:srgbClr val="FFFDFC"/>
          </a:solidFill>
          <a:ln w="12700">
            <a:solidFill>
              <a:srgbClr val="4E6E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148840"/>
            <a:ext cx="1874520" cy="201168"/>
          </a:xfrm>
          <a:prstGeom prst="rect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432304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01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3856" y="2724912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e investigación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3856" y="2999232"/>
            <a:ext cx="1618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feb → 25 feb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133856" y="3218688"/>
            <a:ext cx="1618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4E6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tareas · Avance 1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860804" y="3986784"/>
            <a:ext cx="164592" cy="164592"/>
          </a:xfrm>
          <a:prstGeom prst="ellipse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43100" y="3447288"/>
            <a:ext cx="0" cy="539496"/>
          </a:xfrm>
          <a:prstGeom prst="line">
            <a:avLst/>
          </a:prstGeom>
          <a:noFill/>
          <a:ln w="12700">
            <a:solidFill>
              <a:srgbClr val="4E6E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2148840"/>
            <a:ext cx="2057400" cy="1298448"/>
          </a:xfrm>
          <a:prstGeom prst="roundRect">
            <a:avLst>
              <a:gd name="adj" fmla="val 4225"/>
            </a:avLst>
          </a:prstGeom>
          <a:solidFill>
            <a:srgbClr val="FFFDFC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2148840"/>
            <a:ext cx="2057400" cy="20116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2432304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82696" y="2724912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y arquitectura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82696" y="2999232"/>
            <a:ext cx="1801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feb → 29 mar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282696" y="3218688"/>
            <a:ext cx="1801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tareas · Avance 2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101084" y="3986784"/>
            <a:ext cx="164592" cy="164592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83380" y="3447288"/>
            <a:ext cx="0" cy="539496"/>
          </a:xfrm>
          <a:prstGeom prst="line">
            <a:avLst/>
          </a:prstGeom>
          <a:noFill/>
          <a:ln w="12700">
            <a:solidFill>
              <a:srgbClr val="B85C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32120" y="2148840"/>
            <a:ext cx="1600200" cy="1298448"/>
          </a:xfrm>
          <a:prstGeom prst="roundRect">
            <a:avLst>
              <a:gd name="adj" fmla="val 4225"/>
            </a:avLst>
          </a:prstGeom>
          <a:solidFill>
            <a:srgbClr val="FFFDFC"/>
          </a:solidFill>
          <a:ln w="12700">
            <a:solidFill>
              <a:srgbClr val="C5A0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32120" y="2148840"/>
            <a:ext cx="1600200" cy="201168"/>
          </a:xfrm>
          <a:prstGeom prst="rect">
            <a:avLst/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0136" y="2432304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03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60136" y="27249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y entrega final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0136" y="2999232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abr → 23 abr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5660136" y="3218688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5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tareas · Avance 3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249924" y="3986784"/>
            <a:ext cx="164592" cy="164592"/>
          </a:xfrm>
          <a:prstGeom prst="ellipse">
            <a:avLst/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32220" y="3447288"/>
            <a:ext cx="0" cy="539496"/>
          </a:xfrm>
          <a:prstGeom prst="line">
            <a:avLst/>
          </a:prstGeom>
          <a:noFill/>
          <a:ln w="12700">
            <a:solidFill>
              <a:srgbClr val="C5A0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47457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6720840" y="474573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133A32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005840" y="4919472"/>
            <a:ext cx="6309360" cy="155448"/>
          </a:xfrm>
          <a:prstGeom prst="roundRect">
            <a:avLst>
              <a:gd name="adj" fmla="val 17647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5840" y="4919472"/>
            <a:ext cx="914400" cy="155448"/>
          </a:xfrm>
          <a:prstGeom prst="roundRect">
            <a:avLst>
              <a:gd name="adj" fmla="val 17647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83880" y="1234440"/>
            <a:ext cx="3429000" cy="4983480"/>
          </a:xfrm>
          <a:prstGeom prst="roundRect">
            <a:avLst>
              <a:gd name="adj" fmla="val 2133"/>
            </a:avLst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412480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DE EJECUCIÓN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439912" y="1792224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39912" y="1792224"/>
            <a:ext cx="91440" cy="914400"/>
          </a:xfrm>
          <a:prstGeom prst="rect">
            <a:avLst/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41080" y="1956816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641080" y="2359152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 ejecutadas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058400" y="1792224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058400" y="1792224"/>
            <a:ext cx="91440" cy="914400"/>
          </a:xfrm>
          <a:prstGeom prst="rect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59568" y="1956816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6E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257/265h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10259568" y="235915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horas reales vs plan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39912" y="2907792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439912" y="2907792"/>
            <a:ext cx="91440" cy="91440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41080" y="3072384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8641080" y="34747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arquitectónicas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058400" y="2907792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0058400" y="2907792"/>
            <a:ext cx="91440" cy="914400"/>
          </a:xfrm>
          <a:prstGeom prst="rect">
            <a:avLst/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259568" y="307238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10259568" y="347472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 gestionados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439912" y="40233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439912" y="4023360"/>
            <a:ext cx="91440" cy="914400"/>
          </a:xfrm>
          <a:prstGeom prst="rect">
            <a:avLst/>
          </a:prstGeom>
          <a:solidFill>
            <a:srgbClr val="8FA49B"/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41080" y="41879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49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8641080" y="459028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reuniones documentadas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058400" y="40233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0058400" y="4023360"/>
            <a:ext cx="91440" cy="914400"/>
          </a:xfrm>
          <a:prstGeom prst="rect">
            <a:avLst/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59568" y="4187952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-3%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10259568" y="459028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desviación parcial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439912" y="5239512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holgura del proyecto permitió absorber imprevistos sin perder el objetivo de entrega.</a:t>
            </a:r>
            <a:endParaRPr lang="en-US" sz="1120" dirty="0"/>
          </a:p>
        </p:txBody>
      </p:sp>
      <p:sp>
        <p:nvSpPr>
          <p:cNvPr id="69" name="Text 67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documento final + repo RAICES_VIVAS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-1097280"/>
            <a:ext cx="2926080" cy="2926080"/>
          </a:xfrm>
          <a:prstGeom prst="ellipse">
            <a:avLst/>
          </a:prstGeom>
          <a:solidFill>
            <a:srgbClr val="E8D9C4">
              <a:alpha val="65000"/>
            </a:srgbClr>
          </a:solidFill>
          <a:ln w="12700">
            <a:solidFill>
              <a:srgbClr val="E8D9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5166360"/>
            <a:ext cx="2286000" cy="2286000"/>
          </a:xfrm>
          <a:prstGeom prst="ellipse">
            <a:avLst/>
          </a:prstGeom>
          <a:solidFill>
            <a:srgbClr val="8FA49B">
              <a:alpha val="25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-640080"/>
            <a:ext cx="2743200" cy="2743200"/>
          </a:xfrm>
          <a:prstGeom prst="ellipse">
            <a:avLst/>
          </a:prstGeom>
          <a:solidFill>
            <a:srgbClr val="C5A05A">
              <a:alpha val="18000"/>
            </a:srgbClr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10896"/>
            <a:ext cx="1138428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PROYECTO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Equipo, control de calidad y aprendizaje organizacional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 · Entrega Final · CENFOTEC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86868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operación combinó liderazgo funcional, distribución por módulos y control continuo mediante riesgos, ADR y QA.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234440"/>
            <a:ext cx="5029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DISTRIBUCIÓN DEL EQUIPO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41248" y="1810512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FFDFC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1810512"/>
            <a:ext cx="91440" cy="1051560"/>
          </a:xfrm>
          <a:prstGeom prst="rect">
            <a:avLst/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19751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Geovanny Alpízar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35808" y="199339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 / Arquitecto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051560" y="22311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Planificación, arquitectura, integración, documentación, Jira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15968" y="224942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 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3044952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FFDFC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044952"/>
            <a:ext cx="91440" cy="105156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2095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Elkin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35808" y="322783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/ SAB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1051560" y="34655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cualitativa, módulo SAB, traducciones bribri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15968" y="348386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1248" y="4279392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FFDFC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4279392"/>
            <a:ext cx="91440" cy="1051560"/>
          </a:xfrm>
          <a:prstGeom prst="rect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4439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Santiago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035808" y="44622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4E6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/ SAL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1051560" y="47000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Pruebas, módulo SAL, presentaciones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15968" y="471830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 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97880" y="1234440"/>
            <a:ext cx="5715000" cy="4983480"/>
          </a:xfrm>
          <a:prstGeom prst="roundRect">
            <a:avLst>
              <a:gd name="adj" fmla="val 1468"/>
            </a:avLst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26480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MECANISMOS DE GOBIERNO Y MEJORA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44768" y="1792224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44768" y="1792224"/>
            <a:ext cx="91440" cy="914400"/>
          </a:xfrm>
          <a:prstGeom prst="rect">
            <a:avLst/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5936" y="1956816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ADR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345936" y="2359152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registradas y auditables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818120" y="1792224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818120" y="1792224"/>
            <a:ext cx="91440" cy="91440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19288" y="1956816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RSK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019288" y="2359152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 con estrategia y seguimiento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491472" y="1792224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491472" y="1792224"/>
            <a:ext cx="91440" cy="914400"/>
          </a:xfrm>
          <a:prstGeom prst="rect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0" y="1956816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6E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QA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9692640" y="2359152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manuales y E2E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44768" y="2852928"/>
            <a:ext cx="489204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127248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Templates y convenciones aceleraron la producción de artefactos
</a:t>
            </a:r>
            <a:pPr indent="0" marL="0">
              <a:buNone/>
            </a:pPr>
            <a:r>
              <a:rPr lang="en-US" sz="111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Dataview y SQLSeal redujeron la desincronización documental
</a:t>
            </a:r>
            <a:pPr indent="0" marL="0">
              <a:buNone/>
            </a:pPr>
            <a:r>
              <a:rPr lang="en-US" sz="111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Las entrevistas cualitativas destaparon requerimientos que la encuesta no veía
</a:t>
            </a:r>
            <a:pPr indent="0" marL="0">
              <a:buNone/>
            </a:pPr>
            <a:r>
              <a:rPr lang="en-US" sz="111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gestión visual y la trazabilidad mejoraron la auditabilidad del proyecto</a:t>
            </a:r>
            <a:endParaRPr lang="en-US" sz="1110" dirty="0"/>
          </a:p>
        </p:txBody>
      </p:sp>
      <p:sp>
        <p:nvSpPr>
          <p:cNvPr id="47" name="Shape 45"/>
          <p:cNvSpPr/>
          <p:nvPr/>
        </p:nvSpPr>
        <p:spPr>
          <a:xfrm>
            <a:off x="6172200" y="4892040"/>
            <a:ext cx="4663440" cy="841248"/>
          </a:xfrm>
          <a:prstGeom prst="roundRect">
            <a:avLst>
              <a:gd name="adj" fmla="val 8696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36792" y="5038344"/>
            <a:ext cx="4334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gestión no fue un anexo del proyecto. Fue parte del producto académico final.”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documento final + repo RAICES_VIVAS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-1097280"/>
            <a:ext cx="2926080" cy="2926080"/>
          </a:xfrm>
          <a:prstGeom prst="ellipse">
            <a:avLst/>
          </a:prstGeom>
          <a:solidFill>
            <a:srgbClr val="E8D9C4">
              <a:alpha val="65000"/>
            </a:srgbClr>
          </a:solidFill>
          <a:ln w="12700">
            <a:solidFill>
              <a:srgbClr val="E8D9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5166360"/>
            <a:ext cx="2286000" cy="2286000"/>
          </a:xfrm>
          <a:prstGeom prst="ellipse">
            <a:avLst/>
          </a:prstGeom>
          <a:solidFill>
            <a:srgbClr val="8FA49B">
              <a:alpha val="25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-640080"/>
            <a:ext cx="2743200" cy="2743200"/>
          </a:xfrm>
          <a:prstGeom prst="ellipse">
            <a:avLst/>
          </a:prstGeom>
          <a:solidFill>
            <a:srgbClr val="C5A05A">
              <a:alpha val="18000"/>
            </a:srgbClr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10896"/>
            <a:ext cx="1138428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del MVP y preparación técnica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 · Entrega Final · CENFOTEC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86868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MVP consolidó la estructura base de la PWA, el flujo de sincronización y los componentes visibles del módulo EDU.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234440"/>
            <a:ext cx="66294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 Y CAPACIDADES IMPLEMENTADAS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96112" y="1783080"/>
            <a:ext cx="1444752" cy="3611880"/>
          </a:xfrm>
          <a:prstGeom prst="roundRect">
            <a:avLst>
              <a:gd name="adj" fmla="val 7595"/>
            </a:avLst>
          </a:prstGeom>
          <a:solidFill>
            <a:srgbClr val="111111"/>
          </a:solidFill>
          <a:ln w="12700">
            <a:solidFill>
              <a:srgbClr val="133A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892808"/>
            <a:ext cx="1225296" cy="3392424"/>
          </a:xfrm>
          <a:prstGeom prst="roundRect">
            <a:avLst>
              <a:gd name="adj" fmla="val 5970"/>
            </a:avLst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1892808"/>
            <a:ext cx="1225296" cy="292608"/>
          </a:xfrm>
          <a:prstGeom prst="rect">
            <a:avLst/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947672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AppShell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15568" y="2313432"/>
            <a:ext cx="1005840" cy="384048"/>
          </a:xfrm>
          <a:prstGeom prst="roundRect">
            <a:avLst>
              <a:gd name="adj" fmla="val 7143"/>
            </a:avLst>
          </a:prstGeom>
          <a:solidFill>
            <a:srgbClr val="E6EFEA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242316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 + BottomNav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15568" y="2807208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E9E3D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5568" y="3099816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E9E3D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5568" y="3392424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E9E3D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" y="4919472"/>
            <a:ext cx="969264" cy="146304"/>
          </a:xfrm>
          <a:prstGeom prst="rect">
            <a:avLst/>
          </a:prstGeom>
          <a:solidFill>
            <a:srgbClr val="DDD5C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" y="5129784"/>
            <a:ext cx="620329" cy="146304"/>
          </a:xfrm>
          <a:prstGeom prst="rect">
            <a:avLst/>
          </a:prstGeom>
          <a:solidFill>
            <a:srgbClr val="8FA49B"/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87168" y="1783080"/>
            <a:ext cx="1444752" cy="3611880"/>
          </a:xfrm>
          <a:prstGeom prst="roundRect">
            <a:avLst>
              <a:gd name="adj" fmla="val 7595"/>
            </a:avLst>
          </a:prstGeom>
          <a:solidFill>
            <a:srgbClr val="111111"/>
          </a:solidFill>
          <a:ln w="12700">
            <a:solidFill>
              <a:srgbClr val="133A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96896" y="1892808"/>
            <a:ext cx="1225296" cy="3392424"/>
          </a:xfrm>
          <a:prstGeom prst="roundRect">
            <a:avLst>
              <a:gd name="adj" fmla="val 5970"/>
            </a:avLst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96896" y="1892808"/>
            <a:ext cx="1225296" cy="292608"/>
          </a:xfrm>
          <a:prstGeom prst="rect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8336" y="1947672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EDU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06624" y="2313432"/>
            <a:ext cx="1005840" cy="384048"/>
          </a:xfrm>
          <a:prstGeom prst="roundRect">
            <a:avLst>
              <a:gd name="adj" fmla="val 7143"/>
            </a:avLst>
          </a:prstGeom>
          <a:solidFill>
            <a:srgbClr val="E6EFEA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98064" y="242316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educativo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06624" y="2807208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E9E3D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06624" y="3099816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E9E3D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06624" y="3392424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E9E3D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24912" y="4919472"/>
            <a:ext cx="969264" cy="146304"/>
          </a:xfrm>
          <a:prstGeom prst="rect">
            <a:avLst/>
          </a:prstGeom>
          <a:solidFill>
            <a:srgbClr val="DDD5C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24912" y="5129784"/>
            <a:ext cx="620329" cy="146304"/>
          </a:xfrm>
          <a:prstGeom prst="rect">
            <a:avLst/>
          </a:prstGeom>
          <a:solidFill>
            <a:srgbClr val="8FA49B"/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78224" y="1783080"/>
            <a:ext cx="1444752" cy="3611880"/>
          </a:xfrm>
          <a:prstGeom prst="roundRect">
            <a:avLst>
              <a:gd name="adj" fmla="val 7595"/>
            </a:avLst>
          </a:prstGeom>
          <a:solidFill>
            <a:srgbClr val="111111"/>
          </a:solidFill>
          <a:ln w="12700">
            <a:solidFill>
              <a:srgbClr val="133A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87952" y="1892808"/>
            <a:ext cx="1225296" cy="3392424"/>
          </a:xfrm>
          <a:prstGeom prst="roundRect">
            <a:avLst>
              <a:gd name="adj" fmla="val 5970"/>
            </a:avLst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87952" y="1892808"/>
            <a:ext cx="1225296" cy="29260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79392" y="1947672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97680" y="2313432"/>
            <a:ext cx="1005840" cy="384048"/>
          </a:xfrm>
          <a:prstGeom prst="roundRect">
            <a:avLst>
              <a:gd name="adj" fmla="val 7143"/>
            </a:avLst>
          </a:prstGeom>
          <a:solidFill>
            <a:srgbClr val="E6EFEA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242316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multimedia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97680" y="2807208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E9E3D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97680" y="3099816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E9E3D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7680" y="3392424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E9E3D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15968" y="4919472"/>
            <a:ext cx="969264" cy="146304"/>
          </a:xfrm>
          <a:prstGeom prst="rect">
            <a:avLst/>
          </a:prstGeom>
          <a:solidFill>
            <a:srgbClr val="DDD5C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15968" y="5129784"/>
            <a:ext cx="620329" cy="146304"/>
          </a:xfrm>
          <a:prstGeom prst="rect">
            <a:avLst/>
          </a:prstGeom>
          <a:solidFill>
            <a:srgbClr val="8FA49B"/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0" y="1783080"/>
            <a:ext cx="1051560" cy="3611880"/>
          </a:xfrm>
          <a:prstGeom prst="roundRect">
            <a:avLst>
              <a:gd name="adj" fmla="val 10435"/>
            </a:avLst>
          </a:prstGeom>
          <a:solidFill>
            <a:srgbClr val="111111"/>
          </a:solidFill>
          <a:ln w="12700">
            <a:solidFill>
              <a:srgbClr val="133A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79008" y="1892808"/>
            <a:ext cx="832104" cy="3392424"/>
          </a:xfrm>
          <a:prstGeom prst="roundRect">
            <a:avLst>
              <a:gd name="adj" fmla="val 8791"/>
            </a:avLst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79008" y="1892808"/>
            <a:ext cx="832104" cy="292608"/>
          </a:xfrm>
          <a:prstGeom prst="rect">
            <a:avLst/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0448" y="1947672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Idioma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88736" y="2313432"/>
            <a:ext cx="612648" cy="384048"/>
          </a:xfrm>
          <a:prstGeom prst="roundRect">
            <a:avLst>
              <a:gd name="adj" fmla="val 7143"/>
            </a:avLst>
          </a:prstGeom>
          <a:solidFill>
            <a:srgbClr val="E6EFEA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0176" y="2423160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/ bri / cab / ngb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88736" y="2807208"/>
            <a:ext cx="612648" cy="201168"/>
          </a:xfrm>
          <a:prstGeom prst="roundRect">
            <a:avLst>
              <a:gd name="adj" fmla="val 13636"/>
            </a:avLst>
          </a:prstGeom>
          <a:solidFill>
            <a:srgbClr val="E9E3D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88736" y="3099816"/>
            <a:ext cx="612648" cy="201168"/>
          </a:xfrm>
          <a:prstGeom prst="roundRect">
            <a:avLst>
              <a:gd name="adj" fmla="val 13636"/>
            </a:avLst>
          </a:prstGeom>
          <a:solidFill>
            <a:srgbClr val="E9E3D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88736" y="3392424"/>
            <a:ext cx="612648" cy="201168"/>
          </a:xfrm>
          <a:prstGeom prst="roundRect">
            <a:avLst>
              <a:gd name="adj" fmla="val 13636"/>
            </a:avLst>
          </a:prstGeom>
          <a:solidFill>
            <a:srgbClr val="E9E3D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07024" y="4919472"/>
            <a:ext cx="576072" cy="146304"/>
          </a:xfrm>
          <a:prstGeom prst="rect">
            <a:avLst/>
          </a:prstGeom>
          <a:solidFill>
            <a:srgbClr val="DDD5C7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07024" y="5129784"/>
            <a:ext cx="368686" cy="146304"/>
          </a:xfrm>
          <a:prstGeom prst="rect">
            <a:avLst/>
          </a:prstGeom>
          <a:solidFill>
            <a:srgbClr val="8FA49B"/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6112" y="55778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Implementado en Sprint-03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406640" y="1234440"/>
            <a:ext cx="4206240" cy="4983480"/>
          </a:xfrm>
          <a:prstGeom prst="roundRect">
            <a:avLst>
              <a:gd name="adj" fmla="val 1739"/>
            </a:avLst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635240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Y RENDIMIENTO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662672" y="1792224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662672" y="1792224"/>
            <a:ext cx="91440" cy="914400"/>
          </a:xfrm>
          <a:prstGeom prst="rect">
            <a:avLst/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63840" y="1956816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19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7863840" y="2359152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tipado con TypeScript 5.9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125712" y="1792224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9125712" y="1792224"/>
            <a:ext cx="91440" cy="91440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26880" y="1956816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Vite 8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9326880" y="2359152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ESM, HMR y tree-shaking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0588752" y="1792224"/>
            <a:ext cx="777240" cy="91440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0588752" y="1792224"/>
            <a:ext cx="91440" cy="914400"/>
          </a:xfrm>
          <a:prstGeom prst="rect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789920" y="1956816"/>
            <a:ext cx="466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6E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PWA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10789920" y="2359152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workbox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662672" y="2907792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7662672" y="2907792"/>
            <a:ext cx="91440" cy="914400"/>
          </a:xfrm>
          <a:prstGeom prst="rect">
            <a:avLst/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0" y="3072384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6E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PouchDB 9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7863840" y="3474720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 local y sync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9125712" y="2907792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9125712" y="2907792"/>
            <a:ext cx="91440" cy="914400"/>
          </a:xfrm>
          <a:prstGeom prst="rect">
            <a:avLst/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326880" y="3072384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i18next</a:t>
            </a:r>
            <a:endParaRPr lang="en-US" sz="2000" dirty="0"/>
          </a:p>
        </p:txBody>
      </p:sp>
      <p:sp>
        <p:nvSpPr>
          <p:cNvPr id="79" name="Text 77"/>
          <p:cNvSpPr/>
          <p:nvPr/>
        </p:nvSpPr>
        <p:spPr>
          <a:xfrm>
            <a:off x="9326880" y="3474720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multilingüe de interfaz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0588752" y="2907792"/>
            <a:ext cx="777240" cy="91440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0588752" y="2907792"/>
            <a:ext cx="91440" cy="914400"/>
          </a:xfrm>
          <a:prstGeom prst="rect">
            <a:avLst/>
          </a:prstGeom>
          <a:solidFill>
            <a:srgbClr val="133A32"/>
          </a:solidFill>
          <a:ln w="12700">
            <a:solidFill>
              <a:srgbClr val="133A32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789920" y="3072384"/>
            <a:ext cx="466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97</a:t>
            </a:r>
            <a:endParaRPr lang="en-US" sz="2000" dirty="0"/>
          </a:p>
        </p:txBody>
      </p:sp>
      <p:sp>
        <p:nvSpPr>
          <p:cNvPr id="83" name="Text 81"/>
          <p:cNvSpPr/>
          <p:nvPr/>
        </p:nvSpPr>
        <p:spPr>
          <a:xfrm>
            <a:off x="10789920" y="3474720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módulos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7662672" y="4251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452 KB / 145 KB gzip</a:t>
            </a:r>
            <a:endParaRPr lang="en-US" sz="920" dirty="0"/>
          </a:p>
        </p:txBody>
      </p:sp>
      <p:sp>
        <p:nvSpPr>
          <p:cNvPr id="85" name="Text 83"/>
          <p:cNvSpPr/>
          <p:nvPr/>
        </p:nvSpPr>
        <p:spPr>
          <a:xfrm>
            <a:off x="10680192" y="4251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133A32</a:t>
            </a:r>
            <a:endParaRPr lang="en-US" sz="920" dirty="0"/>
          </a:p>
        </p:txBody>
      </p:sp>
      <p:sp>
        <p:nvSpPr>
          <p:cNvPr id="86" name="Shape 84"/>
          <p:cNvSpPr/>
          <p:nvPr/>
        </p:nvSpPr>
        <p:spPr>
          <a:xfrm>
            <a:off x="7662672" y="4425696"/>
            <a:ext cx="3611880" cy="137160"/>
          </a:xfrm>
          <a:prstGeom prst="roundRect">
            <a:avLst>
              <a:gd name="adj" fmla="val 20000"/>
            </a:avLst>
          </a:prstGeom>
          <a:solidFill>
            <a:srgbClr val="EDE7DD"/>
          </a:solidFill>
          <a:ln w="12700">
            <a:solidFill>
              <a:srgbClr val="D9D1C5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662672" y="4425696"/>
            <a:ext cx="914400" cy="137160"/>
          </a:xfrm>
          <a:prstGeom prst="roundRect">
            <a:avLst>
              <a:gd name="adj" fmla="val 20000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662672" y="50749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académica cumplida: diseño funcional, implementación base y evidencia de viabilidad en dispositivos Android económicos.</a:t>
            </a:r>
            <a:endParaRPr lang="en-US" sz="1110" dirty="0"/>
          </a:p>
        </p:txBody>
      </p:sp>
      <p:sp>
        <p:nvSpPr>
          <p:cNvPr id="89" name="Text 87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documento final + repo RAICES_VIVAS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-1097280"/>
            <a:ext cx="2926080" cy="2926080"/>
          </a:xfrm>
          <a:prstGeom prst="ellipse">
            <a:avLst/>
          </a:prstGeom>
          <a:solidFill>
            <a:srgbClr val="E8D9C4">
              <a:alpha val="65000"/>
            </a:srgbClr>
          </a:solidFill>
          <a:ln w="12700">
            <a:solidFill>
              <a:srgbClr val="E8D9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5166360"/>
            <a:ext cx="2286000" cy="2286000"/>
          </a:xfrm>
          <a:prstGeom prst="ellipse">
            <a:avLst/>
          </a:prstGeom>
          <a:solidFill>
            <a:srgbClr val="8FA49B">
              <a:alpha val="25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-640080"/>
            <a:ext cx="2743200" cy="2743200"/>
          </a:xfrm>
          <a:prstGeom prst="ellipse">
            <a:avLst/>
          </a:prstGeom>
          <a:solidFill>
            <a:srgbClr val="C5A05A">
              <a:alpha val="18000"/>
            </a:srgbClr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10896"/>
            <a:ext cx="11384280" cy="9144"/>
          </a:xfrm>
          <a:prstGeom prst="rect">
            <a:avLst/>
          </a:prstGeom>
          <a:solidFill>
            <a:srgbClr val="D9D1C5">
              <a:alpha val="0"/>
            </a:srgbClr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ANALÍTICO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y recomendaciones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 · Entrega Final · CENFOTEC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86868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demuestra que una solución tecnológica puede ser rigurosa, contextual y gobernable sin perder viabilidad técnica.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2344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4FAF7"/>
          </a:solidFill>
          <a:ln w="12700">
            <a:solidFill>
              <a:srgbClr val="E4DBC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1490472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4E6E66"/>
          </a:solidFill>
          <a:ln w="12700">
            <a:solidFill>
              <a:srgbClr val="4E6E6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52704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95528" y="1865376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Offline-first es necesario y viable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95528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arquitectura PouchDB/CouchDB permite continuidad operativa en territorios con conectividad limitada o inexistente, sin comprometer usabilidad ni portabilidad.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334256" y="12344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7F4"/>
          </a:solidFill>
          <a:ln w="12700">
            <a:solidFill>
              <a:srgbClr val="E4DBC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62856" y="1490472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152704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62856" y="1865376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 debe vivirse como arquitectura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562856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gobernanza cultural no puede añadirse al final. Debe incorporarse al modelo de datos, a la sincronización, a la auditoría y a la revocación.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101584" y="12344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BEF"/>
          </a:solidFill>
          <a:ln w="12700">
            <a:solidFill>
              <a:srgbClr val="E4DBC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30184" y="1490472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C5A05A"/>
          </a:solidFill>
          <a:ln w="12700">
            <a:solidFill>
              <a:srgbClr val="C5A0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3336" y="152704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3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30184" y="1865376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comunidades son socias de diseño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30184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validez del sistema depende de respetar estructuras comunitarias existentes y de reconocer a los actores locales como coautores del diseño.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566928" y="4315968"/>
            <a:ext cx="11055096" cy="1463040"/>
          </a:xfrm>
          <a:prstGeom prst="roundRect">
            <a:avLst>
              <a:gd name="adj" fmla="val 5000"/>
            </a:avLst>
          </a:prstGeom>
          <a:solidFill>
            <a:srgbClr val="FFFDFC"/>
          </a:solidFill>
          <a:ln w="12700">
            <a:solidFill>
              <a:srgbClr val="D9D1C5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4672" y="45354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RECOMENDACIONES PRIORITARIAS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4672" y="4828032"/>
            <a:ext cx="73152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Realizar validaciones presenciales con comunidades antes del siguiente sprint de expansión.
</a:t>
            </a:r>
            <a:pPr indent="0" marL="0">
              <a:buNone/>
            </a:pPr>
            <a:r>
              <a:rPr lang="en-US" sz="11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Priorizar el piloto en Guatuso por su mejor infraestructura y menor riesgo técnico inicial.
</a:t>
            </a:r>
            <a:pPr indent="0" marL="0">
              <a:buNone/>
            </a:pPr>
            <a:r>
              <a:rPr lang="en-US" sz="118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Completar el mapeo con EDUS y validar traducciones con hablantes nativos y fuentes del MEP.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412480" y="460857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Contribución académica final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88289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caso de ingeniería de software donde la gestión, la trazabilidad y la ética de datos son inseparables del diseño técnico.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Fuentes: documento final + repo RAICES_VIVAS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3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840480"/>
            <a:ext cx="4114800" cy="4114800"/>
          </a:xfrm>
          <a:prstGeom prst="ellipse">
            <a:avLst/>
          </a:prstGeom>
          <a:solidFill>
            <a:srgbClr val="8FA49B">
              <a:alpha val="18000"/>
            </a:srgbClr>
          </a:solidFill>
          <a:ln w="12700">
            <a:solidFill>
              <a:srgbClr val="8FA49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1005840"/>
            <a:ext cx="4206240" cy="4206240"/>
          </a:xfrm>
          <a:prstGeom prst="ellipse">
            <a:avLst/>
          </a:prstGeom>
          <a:solidFill>
            <a:srgbClr val="B85C38">
              <a:alpha val="72000"/>
            </a:srgbClr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051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9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Raíces Vivas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que digitalizar procesos,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trata de codificar continuidad,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soberanía y acceso.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96112" y="388620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FCF8F2"/>
          </a:solidFill>
          <a:ln w="12700">
            <a:solidFill>
              <a:srgbClr val="E8D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4032504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“Gracias”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9834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DF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Equipo: Geovanny Alpízar · Elkin · Santiago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524865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C5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CENFOTEC · Introducción a la Ingeniería de Software · Entrega final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20840" y="1234440"/>
            <a:ext cx="4572000" cy="4434840"/>
          </a:xfrm>
          <a:prstGeom prst="roundRect">
            <a:avLst>
              <a:gd name="adj" fmla="val 1649"/>
            </a:avLst>
          </a:prstGeom>
          <a:solidFill>
            <a:srgbClr val="FFF8EE"/>
          </a:solidFill>
          <a:ln w="12700">
            <a:solidFill>
              <a:srgbClr val="D9D1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6016" y="14813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PARA EXPOSICIÓN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86016" y="1874520"/>
            <a:ext cx="37947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Problema real, contextual y medible
</a:t>
            </a:r>
            <a:pPr indent="0" marL="0">
              <a:buNone/>
            </a:pPr>
            <a:r>
              <a:rPr lang="en-US" sz="12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Método mixto con fundamento ético
</a:t>
            </a:r>
            <a:pPr indent="0" marL="0">
              <a:buNone/>
            </a:pPr>
            <a:r>
              <a:rPr lang="en-US" sz="12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Arquitectura coherente con el territorio
</a:t>
            </a:r>
            <a:pPr indent="0" marL="0">
              <a:buNone/>
            </a:pPr>
            <a:r>
              <a:rPr lang="en-US" sz="12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Gestión trazable con Obsidian, GitHub y Jira
</a:t>
            </a:r>
            <a:pPr indent="0" marL="0">
              <a:buNone/>
            </a:pPr>
            <a:r>
              <a:rPr lang="en-US" sz="12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MVP con base técnica demostrable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86016" y="4389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3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y discusión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986016" y="473659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defensa del proyecto puede apoyarse tanto en la evidencia del documento final como en los artefactos vivos del repositorio.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0" y="64190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6419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A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documento final + repo RAICES_VIVAS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71655" cy="502920"/>
          </a:xfrm>
          <a:prstGeom prst="rect">
            <a:avLst/>
          </a:prstGeom>
          <a:solidFill>
            <a:srgbClr val="E9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B85C38"/>
                </a:solidFill>
                <a:latin typeface="Calibri"/>
              </a:rPr>
              <a:t>ANEXO TÉCNICO · A.1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914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Raíces Vivas · Entrega Final · CENFOTEC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33A32"/>
                </a:solidFill>
                <a:latin typeface="Calibri"/>
              </a:rPr>
              <a:t>DFD Nivel 0 — Diagrama de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E6E66"/>
                </a:solidFill>
                <a:latin typeface="Calibri"/>
              </a:rPr>
              <a:t>Notación DeMarco–Yourdon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_dfd_niv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717" y="1929384"/>
            <a:ext cx="5662084" cy="38221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5989320"/>
            <a:ext cx="11871655" cy="6858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5EDE0"/>
                </a:solidFill>
                <a:latin typeface="Calibri"/>
              </a:rPr>
              <a:t>El sistema Raíces Vivas modelado como proceso único rodeado de sus entidades externas (6 actores humanos + 3 sistemas: MEP, CCSS/EDUS, ODS/UNESCO). Cada arista es un flujo de datos etiquetado.</a:t>
            </a:r>
          </a:p>
        </p:txBody>
      </p:sp>
      <p:pic>
        <p:nvPicPr>
          <p:cNvPr id="13" name="Picture 12" descr="logo-cenfotec-200x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1722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71655" cy="502920"/>
          </a:xfrm>
          <a:prstGeom prst="rect">
            <a:avLst/>
          </a:prstGeom>
          <a:solidFill>
            <a:srgbClr val="E9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B85C38"/>
                </a:solidFill>
                <a:latin typeface="Calibri"/>
              </a:rPr>
              <a:t>ANEXO TÉCNICO · A.2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914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Raíces Vivas · Entrega Final · CENFOTEC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33A32"/>
                </a:solidFill>
                <a:latin typeface="Calibri"/>
              </a:rPr>
              <a:t>DFD Nivel 1 — Descomposición funcional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E6E66"/>
                </a:solidFill>
                <a:latin typeface="Calibri"/>
              </a:rPr>
              <a:t>Procesos · almacenes · flujos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_dfd_niv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029" y="1929384"/>
            <a:ext cx="5793461" cy="38221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5989320"/>
            <a:ext cx="11871655" cy="6858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5EDE0"/>
                </a:solidFill>
                <a:latin typeface="Calibri"/>
              </a:rPr>
              <a:t>Cuatro procesos hijos (EDU · SAB · SAL · Transversales) y cinco almacenes de datos (D1 catálogo, D2 PouchDB, D3 log auditoría, D4 i18n, D5 CouchDB). Representa la base offline-first del sistema.</a:t>
            </a:r>
          </a:p>
        </p:txBody>
      </p:sp>
      <p:pic>
        <p:nvPicPr>
          <p:cNvPr id="13" name="Picture 12" descr="logo-cenfotec-200x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1722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71655" cy="502920"/>
          </a:xfrm>
          <a:prstGeom prst="rect">
            <a:avLst/>
          </a:prstGeom>
          <a:solidFill>
            <a:srgbClr val="E9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B85C38"/>
                </a:solidFill>
                <a:latin typeface="Calibri"/>
              </a:rPr>
              <a:t>ANEXO TRAZABILIDAD · A.3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914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Raíces Vivas · Entrega Final · CENFOTEC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33A32"/>
                </a:solidFill>
                <a:latin typeface="Calibri"/>
              </a:rPr>
              <a:t>Casos de Uso — Diagrama UML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E6E66"/>
                </a:solidFill>
                <a:latin typeface="Calibri"/>
              </a:rPr>
              <a:t>23 casos de uso · 4 módulos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521" y="1929384"/>
            <a:ext cx="4796476" cy="38221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5989320"/>
            <a:ext cx="11871655" cy="6858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5EDE0"/>
                </a:solidFill>
                <a:latin typeface="Calibri"/>
              </a:rPr>
              <a:t>Actores (docente · estudiante · portador · consejo · ATAP · admin) conectados a los 23 casos de uso, agrupados por módulo EDU/SAB/SAL/TRANS. Base de la matriz RF↔CU del proyecto.</a:t>
            </a:r>
          </a:p>
        </p:txBody>
      </p:sp>
      <p:pic>
        <p:nvPicPr>
          <p:cNvPr id="13" name="Picture 12" descr="logo-cenfotec-200x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1722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71655" cy="502920"/>
          </a:xfrm>
          <a:prstGeom prst="rect">
            <a:avLst/>
          </a:prstGeom>
          <a:solidFill>
            <a:srgbClr val="E9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B85C38"/>
                </a:solidFill>
                <a:latin typeface="Calibri"/>
              </a:rPr>
              <a:t>ANEXO TRAZABILIDAD · A.4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914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Raíces Vivas · Entrega Final · CENFOTEC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33A32"/>
                </a:solidFill>
                <a:latin typeface="Calibri"/>
              </a:rPr>
              <a:t>Actores × Módulos — Matriz de responsabilidades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E6E66"/>
                </a:solidFill>
                <a:latin typeface="Calibri"/>
              </a:rPr>
              <a:t>Quién interactúa con qué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_actor_modu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455" y="1929384"/>
            <a:ext cx="7338608" cy="38221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5989320"/>
            <a:ext cx="11871655" cy="6858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5EDE0"/>
                </a:solidFill>
                <a:latin typeface="Calibri"/>
              </a:rPr>
              <a:t>Mapeo bidireccional de los 9 actores primarios y 4 módulos funcionales. Justifica los niveles CARE y la segregación de permisos en la arquitectura.</a:t>
            </a:r>
          </a:p>
        </p:txBody>
      </p:sp>
      <p:pic>
        <p:nvPicPr>
          <p:cNvPr id="13" name="Picture 12" descr="logo-cenfotec-200x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1722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71655" cy="502920"/>
          </a:xfrm>
          <a:prstGeom prst="rect">
            <a:avLst/>
          </a:prstGeom>
          <a:solidFill>
            <a:srgbClr val="E9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B85C38"/>
                </a:solidFill>
                <a:latin typeface="Calibri"/>
              </a:rPr>
              <a:t>ANEXO TRAZABILIDAD · A.5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914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Raíces Vivas · Entrega Final · CENFOTEC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33A32"/>
                </a:solidFill>
                <a:latin typeface="Calibri"/>
              </a:rPr>
              <a:t>QFD — Voz del usuario → requerimiento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E6E66"/>
                </a:solidFill>
                <a:latin typeface="Calibri"/>
              </a:rPr>
              <a:t>Casa de la calidad del proyecto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_q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015" y="1929384"/>
            <a:ext cx="4391489" cy="38221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5989320"/>
            <a:ext cx="11871655" cy="6858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5EDE0"/>
                </a:solidFill>
                <a:latin typeface="Calibri"/>
              </a:rPr>
              <a:t>Priorización de requerimientos funcionales según el peso de cada necesidad levantada en campo. Fundamenta la clasificación MoSCoW (12 Must · 7 Should · 4 Could).</a:t>
            </a:r>
          </a:p>
        </p:txBody>
      </p:sp>
      <p:pic>
        <p:nvPicPr>
          <p:cNvPr id="13" name="Picture 12" descr="logo-cenfotec-200x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1722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71655" cy="502920"/>
          </a:xfrm>
          <a:prstGeom prst="rect">
            <a:avLst/>
          </a:prstGeom>
          <a:solidFill>
            <a:srgbClr val="E9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B85C38"/>
                </a:solidFill>
                <a:latin typeface="Calibri"/>
              </a:rPr>
              <a:t>ANEXO GESTIÓN · A.6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914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Raíces Vivas · Entrega Final · CENFOTEC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33A32"/>
                </a:solidFill>
                <a:latin typeface="Calibri"/>
              </a:rPr>
              <a:t>Análisis FODA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E6E66"/>
                </a:solidFill>
                <a:latin typeface="Calibri"/>
              </a:rPr>
              <a:t>Fortalezas · Oportunidades · Debilidades · Amenazas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_fo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233" y="1929384"/>
            <a:ext cx="4337053" cy="38221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5989320"/>
            <a:ext cx="11871655" cy="6858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5EDE0"/>
                </a:solidFill>
                <a:latin typeface="Calibri"/>
              </a:rPr>
              <a:t>Diagnóstico estratégico del proyecto en el contexto académico, territorial y técnico. Alimenta el registro de riesgos y el roadmap de continuidad.</a:t>
            </a:r>
          </a:p>
        </p:txBody>
      </p:sp>
      <p:pic>
        <p:nvPicPr>
          <p:cNvPr id="13" name="Picture 12" descr="logo-cenfotec-200x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1722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71655" cy="502920"/>
          </a:xfrm>
          <a:prstGeom prst="rect">
            <a:avLst/>
          </a:prstGeom>
          <a:solidFill>
            <a:srgbClr val="E9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B85C38"/>
                </a:solidFill>
                <a:latin typeface="Calibri"/>
              </a:rPr>
              <a:t>ANEXO GESTIÓN · A.7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914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Raíces Vivas · Entrega Final · CENFOTEC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33A32"/>
                </a:solidFill>
                <a:latin typeface="Calibri"/>
              </a:rPr>
              <a:t>Análisis de causa-raíz — Ishikawa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E6E66"/>
                </a:solidFill>
                <a:latin typeface="Calibri"/>
              </a:rPr>
              <a:t>6M · por qué persiste la brecha sociotécnica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9D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_ishika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884" y="1929384"/>
            <a:ext cx="5559750" cy="38221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5989320"/>
            <a:ext cx="11871655" cy="685800"/>
          </a:xfrm>
          <a:prstGeom prst="rect">
            <a:avLst/>
          </a:prstGeom>
          <a:solidFill>
            <a:srgbClr val="13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5EDE0"/>
                </a:solidFill>
                <a:latin typeface="Calibri"/>
              </a:rPr>
              <a:t>Espina de pescado que identifica causas estructurales (método, personas, materiales, entorno, tecnología y medición) detrás de la brecha en educación, saberes y salud comunitaria.</a:t>
            </a:r>
          </a:p>
        </p:txBody>
      </p:sp>
      <p:pic>
        <p:nvPicPr>
          <p:cNvPr id="13" name="Picture 12" descr="logo-cenfotec-200x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1722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Raíces Vivas — Presentación Final</dc:title>
  <dc:subject>Raíces Vivas — Entrega Final</dc:subject>
  <dc:creator>OpenAI</dc:creator>
  <cp:lastModifiedBy>OpenAI</cp:lastModifiedBy>
  <cp:revision>1</cp:revision>
  <dcterms:created xsi:type="dcterms:W3CDTF">2026-04-20T04:18:27Z</dcterms:created>
  <dcterms:modified xsi:type="dcterms:W3CDTF">2026-04-20T04:18:27Z</dcterms:modified>
</cp:coreProperties>
</file>
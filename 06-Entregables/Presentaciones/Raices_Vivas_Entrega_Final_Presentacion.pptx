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</p:sldIdLst>
  <p:sldSz cy="6858000" cx="12191675"/>
  <p:notesSz cx="6858000" cy="12191675"/>
  <p:embeddedFontLst>
    <p:embeddedFont>
      <p:font typeface="Play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8" roundtripDataSignature="AMtx7mgUSUwFfM2aUuqYc7krkPxRm4Fp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Play-regular.fntdata"/><Relationship Id="rId25" Type="http://schemas.openxmlformats.org/officeDocument/2006/relationships/slide" Target="slides/slide21.xml"/><Relationship Id="rId28" Type="http://customschemas.google.com/relationships/presentationmetadata" Target="metadata"/><Relationship Id="rId27" Type="http://schemas.openxmlformats.org/officeDocument/2006/relationships/font" Target="fonts/Play-bold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Abrir con el problema central: el proyecto no se diseñó desde escritorio. Resaltar que la propuesta integra problema social, rigor metodológico, arquitectura y gestión. Cerrar con la idea de soberanía y continuidad cultural.</a:t>
            </a:r>
            <a:br>
              <a:rPr lang="en-US"/>
            </a:b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Raíces Vivas — Entrega Final: Implementación y Gestión (archivo subido por el usuario, 2026-04-19)</a:t>
            </a:r>
            <a:br>
              <a:rPr lang="en-US"/>
            </a:br>
            <a:r>
              <a:rPr lang="en-US"/>
              <a:t>- https://github.com/yonrasgg/RAICES_VIVAS/blob/main/README.md</a:t>
            </a:r>
            <a:br>
              <a:rPr lang="en-US"/>
            </a:br>
            <a:r>
              <a:rPr lang="en-US"/>
              <a:t>- https://github.com/yonrasgg/RAICES_VIVAS/blob/main/01-Proyecto/Decisiones/ADR-007.md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Presentar este slide como mapa general. Sirve para que el tribunal vea en menos de un minuto el problema, la evidencia, la respuesta técnica y la forma en que el equipo gobernó el proyecto.</a:t>
            </a:r>
            <a:br>
              <a:rPr lang="en-US"/>
            </a:b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Raíces Vivas — Entrega Final: Implementación y Gestión (archivo subido por el usuario, 2026-04-19)</a:t>
            </a:r>
            <a:br>
              <a:rPr lang="en-US"/>
            </a:br>
            <a:r>
              <a:rPr lang="en-US"/>
              <a:t>- https://github.com/yonrasgg/RAICES_VIVAS/blob/main/README.md</a:t>
            </a:r>
            <a:br>
              <a:rPr lang="en-US"/>
            </a:br>
            <a:r>
              <a:rPr lang="en-US"/>
              <a:t>- https://github.com/yonrasgg/RAICES_VIVAS/blob/main/01-Proyecto/Decisiones/ADR-001.md</a:t>
            </a:r>
            <a:br>
              <a:rPr lang="en-US"/>
            </a:br>
            <a:r>
              <a:rPr lang="en-US"/>
              <a:t>- https://github.com/yonrasgg/RAICES_VIVAS/blob/main/01-Proyecto/Decisiones/ADR-007.md</a:t>
            </a:r>
            <a:endParaRPr/>
          </a:p>
        </p:txBody>
      </p:sp>
      <p:sp>
        <p:nvSpPr>
          <p:cNvPr id="59" name="Google Shape;5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Usar esta lámina para conectar el contexto físico con la decisión técnica. Subrayar que el problema no es solo tecnológico, sino territorial, cultural y logístico.</a:t>
            </a:r>
            <a:br>
              <a:rPr lang="en-US"/>
            </a:b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Raíces Vivas — Entrega Final: Implementación y Gestión (archivo subido por el usuario, 2026-04-19)</a:t>
            </a:r>
            <a:endParaRPr/>
          </a:p>
        </p:txBody>
      </p:sp>
      <p:sp>
        <p:nvSpPr>
          <p:cNvPr id="122" name="Google Shape;12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7" name="Google Shape;2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Enfatizar que no se trató de una simple recopilación de requisitos. Hubo un diseño metodológico con lógica de investigación aplicada y un marco ético compatible con datos indígenas.</a:t>
            </a:r>
            <a:br>
              <a:rPr lang="en-US"/>
            </a:b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Raíces Vivas — Entrega Final: Implementación y Gestión (archivo subido por el usuario, 2026-04-19)</a:t>
            </a:r>
            <a:endParaRPr/>
          </a:p>
        </p:txBody>
      </p:sp>
      <p:sp>
        <p:nvSpPr>
          <p:cNvPr id="218" name="Google Shape;21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1" name="Google Shape;28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Presentar esta lámina como una síntesis de evidencia. Conviene mostrar cómo cada módulo tiene su propio problema visible, pero todos convergen en una misma lógica de diseño y gobernanza.</a:t>
            </a:r>
            <a:br>
              <a:rPr lang="en-US"/>
            </a:b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Raíces Vivas — Entrega Final: Implementación y Gestión (archivo subido por el usuario, 2026-04-19)</a:t>
            </a:r>
            <a:endParaRPr/>
          </a:p>
        </p:txBody>
      </p:sp>
      <p:sp>
        <p:nvSpPr>
          <p:cNvPr id="282" name="Google Shape;28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Explicar que la solución no solo responde al problema técnico. Responde a restricciones territoriales, lingüísticas, éticas y operativas. La distinción más fuerte es que la gobernanza CARE se modela como arquitectura.</a:t>
            </a:r>
            <a:br>
              <a:rPr lang="en-US"/>
            </a:b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Raíces Vivas — Entrega Final: Implementación y Gestión (archivo subido por el usuario, 2026-04-19)</a:t>
            </a:r>
            <a:br>
              <a:rPr lang="en-US"/>
            </a:br>
            <a:r>
              <a:rPr lang="en-US"/>
              <a:t>- https://github.com/yonrasgg/RAICES_VIVAS/blob/main/04-Arquitectura/Visión%20General.md</a:t>
            </a:r>
            <a:br>
              <a:rPr lang="en-US"/>
            </a:br>
            <a:r>
              <a:rPr lang="en-US"/>
              <a:t>- https://github.com/yonrasgg/RAICES_VIVAS/blob/main/04-Arquitectura/Stack%20Tecnológico.md</a:t>
            </a:r>
            <a:endParaRPr/>
          </a:p>
        </p:txBody>
      </p:sp>
      <p:sp>
        <p:nvSpPr>
          <p:cNvPr id="349" name="Google Shape;34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Esta lámina es ideal para defender la arquitectura. El mensaje clave es que la política de acceso no está fuera del sistema: está embebida en el modelo de datos, en el flujo de sincronización y en el control de conflictos.</a:t>
            </a:r>
            <a:br>
              <a:rPr lang="en-US"/>
            </a:b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Raíces Vivas — Entrega Final: Implementación y Gestión (archivo subido por el usuario, 2026-04-19)</a:t>
            </a:r>
            <a:br>
              <a:rPr lang="en-US"/>
            </a:br>
            <a:r>
              <a:rPr lang="en-US"/>
              <a:t>- https://github.com/yonrasgg/RAICES_VIVAS/blob/main/04-Arquitectura/Visión%20General.md</a:t>
            </a:r>
            <a:br>
              <a:rPr lang="en-US"/>
            </a:br>
            <a:r>
              <a:rPr lang="en-US"/>
              <a:t>- https://github.com/yonrasgg/RAICES_VIVAS/blob/main/04-Arquitectura/Modelo%20de%20Datos.md</a:t>
            </a:r>
            <a:endParaRPr/>
          </a:p>
        </p:txBody>
      </p:sp>
      <p:sp>
        <p:nvSpPr>
          <p:cNvPr id="411" name="Google Shape;41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1" name="Google Shape;47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1" name="Google Shape;50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Aquí conviene mostrar que hubo disciplina de ingeniería de software: especificación, priorización, matriz de trazabilidad y alineación entre el modelo funcional y el plan de trabajo.</a:t>
            </a:r>
            <a:br>
              <a:rPr lang="en-US"/>
            </a:b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Raíces Vivas — Entrega Final: Implementación y Gestión (archivo subido por el usuario, 2026-04-19)</a:t>
            </a:r>
            <a:br>
              <a:rPr lang="en-US"/>
            </a:br>
            <a:r>
              <a:rPr lang="en-US"/>
              <a:t>- https://github.com/yonrasgg/RAICES_VIVAS/blob/main/03-Requerimientos/_RTM.md</a:t>
            </a:r>
            <a:br>
              <a:rPr lang="en-US"/>
            </a:br>
            <a:r>
              <a:rPr lang="en-US"/>
              <a:t>- https://github.com/yonrasgg/RAICES_VIVAS/blob/main/04-Arquitectura/WBS.md</a:t>
            </a:r>
            <a:endParaRPr/>
          </a:p>
        </p:txBody>
      </p:sp>
      <p:sp>
        <p:nvSpPr>
          <p:cNvPr id="502" name="Google Shape;50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0" name="Google Shape;60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6" name="Google Shape;616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 esta lámina se incorpora explícitamente el punto solicitado por el usuario: Obsidian, GitHub y Jira sincronizados. Explicar que el API token y el campo jira_key permiten vincular el vault con el tablero operativo.</a:t>
            </a:r>
            <a:br>
              <a:rPr lang="en-US"/>
            </a:b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https://github.com/yonrasgg/RAICES_VIVAS/blob/main/01-Proyecto/Decisiones/ADR-001.md</a:t>
            </a:r>
            <a:br>
              <a:rPr lang="en-US"/>
            </a:br>
            <a:r>
              <a:rPr lang="en-US"/>
              <a:t>- https://github.com/yonrasgg/RAICES_VIVAS/blob/main/01-Proyecto/Decisiones/ADR-007.md</a:t>
            </a:r>
            <a:br>
              <a:rPr lang="en-US"/>
            </a:br>
            <a:r>
              <a:rPr lang="en-US"/>
              <a:t>- https://github.com/yonrasgg/RAICES_VIVAS/blob/main/README.md</a:t>
            </a:r>
            <a:br>
              <a:rPr lang="en-US"/>
            </a:br>
            <a:r>
              <a:rPr lang="en-US"/>
              <a:t>- Raíces Vivas — Entrega Final: Implementación y Gestión (archivo subido por el usuario, 2026-04-19)</a:t>
            </a:r>
            <a:endParaRPr/>
          </a:p>
        </p:txBody>
      </p:sp>
      <p:sp>
        <p:nvSpPr>
          <p:cNvPr id="617" name="Google Shape;617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9" name="Google Shape;66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Esta lámina comunica control. Resaltar que hubo planificación, medición, desviación controlada y evidencia documental del proceso, no solo del producto.</a:t>
            </a:r>
            <a:br>
              <a:rPr lang="en-US"/>
            </a:b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Raíces Vivas — Entrega Final: Implementación y Gestión (archivo subido por el usuario, 2026-04-19)</a:t>
            </a:r>
            <a:br>
              <a:rPr lang="en-US"/>
            </a:br>
            <a:r>
              <a:rPr lang="en-US"/>
              <a:t>- https://github.com/yonrasgg/RAICES_VIVAS/blob/main/00-Dashboard/Roadmap.md</a:t>
            </a:r>
            <a:br>
              <a:rPr lang="en-US"/>
            </a:br>
            <a:r>
              <a:rPr lang="en-US"/>
              <a:t>- https://github.com/yonrasgg/RAICES_VIVAS/blob/main/00-Dashboard/Métricas.md</a:t>
            </a:r>
            <a:endParaRPr/>
          </a:p>
        </p:txBody>
      </p:sp>
      <p:sp>
        <p:nvSpPr>
          <p:cNvPr id="670" name="Google Shape;670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3" name="Google Shape;743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Usar esta lámina para reconocer al equipo y demostrar madurez de gestión. Conviene mostrar cómo se distribuyeron responsabilidades y cómo se capturó el aprendizaje del proceso.</a:t>
            </a:r>
            <a:br>
              <a:rPr lang="en-US"/>
            </a:b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Raíces Vivas — Entrega Final: Implementación y Gestión (archivo subido por el usuario, 2026-04-19)</a:t>
            </a:r>
            <a:br>
              <a:rPr lang="en-US"/>
            </a:br>
            <a:r>
              <a:rPr lang="en-US"/>
              <a:t>- https://github.com/yonrasgg/RAICES_VIVAS/blob/main/00-Dashboard/Métricas.md</a:t>
            </a:r>
            <a:br>
              <a:rPr lang="en-US"/>
            </a:br>
            <a:r>
              <a:rPr lang="en-US"/>
              <a:t>- https://github.com/yonrasgg/RAICES_VIVAS/blob/main/01-Proyecto/Decisiones/ADR-001.md</a:t>
            </a:r>
            <a:endParaRPr/>
          </a:p>
        </p:txBody>
      </p:sp>
      <p:sp>
        <p:nvSpPr>
          <p:cNvPr id="744" name="Google Shape;744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5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7" name="Google Shape;79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3" name="Google Shape;81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9" name="Google Shape;8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Presentar esta lámina como evidencia de que el proyecto avanzó hasta un estado demostrable. El objetivo no es vender un producto terminado, sino mostrar preparación técnica, coherencia de stack y un MVP funcional.</a:t>
            </a:r>
            <a:br>
              <a:rPr lang="en-US"/>
            </a:b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Raíces Vivas — Entrega Final: Implementación y Gestión (archivo subido por el usuario, 2026-04-19)</a:t>
            </a:r>
            <a:br>
              <a:rPr lang="en-US"/>
            </a:br>
            <a:r>
              <a:rPr lang="en-US"/>
              <a:t>- https://github.com/yonrasgg/RAICES_VIVAS/blob/main/04-Arquitectura/Stack%20Tecnológico.md</a:t>
            </a:r>
            <a:endParaRPr/>
          </a:p>
        </p:txBody>
      </p:sp>
      <p:sp>
        <p:nvSpPr>
          <p:cNvPr id="830" name="Google Shape;830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3" name="Google Shape;9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Cerrar con tres ideas fuertes y tres acciones concretas. Es una buena lámina para dejar claro que el proyecto no termina en la entrega, sino que abre una ruta de validación y despliegue responsable.</a:t>
            </a:r>
            <a:br>
              <a:rPr lang="en-US"/>
            </a:b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Raíces Vivas — Entrega Final: Implementación y Gestión (archivo subido por el usuario, 2026-04-19)</a:t>
            </a:r>
            <a:endParaRPr/>
          </a:p>
        </p:txBody>
      </p:sp>
      <p:sp>
        <p:nvSpPr>
          <p:cNvPr id="924" name="Google Shape;92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7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9" name="Google Shape;95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Cerrar la presentación devolviendo el foco a la pregunta central: cómo una solución de software puede respetar la complejidad territorial y cultural sin perder trazabilidad, gestión y viabilidad técnica.</a:t>
            </a:r>
            <a:br>
              <a:rPr lang="en-US"/>
            </a:b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Raíces Vivas — Entrega Final: Implementación y Gestión (archivo subido por el usuario, 2026-04-19)</a:t>
            </a:r>
            <a:br>
              <a:rPr lang="en-US"/>
            </a:br>
            <a:r>
              <a:rPr lang="en-US"/>
              <a:t>- https://github.com/yonrasgg/RAICES_VIVAS</a:t>
            </a:r>
            <a:endParaRPr/>
          </a:p>
        </p:txBody>
      </p:sp>
      <p:sp>
        <p:nvSpPr>
          <p:cNvPr id="960" name="Google Shape;960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3A32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-1005840" y="-731520"/>
            <a:ext cx="4023360" cy="4023360"/>
          </a:xfrm>
          <a:prstGeom prst="ellipse">
            <a:avLst/>
          </a:prstGeom>
          <a:solidFill>
            <a:srgbClr val="B85C38">
              <a:alpha val="78039"/>
            </a:srgbClr>
          </a:solidFill>
          <a:ln cap="flat" cmpd="sng" w="12700">
            <a:solidFill>
              <a:srgbClr val="B85C3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8686800" y="-914400"/>
            <a:ext cx="4206240" cy="4206240"/>
          </a:xfrm>
          <a:prstGeom prst="ellipse">
            <a:avLst/>
          </a:prstGeom>
          <a:solidFill>
            <a:srgbClr val="C5A05A">
              <a:alpha val="65098"/>
            </a:srgbClr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7955280" y="3657600"/>
            <a:ext cx="4572000" cy="4572000"/>
          </a:xfrm>
          <a:prstGeom prst="ellipse">
            <a:avLst/>
          </a:prstGeom>
          <a:solidFill>
            <a:srgbClr val="8FA49B">
              <a:alpha val="20000"/>
            </a:srgbClr>
          </a:solidFill>
          <a:ln cap="flat" cmpd="sng" w="12700">
            <a:solidFill>
              <a:srgbClr val="8FA49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594360" y="548640"/>
            <a:ext cx="109728" cy="5394960"/>
          </a:xfrm>
          <a:prstGeom prst="rect">
            <a:avLst/>
          </a:prstGeom>
          <a:solidFill>
            <a:srgbClr val="B85C38"/>
          </a:solidFill>
          <a:ln cap="flat" cmpd="sng" w="12700">
            <a:solidFill>
              <a:srgbClr val="B85C3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868680" y="749808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D9C4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D9C4"/>
                </a:solidFill>
                <a:latin typeface="Arial"/>
                <a:ea typeface="Arial"/>
                <a:cs typeface="Arial"/>
                <a:sym typeface="Arial"/>
              </a:rPr>
              <a:t>RAÍCES VIVAS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868680" y="1170432"/>
            <a:ext cx="585216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Play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Entrega Final</a:t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Play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Implementación y Gestión</a:t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896112" y="2743200"/>
            <a:ext cx="53949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E3D7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E9E3D7"/>
                </a:solidFill>
                <a:latin typeface="Arial"/>
                <a:ea typeface="Arial"/>
                <a:cs typeface="Arial"/>
                <a:sym typeface="Arial"/>
              </a:rPr>
              <a:t>Una propuesta académica y sociotécnica para educación intercultural, preservación de saberes ancestrales y salud comunitaria en territorios indígenas de Costa Rica.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877824" y="3840480"/>
            <a:ext cx="4480560" cy="914400"/>
          </a:xfrm>
          <a:prstGeom prst="roundRect">
            <a:avLst>
              <a:gd fmla="val 8000" name="adj"/>
            </a:avLst>
          </a:prstGeom>
          <a:solidFill>
            <a:srgbClr val="FCF8F2"/>
          </a:solidFill>
          <a:ln cap="flat" cmpd="sng" w="12700">
            <a:solidFill>
              <a:srgbClr val="E8D9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1"/>
          <p:cNvSpPr/>
          <p:nvPr/>
        </p:nvSpPr>
        <p:spPr>
          <a:xfrm>
            <a:off x="1042416" y="3986784"/>
            <a:ext cx="4151376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26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1E2A26"/>
                </a:solidFill>
                <a:latin typeface="Arial"/>
                <a:ea typeface="Arial"/>
                <a:cs typeface="Arial"/>
                <a:sym typeface="Arial"/>
              </a:rPr>
              <a:t>“Que nos traten como socios, no como beneficiarios de un proyecto.”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896112" y="4983480"/>
            <a:ext cx="1417320" cy="274320"/>
          </a:xfrm>
          <a:prstGeom prst="roundRect">
            <a:avLst>
              <a:gd fmla="val 26667" name="adj"/>
            </a:avLst>
          </a:prstGeom>
          <a:solidFill>
            <a:srgbClr val="B85C38"/>
          </a:solidFill>
          <a:ln cap="flat" cmpd="sng" w="12700">
            <a:solidFill>
              <a:srgbClr val="B85C3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1"/>
          <p:cNvSpPr/>
          <p:nvPr/>
        </p:nvSpPr>
        <p:spPr>
          <a:xfrm>
            <a:off x="969264" y="5020056"/>
            <a:ext cx="12710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CENFOTEC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2432304" y="4983480"/>
            <a:ext cx="1664208" cy="274320"/>
          </a:xfrm>
          <a:prstGeom prst="roundRect">
            <a:avLst>
              <a:gd fmla="val 26667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1"/>
          <p:cNvSpPr/>
          <p:nvPr/>
        </p:nvSpPr>
        <p:spPr>
          <a:xfrm>
            <a:off x="2505456" y="5020056"/>
            <a:ext cx="151790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SOFT-09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206240" y="4983480"/>
            <a:ext cx="1783080" cy="274320"/>
          </a:xfrm>
          <a:prstGeom prst="roundRect">
            <a:avLst>
              <a:gd fmla="val 26667" name="adj"/>
            </a:avLst>
          </a:prstGeom>
          <a:solidFill>
            <a:srgbClr val="C5A05A"/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1"/>
          <p:cNvSpPr/>
          <p:nvPr/>
        </p:nvSpPr>
        <p:spPr>
          <a:xfrm>
            <a:off x="4279392" y="5020056"/>
            <a:ext cx="1636776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b="1" lang="en-US" sz="850">
                <a:solidFill>
                  <a:srgbClr val="133A32"/>
                </a:solidFill>
              </a:rPr>
              <a:t>2</a:t>
            </a:r>
            <a:r>
              <a:rPr b="1" i="0" lang="en-US" sz="85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 abril 2026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6537960" y="960120"/>
            <a:ext cx="4709160" cy="5212080"/>
          </a:xfrm>
          <a:prstGeom prst="roundRect">
            <a:avLst>
              <a:gd fmla="val 1553" name="adj"/>
            </a:avLst>
          </a:prstGeom>
          <a:solidFill>
            <a:srgbClr val="FFF8EE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1"/>
          <p:cNvSpPr/>
          <p:nvPr/>
        </p:nvSpPr>
        <p:spPr>
          <a:xfrm>
            <a:off x="6812280" y="1106432"/>
            <a:ext cx="22860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TESIS DE LA PRESENTACIÓN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6720850" y="1417325"/>
            <a:ext cx="4251900" cy="10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000"/>
              <a:buFont typeface="Play"/>
              <a:buNone/>
            </a:pPr>
            <a:r>
              <a:rPr b="1" i="0" lang="en-US" sz="19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La arquitectura, la gestión y la implementación nacen del territorio, de la evidencia y de la gobernanza comunitaria.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6839700" y="2788975"/>
            <a:ext cx="40692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130"/>
              <a:buFont typeface="Arial"/>
              <a:buNone/>
            </a:pPr>
            <a:r>
              <a:rPr b="0" i="0" lang="en-US" sz="113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Investigación aplicada con enfoque mixto y principios CARE</a:t>
            </a:r>
            <a:br>
              <a:rPr b="0" i="0" lang="en-US" sz="113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3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Diseño offline-first como condición operativa, no como contingencia</a:t>
            </a:r>
            <a:br>
              <a:rPr b="0" i="0" lang="en-US" sz="113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3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Gestión híbrida con Obsidian, GitHub y Jira sincronizados</a:t>
            </a:r>
            <a:endParaRPr b="0" i="0" sz="113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6812280" y="3886200"/>
            <a:ext cx="1325880" cy="960120"/>
          </a:xfrm>
          <a:prstGeom prst="roundRect">
            <a:avLst>
              <a:gd fmla="val 7619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1"/>
          <p:cNvSpPr/>
          <p:nvPr/>
        </p:nvSpPr>
        <p:spPr>
          <a:xfrm>
            <a:off x="6812280" y="3886200"/>
            <a:ext cx="91440" cy="960120"/>
          </a:xfrm>
          <a:prstGeom prst="rect">
            <a:avLst/>
          </a:prstGeom>
          <a:solidFill>
            <a:srgbClr val="B85C38"/>
          </a:solidFill>
          <a:ln cap="flat" cmpd="sng" w="12700">
            <a:solidFill>
              <a:srgbClr val="B85C3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1"/>
          <p:cNvSpPr/>
          <p:nvPr/>
        </p:nvSpPr>
        <p:spPr>
          <a:xfrm>
            <a:off x="7013448" y="4050792"/>
            <a:ext cx="101498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B85C38"/>
                </a:solidFill>
                <a:latin typeface="Play"/>
                <a:ea typeface="Play"/>
                <a:cs typeface="Play"/>
                <a:sym typeface="Play"/>
              </a:rPr>
              <a:t>75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1"/>
          <p:cNvSpPr/>
          <p:nvPr/>
        </p:nvSpPr>
        <p:spPr>
          <a:xfrm>
            <a:off x="7013448" y="4453128"/>
            <a:ext cx="10149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participantes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"/>
          <p:cNvSpPr/>
          <p:nvPr/>
        </p:nvSpPr>
        <p:spPr>
          <a:xfrm>
            <a:off x="8211312" y="3886200"/>
            <a:ext cx="1325880" cy="960120"/>
          </a:xfrm>
          <a:prstGeom prst="roundRect">
            <a:avLst>
              <a:gd fmla="val 7619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1"/>
          <p:cNvSpPr/>
          <p:nvPr/>
        </p:nvSpPr>
        <p:spPr>
          <a:xfrm>
            <a:off x="8211312" y="3886200"/>
            <a:ext cx="91440" cy="960120"/>
          </a:xfrm>
          <a:prstGeom prst="rect">
            <a:avLst/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1"/>
          <p:cNvSpPr/>
          <p:nvPr/>
        </p:nvSpPr>
        <p:spPr>
          <a:xfrm>
            <a:off x="8412480" y="4050792"/>
            <a:ext cx="101498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E66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4E6E66"/>
                </a:solidFill>
                <a:latin typeface="Play"/>
                <a:ea typeface="Play"/>
                <a:cs typeface="Play"/>
                <a:sym typeface="Play"/>
              </a:rPr>
              <a:t>23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"/>
          <p:cNvSpPr/>
          <p:nvPr/>
        </p:nvSpPr>
        <p:spPr>
          <a:xfrm>
            <a:off x="8412480" y="4453128"/>
            <a:ext cx="10149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requerimientos funcionales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1"/>
          <p:cNvSpPr/>
          <p:nvPr/>
        </p:nvSpPr>
        <p:spPr>
          <a:xfrm>
            <a:off x="9610344" y="3886200"/>
            <a:ext cx="1325880" cy="960120"/>
          </a:xfrm>
          <a:prstGeom prst="roundRect">
            <a:avLst>
              <a:gd fmla="val 7619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1"/>
          <p:cNvSpPr/>
          <p:nvPr/>
        </p:nvSpPr>
        <p:spPr>
          <a:xfrm>
            <a:off x="9610344" y="3886200"/>
            <a:ext cx="91440" cy="960120"/>
          </a:xfrm>
          <a:prstGeom prst="rect">
            <a:avLst/>
          </a:prstGeom>
          <a:solidFill>
            <a:srgbClr val="C5A05A"/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1"/>
          <p:cNvSpPr/>
          <p:nvPr/>
        </p:nvSpPr>
        <p:spPr>
          <a:xfrm>
            <a:off x="9811512" y="4050792"/>
            <a:ext cx="101498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A05A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C5A05A"/>
                </a:solidFill>
                <a:latin typeface="Play"/>
                <a:ea typeface="Play"/>
                <a:cs typeface="Play"/>
                <a:sym typeface="Play"/>
              </a:rPr>
              <a:t>38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"/>
          <p:cNvSpPr/>
          <p:nvPr/>
        </p:nvSpPr>
        <p:spPr>
          <a:xfrm>
            <a:off x="9811512" y="4453128"/>
            <a:ext cx="10149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entidades del modelo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1"/>
          <p:cNvSpPr/>
          <p:nvPr/>
        </p:nvSpPr>
        <p:spPr>
          <a:xfrm>
            <a:off x="8458200" y="4983480"/>
            <a:ext cx="2468880" cy="868680"/>
          </a:xfrm>
          <a:prstGeom prst="roundRect">
            <a:avLst>
              <a:gd fmla="val 8421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1"/>
          <p:cNvSpPr/>
          <p:nvPr/>
        </p:nvSpPr>
        <p:spPr>
          <a:xfrm>
            <a:off x="8458200" y="4983480"/>
            <a:ext cx="91440" cy="868680"/>
          </a:xfrm>
          <a:prstGeom prst="rect">
            <a:avLst/>
          </a:prstGeom>
          <a:solidFill>
            <a:srgbClr val="133A32"/>
          </a:solidFill>
          <a:ln cap="flat" cmpd="sng" w="12700">
            <a:solidFill>
              <a:srgbClr val="133A32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1"/>
          <p:cNvSpPr/>
          <p:nvPr/>
        </p:nvSpPr>
        <p:spPr>
          <a:xfrm>
            <a:off x="8659368" y="5148072"/>
            <a:ext cx="215798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58 tareas · 90%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1"/>
          <p:cNvSpPr/>
          <p:nvPr/>
        </p:nvSpPr>
        <p:spPr>
          <a:xfrm>
            <a:off x="8659368" y="5550408"/>
            <a:ext cx="21579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ejecución del proyecto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1"/>
          <p:cNvSpPr/>
          <p:nvPr/>
        </p:nvSpPr>
        <p:spPr>
          <a:xfrm>
            <a:off x="896112" y="6035040"/>
            <a:ext cx="43891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E3D7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E9E3D7"/>
                </a:solidFill>
              </a:rPr>
              <a:t>Elkin </a:t>
            </a:r>
            <a:r>
              <a:rPr b="1" i="0" lang="en-US" sz="1050" u="none" cap="none" strike="noStrike">
                <a:solidFill>
                  <a:srgbClr val="E9E3D7"/>
                </a:solidFill>
                <a:latin typeface="Arial"/>
                <a:ea typeface="Arial"/>
                <a:cs typeface="Arial"/>
                <a:sym typeface="Arial"/>
              </a:rPr>
              <a:t>· </a:t>
            </a:r>
            <a:r>
              <a:rPr b="1" lang="en-US" sz="1050">
                <a:solidFill>
                  <a:srgbClr val="E9E3D7"/>
                </a:solidFill>
              </a:rPr>
              <a:t>Geovanny </a:t>
            </a:r>
            <a:r>
              <a:rPr b="1" i="0" lang="en-US" sz="1050" u="none" cap="none" strike="noStrike">
                <a:solidFill>
                  <a:srgbClr val="E9E3D7"/>
                </a:solidFill>
                <a:latin typeface="Arial"/>
                <a:ea typeface="Arial"/>
                <a:cs typeface="Arial"/>
                <a:sym typeface="Arial"/>
              </a:rPr>
              <a:t>· Santiago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/>
          <p:nvPr/>
        </p:nvSpPr>
        <p:spPr>
          <a:xfrm>
            <a:off x="896112" y="6263640"/>
            <a:ext cx="512064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C7B8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D0C7B8"/>
                </a:solidFill>
                <a:latin typeface="Arial"/>
                <a:ea typeface="Arial"/>
                <a:cs typeface="Arial"/>
                <a:sym typeface="Arial"/>
              </a:rPr>
              <a:t>Curso: Introducción a la Ingeniería de Software · Docente: Johnny Marín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9326880" y="6309360"/>
            <a:ext cx="182880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0C7B8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D0C7B8"/>
                </a:solidFill>
                <a:latin typeface="Arial"/>
                <a:ea typeface="Arial"/>
                <a:cs typeface="Arial"/>
                <a:sym typeface="Arial"/>
              </a:rPr>
              <a:t>Presentación académica de cierre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1"/>
          <p:cNvSpPr/>
          <p:nvPr/>
        </p:nvSpPr>
        <p:spPr>
          <a:xfrm>
            <a:off x="11430000" y="6419088"/>
            <a:ext cx="29260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"/>
          <p:cNvSpPr/>
          <p:nvPr/>
        </p:nvSpPr>
        <p:spPr>
          <a:xfrm>
            <a:off x="7680960" y="6419088"/>
            <a:ext cx="3291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750"/>
              <a:buFont typeface="Arial"/>
              <a:buNone/>
            </a:pPr>
            <a:r>
              <a:rPr b="0" i="1" lang="en-US" sz="75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Fuente: entrega final + repo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DFC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C"/>
          </a:solidFill>
          <a:ln cap="flat" cmpd="sng" w="12700">
            <a:solidFill>
              <a:srgbClr val="FFFDF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2"/>
          <p:cNvSpPr/>
          <p:nvPr/>
        </p:nvSpPr>
        <p:spPr>
          <a:xfrm>
            <a:off x="-640080" y="-1097280"/>
            <a:ext cx="2926080" cy="2926080"/>
          </a:xfrm>
          <a:prstGeom prst="ellipse">
            <a:avLst/>
          </a:prstGeom>
          <a:solidFill>
            <a:srgbClr val="E8D9C4">
              <a:alpha val="65098"/>
            </a:srgbClr>
          </a:solidFill>
          <a:ln cap="flat" cmpd="sng" w="12700">
            <a:solidFill>
              <a:srgbClr val="E8D9C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2"/>
          <p:cNvSpPr/>
          <p:nvPr/>
        </p:nvSpPr>
        <p:spPr>
          <a:xfrm>
            <a:off x="10287000" y="5166360"/>
            <a:ext cx="2286000" cy="2286000"/>
          </a:xfrm>
          <a:prstGeom prst="ellipse">
            <a:avLst/>
          </a:prstGeom>
          <a:solidFill>
            <a:srgbClr val="8FA49B">
              <a:alpha val="25098"/>
            </a:srgbClr>
          </a:solidFill>
          <a:ln cap="flat" cmpd="sng" w="12700">
            <a:solidFill>
              <a:srgbClr val="8FA49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2"/>
          <p:cNvSpPr/>
          <p:nvPr/>
        </p:nvSpPr>
        <p:spPr>
          <a:xfrm>
            <a:off x="9784080" y="-640080"/>
            <a:ext cx="2743200" cy="2743200"/>
          </a:xfrm>
          <a:prstGeom prst="ellipse">
            <a:avLst/>
          </a:prstGeom>
          <a:solidFill>
            <a:srgbClr val="C5A05A">
              <a:alpha val="18039"/>
            </a:srgbClr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2"/>
          <p:cNvSpPr/>
          <p:nvPr/>
        </p:nvSpPr>
        <p:spPr>
          <a:xfrm>
            <a:off x="411480" y="310896"/>
            <a:ext cx="11384280" cy="9144"/>
          </a:xfrm>
          <a:prstGeom prst="rect">
            <a:avLst/>
          </a:prstGeom>
          <a:solidFill>
            <a:srgbClr val="D9D1C5">
              <a:alpha val="0"/>
            </a:srgbClr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2"/>
          <p:cNvSpPr/>
          <p:nvPr/>
        </p:nvSpPr>
        <p:spPr>
          <a:xfrm>
            <a:off x="548640" y="164592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VISIÓN INTEGRAL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2"/>
          <p:cNvSpPr/>
          <p:nvPr/>
        </p:nvSpPr>
        <p:spPr>
          <a:xfrm>
            <a:off x="548640" y="384048"/>
            <a:ext cx="8138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400"/>
              <a:buFont typeface="Play"/>
              <a:buNone/>
            </a:pPr>
            <a:r>
              <a:rPr b="1" i="0" lang="en-US" sz="24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Resumen ejecutivo en una sola página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548640" y="6446520"/>
            <a:ext cx="4023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Raíces Vivas · Entrega Final · CENFOTEC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566928" y="868680"/>
            <a:ext cx="4297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300"/>
              <a:buFont typeface="Arial"/>
              <a:buNone/>
            </a:pPr>
            <a:r>
              <a:rPr b="0" i="1" lang="en-US" sz="13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Del hallazgo de campo a la solución operativa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566928" y="1207008"/>
            <a:ext cx="3657600" cy="4526280"/>
          </a:xfrm>
          <a:prstGeom prst="roundRect">
            <a:avLst>
              <a:gd fmla="val 2000" name="adj"/>
            </a:avLst>
          </a:prstGeom>
          <a:solidFill>
            <a:srgbClr val="FFFDFC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2"/>
          <p:cNvSpPr/>
          <p:nvPr/>
        </p:nvSpPr>
        <p:spPr>
          <a:xfrm>
            <a:off x="804672" y="1417320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PROPÓSITO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2"/>
          <p:cNvSpPr/>
          <p:nvPr/>
        </p:nvSpPr>
        <p:spPr>
          <a:xfrm>
            <a:off x="804672" y="1664208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Fortalecer tres ejes interrelacionados en comunidades indígenas de Costa Rica: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804672" y="2176272"/>
            <a:ext cx="932688" cy="274320"/>
          </a:xfrm>
          <a:prstGeom prst="roundRect">
            <a:avLst>
              <a:gd fmla="val 26667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2"/>
          <p:cNvSpPr/>
          <p:nvPr/>
        </p:nvSpPr>
        <p:spPr>
          <a:xfrm>
            <a:off x="877824" y="2212848"/>
            <a:ext cx="78638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EDU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2"/>
          <p:cNvSpPr/>
          <p:nvPr/>
        </p:nvSpPr>
        <p:spPr>
          <a:xfrm>
            <a:off x="1847088" y="2203704"/>
            <a:ext cx="192024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Educación intercultural bilingüe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2"/>
          <p:cNvSpPr/>
          <p:nvPr/>
        </p:nvSpPr>
        <p:spPr>
          <a:xfrm>
            <a:off x="804672" y="2624328"/>
            <a:ext cx="932688" cy="274320"/>
          </a:xfrm>
          <a:prstGeom prst="roundRect">
            <a:avLst>
              <a:gd fmla="val 26667" name="adj"/>
            </a:avLst>
          </a:prstGeom>
          <a:solidFill>
            <a:srgbClr val="B85C38"/>
          </a:solidFill>
          <a:ln cap="flat" cmpd="sng" w="12700">
            <a:solidFill>
              <a:srgbClr val="B85C3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2"/>
          <p:cNvSpPr/>
          <p:nvPr/>
        </p:nvSpPr>
        <p:spPr>
          <a:xfrm>
            <a:off x="877824" y="2660904"/>
            <a:ext cx="78638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SAB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2"/>
          <p:cNvSpPr/>
          <p:nvPr/>
        </p:nvSpPr>
        <p:spPr>
          <a:xfrm>
            <a:off x="1847088" y="2651760"/>
            <a:ext cx="210312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Preservación de saberes ancestrales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2"/>
          <p:cNvSpPr/>
          <p:nvPr/>
        </p:nvSpPr>
        <p:spPr>
          <a:xfrm>
            <a:off x="804672" y="3072384"/>
            <a:ext cx="932688" cy="274320"/>
          </a:xfrm>
          <a:prstGeom prst="roundRect">
            <a:avLst>
              <a:gd fmla="val 26667" name="adj"/>
            </a:avLst>
          </a:prstGeom>
          <a:solidFill>
            <a:srgbClr val="C5A05A"/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2"/>
          <p:cNvSpPr/>
          <p:nvPr/>
        </p:nvSpPr>
        <p:spPr>
          <a:xfrm>
            <a:off x="877824" y="3108960"/>
            <a:ext cx="78638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SAL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"/>
          <p:cNvSpPr/>
          <p:nvPr/>
        </p:nvSpPr>
        <p:spPr>
          <a:xfrm>
            <a:off x="1847088" y="3099816"/>
            <a:ext cx="214884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Salud comunitaria y seguimiento territorial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"/>
          <p:cNvSpPr/>
          <p:nvPr/>
        </p:nvSpPr>
        <p:spPr>
          <a:xfrm>
            <a:off x="804672" y="3657600"/>
            <a:ext cx="3127248" cy="1051560"/>
          </a:xfrm>
          <a:prstGeom prst="roundRect">
            <a:avLst>
              <a:gd fmla="val 6957" name="adj"/>
            </a:avLst>
          </a:prstGeom>
          <a:solidFill>
            <a:srgbClr val="FCF8F2"/>
          </a:solidFill>
          <a:ln cap="flat" cmpd="sng" w="12700">
            <a:solidFill>
              <a:srgbClr val="E8D9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2"/>
          <p:cNvSpPr/>
          <p:nvPr/>
        </p:nvSpPr>
        <p:spPr>
          <a:xfrm>
            <a:off x="969264" y="3803904"/>
            <a:ext cx="2798064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26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1E2A26"/>
                </a:solidFill>
                <a:latin typeface="Arial"/>
                <a:ea typeface="Arial"/>
                <a:cs typeface="Arial"/>
                <a:sym typeface="Arial"/>
              </a:rPr>
              <a:t>“La solución debía funcionar sin internet, respetar la soberanía cultural y ser usable en contextos de alta complejidad territorial.”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"/>
          <p:cNvSpPr/>
          <p:nvPr/>
        </p:nvSpPr>
        <p:spPr>
          <a:xfrm>
            <a:off x="804672" y="4919472"/>
            <a:ext cx="3108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El aporte académico del proyecto combina investigación aplicada, ingeniería de software, gestión ágil, trazabilidad y un enfoque de gobernanza cultural CARE.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2"/>
          <p:cNvSpPr/>
          <p:nvPr/>
        </p:nvSpPr>
        <p:spPr>
          <a:xfrm>
            <a:off x="4480560" y="1234440"/>
            <a:ext cx="1828800" cy="1005840"/>
          </a:xfrm>
          <a:prstGeom prst="roundRect">
            <a:avLst>
              <a:gd fmla="val 7273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2"/>
          <p:cNvSpPr/>
          <p:nvPr/>
        </p:nvSpPr>
        <p:spPr>
          <a:xfrm>
            <a:off x="4480560" y="1234440"/>
            <a:ext cx="91440" cy="1005840"/>
          </a:xfrm>
          <a:prstGeom prst="rect">
            <a:avLst/>
          </a:prstGeom>
          <a:solidFill>
            <a:srgbClr val="133A32"/>
          </a:solidFill>
          <a:ln cap="flat" cmpd="sng" w="12700">
            <a:solidFill>
              <a:srgbClr val="133A32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2"/>
          <p:cNvSpPr/>
          <p:nvPr/>
        </p:nvSpPr>
        <p:spPr>
          <a:xfrm>
            <a:off x="4681728" y="1399032"/>
            <a:ext cx="151790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4 + 3 + 3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/>
          <p:cNvSpPr/>
          <p:nvPr/>
        </p:nvSpPr>
        <p:spPr>
          <a:xfrm>
            <a:off x="4681728" y="1801368"/>
            <a:ext cx="151790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entrevistas, observaciones y encuestas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2"/>
          <p:cNvSpPr/>
          <p:nvPr/>
        </p:nvSpPr>
        <p:spPr>
          <a:xfrm>
            <a:off x="6492240" y="1234440"/>
            <a:ext cx="1828800" cy="1005840"/>
          </a:xfrm>
          <a:prstGeom prst="roundRect">
            <a:avLst>
              <a:gd fmla="val 7273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"/>
          <p:cNvSpPr/>
          <p:nvPr/>
        </p:nvSpPr>
        <p:spPr>
          <a:xfrm>
            <a:off x="6492240" y="1234440"/>
            <a:ext cx="91440" cy="1005840"/>
          </a:xfrm>
          <a:prstGeom prst="rect">
            <a:avLst/>
          </a:prstGeom>
          <a:solidFill>
            <a:srgbClr val="B85C38"/>
          </a:solidFill>
          <a:ln cap="flat" cmpd="sng" w="12700">
            <a:solidFill>
              <a:srgbClr val="B85C3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"/>
          <p:cNvSpPr/>
          <p:nvPr/>
        </p:nvSpPr>
        <p:spPr>
          <a:xfrm>
            <a:off x="6693408" y="1399032"/>
            <a:ext cx="151790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B85C38"/>
                </a:solidFill>
                <a:latin typeface="Play"/>
                <a:ea typeface="Play"/>
                <a:cs typeface="Play"/>
                <a:sym typeface="Play"/>
              </a:rPr>
              <a:t>75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2"/>
          <p:cNvSpPr/>
          <p:nvPr/>
        </p:nvSpPr>
        <p:spPr>
          <a:xfrm>
            <a:off x="6693408" y="1801368"/>
            <a:ext cx="151790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personas en instrumentos cuantitativos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2"/>
          <p:cNvSpPr/>
          <p:nvPr/>
        </p:nvSpPr>
        <p:spPr>
          <a:xfrm>
            <a:off x="8503920" y="1234440"/>
            <a:ext cx="1691640" cy="1005840"/>
          </a:xfrm>
          <a:prstGeom prst="roundRect">
            <a:avLst>
              <a:gd fmla="val 7273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8503920" y="1234440"/>
            <a:ext cx="91440" cy="1005840"/>
          </a:xfrm>
          <a:prstGeom prst="rect">
            <a:avLst/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8705088" y="1399032"/>
            <a:ext cx="138074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E66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4E6E66"/>
                </a:solidFill>
                <a:latin typeface="Play"/>
                <a:ea typeface="Play"/>
                <a:cs typeface="Play"/>
                <a:sym typeface="Play"/>
              </a:rPr>
              <a:t>27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2"/>
          <p:cNvSpPr/>
          <p:nvPr/>
        </p:nvSpPr>
        <p:spPr>
          <a:xfrm>
            <a:off x="8705088" y="1801368"/>
            <a:ext cx="138074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requerimientos totales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2"/>
          <p:cNvSpPr/>
          <p:nvPr/>
        </p:nvSpPr>
        <p:spPr>
          <a:xfrm>
            <a:off x="10378440" y="1234440"/>
            <a:ext cx="1234440" cy="1005840"/>
          </a:xfrm>
          <a:prstGeom prst="roundRect">
            <a:avLst>
              <a:gd fmla="val 7273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10378440" y="1234440"/>
            <a:ext cx="91440" cy="1005840"/>
          </a:xfrm>
          <a:prstGeom prst="rect">
            <a:avLst/>
          </a:prstGeom>
          <a:solidFill>
            <a:srgbClr val="C5A05A"/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10579608" y="1399032"/>
            <a:ext cx="92354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A05A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C5A05A"/>
                </a:solidFill>
                <a:latin typeface="Play"/>
                <a:ea typeface="Play"/>
                <a:cs typeface="Play"/>
                <a:sym typeface="Play"/>
              </a:rPr>
              <a:t>23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10579608" y="1801368"/>
            <a:ext cx="92354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casos de uso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/>
          <p:nvPr/>
        </p:nvSpPr>
        <p:spPr>
          <a:xfrm>
            <a:off x="4480560" y="2496312"/>
            <a:ext cx="3584448" cy="1417320"/>
          </a:xfrm>
          <a:prstGeom prst="roundRect">
            <a:avLst>
              <a:gd fmla="val 5161" name="adj"/>
            </a:avLst>
          </a:prstGeom>
          <a:solidFill>
            <a:srgbClr val="FBF6EE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4709160" y="2679212"/>
            <a:ext cx="22860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PROBLEMA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4681725" y="2889500"/>
            <a:ext cx="3239100" cy="8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87% de docentes reporta escasez de materiales en lengua indígena</a:t>
            </a:r>
            <a:br>
              <a:rPr b="0" i="0" lang="en-US" sz="105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5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80% de portadores teme mal uso de saberes digitalizados</a:t>
            </a:r>
            <a:br>
              <a:rPr b="0" i="0" lang="en-US" sz="105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5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44% del personal de salud ha perdido datos en giras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2"/>
          <p:cNvSpPr/>
          <p:nvPr/>
        </p:nvSpPr>
        <p:spPr>
          <a:xfrm>
            <a:off x="8247888" y="2496312"/>
            <a:ext cx="3364992" cy="1417320"/>
          </a:xfrm>
          <a:prstGeom prst="roundRect">
            <a:avLst>
              <a:gd fmla="val 5161" name="adj"/>
            </a:avLst>
          </a:prstGeom>
          <a:solidFill>
            <a:srgbClr val="F7FAF8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8485632" y="2633475"/>
            <a:ext cx="22860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RESPUESTA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8485625" y="2980950"/>
            <a:ext cx="2990700" cy="7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030"/>
              <a:buFont typeface="Arial"/>
              <a:buNone/>
            </a:pPr>
            <a:r>
              <a:rPr b="0" i="0" lang="en-US" sz="103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PWA offline-first con PouchDB/CouchDB</a:t>
            </a:r>
            <a:br>
              <a:rPr b="0" i="0" lang="en-US" sz="103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3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Multilingüe en español, bribri, cabécar y ngäbere</a:t>
            </a:r>
            <a:br>
              <a:rPr b="0" i="0" lang="en-US" sz="103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3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Gobernanza CARE con cuatro niveles de acceso</a:t>
            </a:r>
            <a:endParaRPr b="0" i="0" sz="103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"/>
          <p:cNvSpPr/>
          <p:nvPr/>
        </p:nvSpPr>
        <p:spPr>
          <a:xfrm>
            <a:off x="4480560" y="4160520"/>
            <a:ext cx="7132200" cy="1600200"/>
          </a:xfrm>
          <a:prstGeom prst="roundRect">
            <a:avLst>
              <a:gd fmla="val 4571" name="adj"/>
            </a:avLst>
          </a:prstGeom>
          <a:solidFill>
            <a:srgbClr val="FFFDFC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2"/>
          <p:cNvSpPr/>
          <p:nvPr/>
        </p:nvSpPr>
        <p:spPr>
          <a:xfrm>
            <a:off x="4709160" y="4370832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MECANISMO DE GESTIÓN Y CONTROL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4709160" y="470001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600"/>
              <a:buFont typeface="Play"/>
              <a:buNone/>
            </a:pPr>
            <a:r>
              <a:rPr b="1" i="0" lang="en-US" sz="16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Obsidian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"/>
          <p:cNvSpPr/>
          <p:nvPr/>
        </p:nvSpPr>
        <p:spPr>
          <a:xfrm>
            <a:off x="4709160" y="4956048"/>
            <a:ext cx="1965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como hub de conocimiento, documentación y trazabilidad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"/>
          <p:cNvSpPr/>
          <p:nvPr/>
        </p:nvSpPr>
        <p:spPr>
          <a:xfrm>
            <a:off x="6446520" y="4700016"/>
            <a:ext cx="868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1600"/>
              <a:buFont typeface="Play"/>
              <a:buNone/>
            </a:pPr>
            <a:r>
              <a:rPr b="1" i="0" lang="en-US" sz="1600" u="none" cap="none" strike="noStrike">
                <a:solidFill>
                  <a:srgbClr val="B85C38"/>
                </a:solidFill>
                <a:latin typeface="Play"/>
                <a:ea typeface="Play"/>
                <a:cs typeface="Play"/>
                <a:sym typeface="Play"/>
              </a:rPr>
              <a:t>GitHub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6446520" y="4956048"/>
            <a:ext cx="1874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para versionado, respaldo y colaboración del vault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2"/>
          <p:cNvSpPr/>
          <p:nvPr/>
        </p:nvSpPr>
        <p:spPr>
          <a:xfrm>
            <a:off x="8339328" y="4700016"/>
            <a:ext cx="594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E66"/>
              </a:buClr>
              <a:buSzPts val="1600"/>
              <a:buFont typeface="Play"/>
              <a:buNone/>
            </a:pPr>
            <a:r>
              <a:rPr b="1" i="0" lang="en-US" sz="1600" u="none" cap="none" strike="noStrike">
                <a:solidFill>
                  <a:srgbClr val="4E6E66"/>
                </a:solidFill>
                <a:latin typeface="Play"/>
                <a:ea typeface="Play"/>
                <a:cs typeface="Play"/>
                <a:sym typeface="Play"/>
              </a:rPr>
              <a:t>Jira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"/>
          <p:cNvSpPr/>
          <p:nvPr/>
        </p:nvSpPr>
        <p:spPr>
          <a:xfrm>
            <a:off x="8339328" y="4956048"/>
            <a:ext cx="18288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como fuente operativa de sprint, estado y asignación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"/>
          <p:cNvSpPr/>
          <p:nvPr/>
        </p:nvSpPr>
        <p:spPr>
          <a:xfrm>
            <a:off x="10213850" y="4626850"/>
            <a:ext cx="12801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A05A"/>
              </a:buClr>
              <a:buSzPts val="1600"/>
              <a:buFont typeface="Play"/>
              <a:buNone/>
            </a:pPr>
            <a:r>
              <a:rPr b="1" i="0" lang="en-US" u="none" cap="none" strike="noStrike">
                <a:solidFill>
                  <a:srgbClr val="C5A05A"/>
                </a:solidFill>
                <a:latin typeface="Play"/>
                <a:ea typeface="Play"/>
                <a:cs typeface="Play"/>
                <a:sym typeface="Play"/>
              </a:rPr>
              <a:t>Sincronización</a:t>
            </a:r>
            <a:endParaRPr b="0" i="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"/>
          <p:cNvSpPr/>
          <p:nvPr/>
        </p:nvSpPr>
        <p:spPr>
          <a:xfrm>
            <a:off x="10213848" y="4956048"/>
            <a:ext cx="11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960"/>
              <a:buFont typeface="Arial"/>
              <a:buNone/>
            </a:pPr>
            <a:r>
              <a:rPr b="0" i="0" lang="en-US" sz="96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vía plugin/API token, issue keys y vínculos desde frontmatter</a:t>
            </a:r>
            <a:endParaRPr b="0" i="0" sz="9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"/>
          <p:cNvSpPr/>
          <p:nvPr/>
        </p:nvSpPr>
        <p:spPr>
          <a:xfrm>
            <a:off x="11430000" y="6419088"/>
            <a:ext cx="29260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2"/>
          <p:cNvSpPr/>
          <p:nvPr/>
        </p:nvSpPr>
        <p:spPr>
          <a:xfrm>
            <a:off x="7680960" y="6419088"/>
            <a:ext cx="3291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750"/>
              <a:buFont typeface="Arial"/>
              <a:buNone/>
            </a:pPr>
            <a:r>
              <a:rPr b="0" i="1" lang="en-US" sz="75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Fuentes: documento final + repo RAICES_VIVAS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DFC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C"/>
          </a:solidFill>
          <a:ln cap="flat" cmpd="sng" w="12700">
            <a:solidFill>
              <a:srgbClr val="FFFDF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3"/>
          <p:cNvSpPr/>
          <p:nvPr/>
        </p:nvSpPr>
        <p:spPr>
          <a:xfrm>
            <a:off x="-640080" y="-1097280"/>
            <a:ext cx="2926080" cy="2926080"/>
          </a:xfrm>
          <a:prstGeom prst="ellipse">
            <a:avLst/>
          </a:prstGeom>
          <a:solidFill>
            <a:srgbClr val="E8D9C4">
              <a:alpha val="65098"/>
            </a:srgbClr>
          </a:solidFill>
          <a:ln cap="flat" cmpd="sng" w="12700">
            <a:solidFill>
              <a:srgbClr val="E8D9C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3"/>
          <p:cNvSpPr/>
          <p:nvPr/>
        </p:nvSpPr>
        <p:spPr>
          <a:xfrm>
            <a:off x="10287000" y="5166360"/>
            <a:ext cx="2286000" cy="2286000"/>
          </a:xfrm>
          <a:prstGeom prst="ellipse">
            <a:avLst/>
          </a:prstGeom>
          <a:solidFill>
            <a:srgbClr val="8FA49B">
              <a:alpha val="25098"/>
            </a:srgbClr>
          </a:solidFill>
          <a:ln cap="flat" cmpd="sng" w="12700">
            <a:solidFill>
              <a:srgbClr val="8FA49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3"/>
          <p:cNvSpPr/>
          <p:nvPr/>
        </p:nvSpPr>
        <p:spPr>
          <a:xfrm>
            <a:off x="9784080" y="-640080"/>
            <a:ext cx="2743200" cy="2743200"/>
          </a:xfrm>
          <a:prstGeom prst="ellipse">
            <a:avLst/>
          </a:prstGeom>
          <a:solidFill>
            <a:srgbClr val="C5A05A">
              <a:alpha val="18039"/>
            </a:srgbClr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3"/>
          <p:cNvSpPr/>
          <p:nvPr/>
        </p:nvSpPr>
        <p:spPr>
          <a:xfrm>
            <a:off x="411480" y="310896"/>
            <a:ext cx="11384280" cy="9144"/>
          </a:xfrm>
          <a:prstGeom prst="rect">
            <a:avLst/>
          </a:prstGeom>
          <a:solidFill>
            <a:srgbClr val="D9D1C5">
              <a:alpha val="0"/>
            </a:srgbClr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3"/>
          <p:cNvSpPr/>
          <p:nvPr/>
        </p:nvSpPr>
        <p:spPr>
          <a:xfrm>
            <a:off x="548640" y="164592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CAPÍTULO 1 · ANÁLISIS DEL PROBLEMA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3"/>
          <p:cNvSpPr/>
          <p:nvPr/>
        </p:nvSpPr>
        <p:spPr>
          <a:xfrm>
            <a:off x="548640" y="384048"/>
            <a:ext cx="8138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400"/>
              <a:buFont typeface="Play"/>
              <a:buNone/>
            </a:pPr>
            <a:r>
              <a:rPr b="1" i="0" lang="en-US" sz="24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La realidad territorial define el sistema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548640" y="6446520"/>
            <a:ext cx="4023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Raíces Vivas · Entrega Final · CENFOTEC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566928" y="868680"/>
            <a:ext cx="5486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En el mismo país conviven territorios con 4G estable y otros donde la señal celular es inexistente.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3"/>
          <p:cNvSpPr/>
          <p:nvPr/>
        </p:nvSpPr>
        <p:spPr>
          <a:xfrm>
            <a:off x="566928" y="1234440"/>
            <a:ext cx="5623500" cy="4983600"/>
          </a:xfrm>
          <a:prstGeom prst="roundRect">
            <a:avLst>
              <a:gd fmla="val 1468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3"/>
          <p:cNvSpPr/>
          <p:nvPr/>
        </p:nvSpPr>
        <p:spPr>
          <a:xfrm>
            <a:off x="804672" y="1444752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ASIMETRÍA TERRITORIAL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3"/>
          <p:cNvSpPr/>
          <p:nvPr/>
        </p:nvSpPr>
        <p:spPr>
          <a:xfrm>
            <a:off x="804672" y="1783080"/>
            <a:ext cx="1325880" cy="310896"/>
          </a:xfrm>
          <a:prstGeom prst="rect">
            <a:avLst/>
          </a:prstGeom>
          <a:solidFill>
            <a:srgbClr val="EFE7DB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3"/>
          <p:cNvSpPr/>
          <p:nvPr/>
        </p:nvSpPr>
        <p:spPr>
          <a:xfrm>
            <a:off x="850392" y="1865376"/>
            <a:ext cx="1234440" cy="91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Territorio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3"/>
          <p:cNvSpPr/>
          <p:nvPr/>
        </p:nvSpPr>
        <p:spPr>
          <a:xfrm>
            <a:off x="2130552" y="1783080"/>
            <a:ext cx="1024128" cy="310896"/>
          </a:xfrm>
          <a:prstGeom prst="rect">
            <a:avLst/>
          </a:prstGeom>
          <a:solidFill>
            <a:srgbClr val="EFE7DB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3"/>
          <p:cNvSpPr/>
          <p:nvPr/>
        </p:nvSpPr>
        <p:spPr>
          <a:xfrm>
            <a:off x="2176272" y="1865376"/>
            <a:ext cx="932688" cy="91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Electricidad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3154680" y="1783080"/>
            <a:ext cx="1078992" cy="310896"/>
          </a:xfrm>
          <a:prstGeom prst="rect">
            <a:avLst/>
          </a:prstGeom>
          <a:solidFill>
            <a:srgbClr val="EFE7DB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3"/>
          <p:cNvSpPr/>
          <p:nvPr/>
        </p:nvSpPr>
        <p:spPr>
          <a:xfrm>
            <a:off x="3200400" y="1865376"/>
            <a:ext cx="987552" cy="91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Señal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4233672" y="1783080"/>
            <a:ext cx="1005840" cy="310896"/>
          </a:xfrm>
          <a:prstGeom prst="rect">
            <a:avLst/>
          </a:prstGeom>
          <a:solidFill>
            <a:srgbClr val="EFE7DB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3"/>
          <p:cNvSpPr/>
          <p:nvPr/>
        </p:nvSpPr>
        <p:spPr>
          <a:xfrm>
            <a:off x="4279392" y="1865376"/>
            <a:ext cx="914400" cy="91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EBAIS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3"/>
          <p:cNvSpPr/>
          <p:nvPr/>
        </p:nvSpPr>
        <p:spPr>
          <a:xfrm>
            <a:off x="5239512" y="1783080"/>
            <a:ext cx="868680" cy="310896"/>
          </a:xfrm>
          <a:prstGeom prst="rect">
            <a:avLst/>
          </a:prstGeom>
          <a:solidFill>
            <a:srgbClr val="EFE7DB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3"/>
          <p:cNvSpPr/>
          <p:nvPr/>
        </p:nvSpPr>
        <p:spPr>
          <a:xfrm>
            <a:off x="5285232" y="1865376"/>
            <a:ext cx="777240" cy="91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Complejidad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3"/>
          <p:cNvSpPr/>
          <p:nvPr/>
        </p:nvSpPr>
        <p:spPr>
          <a:xfrm>
            <a:off x="804672" y="2093976"/>
            <a:ext cx="1325880" cy="393192"/>
          </a:xfrm>
          <a:prstGeom prst="rect">
            <a:avLst/>
          </a:prstGeom>
          <a:solidFill>
            <a:srgbClr val="FFFDFC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3"/>
          <p:cNvSpPr/>
          <p:nvPr/>
        </p:nvSpPr>
        <p:spPr>
          <a:xfrm>
            <a:off x="850392" y="2212848"/>
            <a:ext cx="123444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880"/>
              <a:buFont typeface="Arial"/>
              <a:buNone/>
            </a:pPr>
            <a:r>
              <a:rPr b="0" i="0" lang="en-US" sz="8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Guatuso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3"/>
          <p:cNvSpPr/>
          <p:nvPr/>
        </p:nvSpPr>
        <p:spPr>
          <a:xfrm>
            <a:off x="2130552" y="2093976"/>
            <a:ext cx="1024128" cy="393192"/>
          </a:xfrm>
          <a:prstGeom prst="rect">
            <a:avLst/>
          </a:prstGeom>
          <a:solidFill>
            <a:srgbClr val="FFFDFC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3"/>
          <p:cNvSpPr/>
          <p:nvPr/>
        </p:nvSpPr>
        <p:spPr>
          <a:xfrm>
            <a:off x="2176272" y="2212848"/>
            <a:ext cx="932688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880"/>
              <a:buFont typeface="Arial"/>
              <a:buNone/>
            </a:pPr>
            <a:r>
              <a:rPr b="0" i="0" lang="en-US" sz="8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Estable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3"/>
          <p:cNvSpPr/>
          <p:nvPr/>
        </p:nvSpPr>
        <p:spPr>
          <a:xfrm>
            <a:off x="3154680" y="2093976"/>
            <a:ext cx="1078992" cy="393192"/>
          </a:xfrm>
          <a:prstGeom prst="rect">
            <a:avLst/>
          </a:prstGeom>
          <a:solidFill>
            <a:srgbClr val="FFFDFC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3"/>
          <p:cNvSpPr/>
          <p:nvPr/>
        </p:nvSpPr>
        <p:spPr>
          <a:xfrm>
            <a:off x="3200400" y="2212848"/>
            <a:ext cx="987552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880"/>
              <a:buFont typeface="Arial"/>
              <a:buNone/>
            </a:pPr>
            <a:r>
              <a:rPr b="0" i="0" lang="en-US" sz="8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4G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3"/>
          <p:cNvSpPr/>
          <p:nvPr/>
        </p:nvSpPr>
        <p:spPr>
          <a:xfrm>
            <a:off x="4233672" y="2093976"/>
            <a:ext cx="1005840" cy="393192"/>
          </a:xfrm>
          <a:prstGeom prst="rect">
            <a:avLst/>
          </a:prstGeom>
          <a:solidFill>
            <a:srgbClr val="FFFDFC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3"/>
          <p:cNvSpPr/>
          <p:nvPr/>
        </p:nvSpPr>
        <p:spPr>
          <a:xfrm>
            <a:off x="4279392" y="2212848"/>
            <a:ext cx="91440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880"/>
              <a:buFont typeface="Arial"/>
              <a:buNone/>
            </a:pPr>
            <a:r>
              <a:rPr b="0" i="0" lang="en-US" sz="8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&lt; 30 min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3"/>
          <p:cNvSpPr/>
          <p:nvPr/>
        </p:nvSpPr>
        <p:spPr>
          <a:xfrm>
            <a:off x="5239512" y="2093976"/>
            <a:ext cx="868680" cy="393192"/>
          </a:xfrm>
          <a:prstGeom prst="rect">
            <a:avLst/>
          </a:prstGeom>
          <a:solidFill>
            <a:srgbClr val="FFFDFC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3"/>
          <p:cNvSpPr/>
          <p:nvPr/>
        </p:nvSpPr>
        <p:spPr>
          <a:xfrm>
            <a:off x="5285232" y="2212848"/>
            <a:ext cx="77724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880"/>
              <a:buFont typeface="Arial"/>
              <a:buNone/>
            </a:pPr>
            <a:r>
              <a:rPr b="0" i="0" lang="en-US" sz="8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Baja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3"/>
          <p:cNvSpPr/>
          <p:nvPr/>
        </p:nvSpPr>
        <p:spPr>
          <a:xfrm>
            <a:off x="804672" y="2487168"/>
            <a:ext cx="1325880" cy="393192"/>
          </a:xfrm>
          <a:prstGeom prst="rect">
            <a:avLst/>
          </a:prstGeom>
          <a:solidFill>
            <a:srgbClr val="FAF7F0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3"/>
          <p:cNvSpPr/>
          <p:nvPr/>
        </p:nvSpPr>
        <p:spPr>
          <a:xfrm>
            <a:off x="850392" y="2606040"/>
            <a:ext cx="123444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880"/>
              <a:buFont typeface="Arial"/>
              <a:buNone/>
            </a:pPr>
            <a:r>
              <a:rPr b="0" i="0" lang="en-US" sz="8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Boruca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3"/>
          <p:cNvSpPr/>
          <p:nvPr/>
        </p:nvSpPr>
        <p:spPr>
          <a:xfrm>
            <a:off x="2130552" y="2487168"/>
            <a:ext cx="1024128" cy="393192"/>
          </a:xfrm>
          <a:prstGeom prst="rect">
            <a:avLst/>
          </a:prstGeom>
          <a:solidFill>
            <a:srgbClr val="FAF7F0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3"/>
          <p:cNvSpPr/>
          <p:nvPr/>
        </p:nvSpPr>
        <p:spPr>
          <a:xfrm>
            <a:off x="2176272" y="2606040"/>
            <a:ext cx="932688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880"/>
              <a:buFont typeface="Arial"/>
              <a:buNone/>
            </a:pPr>
            <a:r>
              <a:rPr b="0" i="0" lang="en-US" sz="8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Estable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3"/>
          <p:cNvSpPr/>
          <p:nvPr/>
        </p:nvSpPr>
        <p:spPr>
          <a:xfrm>
            <a:off x="3154680" y="2487168"/>
            <a:ext cx="1078992" cy="393192"/>
          </a:xfrm>
          <a:prstGeom prst="rect">
            <a:avLst/>
          </a:prstGeom>
          <a:solidFill>
            <a:srgbClr val="FAF7F0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3"/>
          <p:cNvSpPr/>
          <p:nvPr/>
        </p:nvSpPr>
        <p:spPr>
          <a:xfrm>
            <a:off x="3200400" y="2606040"/>
            <a:ext cx="987552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880"/>
              <a:buFont typeface="Arial"/>
              <a:buNone/>
            </a:pPr>
            <a:r>
              <a:rPr b="0" i="0" lang="en-US" sz="8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3G/4G parcial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3"/>
          <p:cNvSpPr/>
          <p:nvPr/>
        </p:nvSpPr>
        <p:spPr>
          <a:xfrm>
            <a:off x="4233672" y="2487168"/>
            <a:ext cx="1005840" cy="393192"/>
          </a:xfrm>
          <a:prstGeom prst="rect">
            <a:avLst/>
          </a:prstGeom>
          <a:solidFill>
            <a:srgbClr val="FAF7F0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3"/>
          <p:cNvSpPr/>
          <p:nvPr/>
        </p:nvSpPr>
        <p:spPr>
          <a:xfrm>
            <a:off x="4279392" y="2606040"/>
            <a:ext cx="91440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880"/>
              <a:buFont typeface="Arial"/>
              <a:buNone/>
            </a:pPr>
            <a:r>
              <a:rPr b="0" i="0" lang="en-US" sz="8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&lt; 30 min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3"/>
          <p:cNvSpPr/>
          <p:nvPr/>
        </p:nvSpPr>
        <p:spPr>
          <a:xfrm>
            <a:off x="5239512" y="2487168"/>
            <a:ext cx="868680" cy="393192"/>
          </a:xfrm>
          <a:prstGeom prst="rect">
            <a:avLst/>
          </a:prstGeom>
          <a:solidFill>
            <a:srgbClr val="FAF7F0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3"/>
          <p:cNvSpPr/>
          <p:nvPr/>
        </p:nvSpPr>
        <p:spPr>
          <a:xfrm>
            <a:off x="5285232" y="2606040"/>
            <a:ext cx="77724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880"/>
              <a:buFont typeface="Arial"/>
              <a:buNone/>
            </a:pPr>
            <a:r>
              <a:rPr b="0" i="0" lang="en-US" sz="8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Baja-media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3"/>
          <p:cNvSpPr/>
          <p:nvPr/>
        </p:nvSpPr>
        <p:spPr>
          <a:xfrm>
            <a:off x="804672" y="2880360"/>
            <a:ext cx="1325880" cy="393192"/>
          </a:xfrm>
          <a:prstGeom prst="rect">
            <a:avLst/>
          </a:prstGeom>
          <a:solidFill>
            <a:srgbClr val="FFFDFC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3"/>
          <p:cNvSpPr/>
          <p:nvPr/>
        </p:nvSpPr>
        <p:spPr>
          <a:xfrm>
            <a:off x="850392" y="2999232"/>
            <a:ext cx="123444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880"/>
              <a:buFont typeface="Arial"/>
              <a:buNone/>
            </a:pPr>
            <a:r>
              <a:rPr b="0" i="0" lang="en-US" sz="8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Talamanca Alta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3"/>
          <p:cNvSpPr/>
          <p:nvPr/>
        </p:nvSpPr>
        <p:spPr>
          <a:xfrm>
            <a:off x="2130552" y="2880360"/>
            <a:ext cx="1024128" cy="393192"/>
          </a:xfrm>
          <a:prstGeom prst="rect">
            <a:avLst/>
          </a:prstGeom>
          <a:solidFill>
            <a:srgbClr val="FFFDFC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3"/>
          <p:cNvSpPr/>
          <p:nvPr/>
        </p:nvSpPr>
        <p:spPr>
          <a:xfrm>
            <a:off x="2176272" y="2999232"/>
            <a:ext cx="932688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880"/>
              <a:buFont typeface="Arial"/>
              <a:buNone/>
            </a:pPr>
            <a:r>
              <a:rPr b="0" i="0" lang="en-US" sz="8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Solar/intermitente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3"/>
          <p:cNvSpPr/>
          <p:nvPr/>
        </p:nvSpPr>
        <p:spPr>
          <a:xfrm>
            <a:off x="3154680" y="2880360"/>
            <a:ext cx="1078992" cy="393192"/>
          </a:xfrm>
          <a:prstGeom prst="rect">
            <a:avLst/>
          </a:prstGeom>
          <a:solidFill>
            <a:srgbClr val="FFFDFC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3"/>
          <p:cNvSpPr/>
          <p:nvPr/>
        </p:nvSpPr>
        <p:spPr>
          <a:xfrm>
            <a:off x="3200400" y="2999232"/>
            <a:ext cx="987552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880"/>
              <a:buFont typeface="Arial"/>
              <a:buNone/>
            </a:pPr>
            <a:r>
              <a:rPr b="0" i="0" lang="en-US" sz="8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2G parcial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3"/>
          <p:cNvSpPr/>
          <p:nvPr/>
        </p:nvSpPr>
        <p:spPr>
          <a:xfrm>
            <a:off x="4233672" y="2880360"/>
            <a:ext cx="1005840" cy="393192"/>
          </a:xfrm>
          <a:prstGeom prst="rect">
            <a:avLst/>
          </a:prstGeom>
          <a:solidFill>
            <a:srgbClr val="FFFDFC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3"/>
          <p:cNvSpPr/>
          <p:nvPr/>
        </p:nvSpPr>
        <p:spPr>
          <a:xfrm>
            <a:off x="4279392" y="2999232"/>
            <a:ext cx="91440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880"/>
              <a:buFont typeface="Arial"/>
              <a:buNone/>
            </a:pPr>
            <a:r>
              <a:rPr b="0" i="0" lang="en-US" sz="8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ATAP mensual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3"/>
          <p:cNvSpPr/>
          <p:nvPr/>
        </p:nvSpPr>
        <p:spPr>
          <a:xfrm>
            <a:off x="5239512" y="2880360"/>
            <a:ext cx="868680" cy="393192"/>
          </a:xfrm>
          <a:prstGeom prst="rect">
            <a:avLst/>
          </a:prstGeom>
          <a:solidFill>
            <a:srgbClr val="FFFDFC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3"/>
          <p:cNvSpPr/>
          <p:nvPr/>
        </p:nvSpPr>
        <p:spPr>
          <a:xfrm>
            <a:off x="5285232" y="2999232"/>
            <a:ext cx="77724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880"/>
              <a:buFont typeface="Arial"/>
              <a:buNone/>
            </a:pPr>
            <a:r>
              <a:rPr b="0" i="0" lang="en-US" sz="8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Alta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3"/>
          <p:cNvSpPr/>
          <p:nvPr/>
        </p:nvSpPr>
        <p:spPr>
          <a:xfrm>
            <a:off x="804672" y="3273552"/>
            <a:ext cx="1325880" cy="393192"/>
          </a:xfrm>
          <a:prstGeom prst="rect">
            <a:avLst/>
          </a:prstGeom>
          <a:solidFill>
            <a:srgbClr val="FAF7F0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3"/>
          <p:cNvSpPr/>
          <p:nvPr/>
        </p:nvSpPr>
        <p:spPr>
          <a:xfrm>
            <a:off x="850392" y="3392424"/>
            <a:ext cx="123444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880"/>
              <a:buFont typeface="Arial"/>
              <a:buNone/>
            </a:pPr>
            <a:r>
              <a:rPr b="0" i="0" lang="en-US" sz="8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Alto Chirripó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3"/>
          <p:cNvSpPr/>
          <p:nvPr/>
        </p:nvSpPr>
        <p:spPr>
          <a:xfrm>
            <a:off x="2130552" y="3273552"/>
            <a:ext cx="1024128" cy="393192"/>
          </a:xfrm>
          <a:prstGeom prst="rect">
            <a:avLst/>
          </a:prstGeom>
          <a:solidFill>
            <a:srgbClr val="FAF7F0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3"/>
          <p:cNvSpPr/>
          <p:nvPr/>
        </p:nvSpPr>
        <p:spPr>
          <a:xfrm>
            <a:off x="2176272" y="3392424"/>
            <a:ext cx="932688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880"/>
              <a:buFont typeface="Arial"/>
              <a:buNone/>
            </a:pPr>
            <a:r>
              <a:rPr b="0" i="0" lang="en-US" sz="8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Solar/micro-hidro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3"/>
          <p:cNvSpPr/>
          <p:nvPr/>
        </p:nvSpPr>
        <p:spPr>
          <a:xfrm>
            <a:off x="3154680" y="3273552"/>
            <a:ext cx="1078992" cy="393192"/>
          </a:xfrm>
          <a:prstGeom prst="rect">
            <a:avLst/>
          </a:prstGeom>
          <a:solidFill>
            <a:srgbClr val="FAF7F0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3"/>
          <p:cNvSpPr/>
          <p:nvPr/>
        </p:nvSpPr>
        <p:spPr>
          <a:xfrm>
            <a:off x="3200400" y="3392424"/>
            <a:ext cx="987552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880"/>
              <a:buFont typeface="Arial"/>
              <a:buNone/>
            </a:pPr>
            <a:r>
              <a:rPr b="0" i="0" lang="en-US" sz="8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Sin cobertura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3"/>
          <p:cNvSpPr/>
          <p:nvPr/>
        </p:nvSpPr>
        <p:spPr>
          <a:xfrm>
            <a:off x="4233672" y="3273552"/>
            <a:ext cx="1005840" cy="393192"/>
          </a:xfrm>
          <a:prstGeom prst="rect">
            <a:avLst/>
          </a:prstGeom>
          <a:solidFill>
            <a:srgbClr val="FAF7F0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3"/>
          <p:cNvSpPr/>
          <p:nvPr/>
        </p:nvSpPr>
        <p:spPr>
          <a:xfrm>
            <a:off x="4279392" y="3392424"/>
            <a:ext cx="91440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880"/>
              <a:buFont typeface="Arial"/>
              <a:buNone/>
            </a:pPr>
            <a:r>
              <a:rPr b="0" i="0" lang="en-US" sz="8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4-8 h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3"/>
          <p:cNvSpPr/>
          <p:nvPr/>
        </p:nvSpPr>
        <p:spPr>
          <a:xfrm>
            <a:off x="5239512" y="3273552"/>
            <a:ext cx="868680" cy="393192"/>
          </a:xfrm>
          <a:prstGeom prst="rect">
            <a:avLst/>
          </a:prstGeom>
          <a:solidFill>
            <a:srgbClr val="FAF7F0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3"/>
          <p:cNvSpPr/>
          <p:nvPr/>
        </p:nvSpPr>
        <p:spPr>
          <a:xfrm>
            <a:off x="5285232" y="3392424"/>
            <a:ext cx="77724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880"/>
              <a:buFont typeface="Arial"/>
              <a:buNone/>
            </a:pPr>
            <a:r>
              <a:rPr b="0" i="0" lang="en-US" sz="8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Muy alta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3"/>
          <p:cNvSpPr/>
          <p:nvPr/>
        </p:nvSpPr>
        <p:spPr>
          <a:xfrm>
            <a:off x="804672" y="3703320"/>
            <a:ext cx="1645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Implicación arquitectónica: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3"/>
          <p:cNvSpPr/>
          <p:nvPr/>
        </p:nvSpPr>
        <p:spPr>
          <a:xfrm>
            <a:off x="804672" y="3977645"/>
            <a:ext cx="4846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800"/>
              <a:buFont typeface="Play"/>
              <a:buNone/>
            </a:pPr>
            <a:r>
              <a:rPr b="1" i="0" lang="en-US" sz="15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offline-first no era una preferencia de diseño. Era una condición de viabilidad.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3"/>
          <p:cNvSpPr/>
          <p:nvPr/>
        </p:nvSpPr>
        <p:spPr>
          <a:xfrm>
            <a:off x="804672" y="4434840"/>
            <a:ext cx="4983480" cy="749808"/>
          </a:xfrm>
          <a:prstGeom prst="roundRect">
            <a:avLst>
              <a:gd fmla="val 9756" name="adj"/>
            </a:avLst>
          </a:prstGeom>
          <a:solidFill>
            <a:srgbClr val="FCF8F2"/>
          </a:solidFill>
          <a:ln cap="flat" cmpd="sng" w="12700">
            <a:solidFill>
              <a:srgbClr val="E8D9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3"/>
          <p:cNvSpPr/>
          <p:nvPr/>
        </p:nvSpPr>
        <p:spPr>
          <a:xfrm>
            <a:off x="969264" y="4581144"/>
            <a:ext cx="465429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26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1E2A26"/>
                </a:solidFill>
                <a:latin typeface="Arial"/>
                <a:ea typeface="Arial"/>
                <a:cs typeface="Arial"/>
                <a:sym typeface="Arial"/>
              </a:rPr>
              <a:t>“Si no hay señal, el sistema debe seguir funcionando igual.”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"/>
          <p:cNvSpPr/>
          <p:nvPr/>
        </p:nvSpPr>
        <p:spPr>
          <a:xfrm>
            <a:off x="6400800" y="1234440"/>
            <a:ext cx="5212080" cy="1417320"/>
          </a:xfrm>
          <a:prstGeom prst="roundRect">
            <a:avLst>
              <a:gd fmla="val 5161" name="adj"/>
            </a:avLst>
          </a:prstGeom>
          <a:solidFill>
            <a:srgbClr val="FFF7F4"/>
          </a:solidFill>
          <a:ln cap="flat" cmpd="sng" w="12700">
            <a:solidFill>
              <a:srgbClr val="E8D5CF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3"/>
          <p:cNvSpPr/>
          <p:nvPr/>
        </p:nvSpPr>
        <p:spPr>
          <a:xfrm>
            <a:off x="6611112" y="1444752"/>
            <a:ext cx="713232" cy="256032"/>
          </a:xfrm>
          <a:prstGeom prst="roundRect">
            <a:avLst>
              <a:gd fmla="val 28571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3"/>
          <p:cNvSpPr/>
          <p:nvPr/>
        </p:nvSpPr>
        <p:spPr>
          <a:xfrm>
            <a:off x="6684264" y="1481328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EDU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"/>
          <p:cNvSpPr/>
          <p:nvPr/>
        </p:nvSpPr>
        <p:spPr>
          <a:xfrm>
            <a:off x="7452360" y="1481328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87% de docentes carece de materiales en lengua indígena y 83% registra el progreso en papel.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3"/>
          <p:cNvSpPr/>
          <p:nvPr/>
        </p:nvSpPr>
        <p:spPr>
          <a:xfrm>
            <a:off x="6629400" y="1984248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3"/>
          <p:cNvSpPr/>
          <p:nvPr/>
        </p:nvSpPr>
        <p:spPr>
          <a:xfrm>
            <a:off x="10515600" y="1984248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4E6E66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"/>
          <p:cNvSpPr/>
          <p:nvPr/>
        </p:nvSpPr>
        <p:spPr>
          <a:xfrm>
            <a:off x="6629400" y="2157984"/>
            <a:ext cx="4480560" cy="118872"/>
          </a:xfrm>
          <a:prstGeom prst="roundRect">
            <a:avLst>
              <a:gd fmla="val 23077" name="adj"/>
            </a:avLst>
          </a:prstGeom>
          <a:solidFill>
            <a:srgbClr val="EDE7DD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3"/>
          <p:cNvSpPr/>
          <p:nvPr/>
        </p:nvSpPr>
        <p:spPr>
          <a:xfrm>
            <a:off x="6629400" y="2157984"/>
            <a:ext cx="914400" cy="118872"/>
          </a:xfrm>
          <a:prstGeom prst="roundRect">
            <a:avLst>
              <a:gd fmla="val 23077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3"/>
          <p:cNvSpPr/>
          <p:nvPr/>
        </p:nvSpPr>
        <p:spPr>
          <a:xfrm>
            <a:off x="6400800" y="2852928"/>
            <a:ext cx="5212080" cy="1417320"/>
          </a:xfrm>
          <a:prstGeom prst="roundRect">
            <a:avLst>
              <a:gd fmla="val 5161" name="adj"/>
            </a:avLst>
          </a:prstGeom>
          <a:solidFill>
            <a:srgbClr val="FFF8F5"/>
          </a:solidFill>
          <a:ln cap="flat" cmpd="sng" w="12700">
            <a:solidFill>
              <a:srgbClr val="E8D5CF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3"/>
          <p:cNvSpPr/>
          <p:nvPr/>
        </p:nvSpPr>
        <p:spPr>
          <a:xfrm>
            <a:off x="6611112" y="3063240"/>
            <a:ext cx="713232" cy="256032"/>
          </a:xfrm>
          <a:prstGeom prst="roundRect">
            <a:avLst>
              <a:gd fmla="val 28571" name="adj"/>
            </a:avLst>
          </a:prstGeom>
          <a:solidFill>
            <a:srgbClr val="B85C38"/>
          </a:solidFill>
          <a:ln cap="flat" cmpd="sng" w="12700">
            <a:solidFill>
              <a:srgbClr val="B85C3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3"/>
          <p:cNvSpPr/>
          <p:nvPr/>
        </p:nvSpPr>
        <p:spPr>
          <a:xfrm>
            <a:off x="6684264" y="3099816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SAB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3"/>
          <p:cNvSpPr/>
          <p:nvPr/>
        </p:nvSpPr>
        <p:spPr>
          <a:xfrm>
            <a:off x="7452360" y="3099816"/>
            <a:ext cx="3886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El patrimonio está en cuenta regresiva: el boruca sobrevive en cerca de 10 hablantes fluidos mayores de 65 años.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6629400" y="3602736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3"/>
          <p:cNvSpPr/>
          <p:nvPr/>
        </p:nvSpPr>
        <p:spPr>
          <a:xfrm>
            <a:off x="10515600" y="3602736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B85C38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3"/>
          <p:cNvSpPr/>
          <p:nvPr/>
        </p:nvSpPr>
        <p:spPr>
          <a:xfrm>
            <a:off x="6629400" y="3776472"/>
            <a:ext cx="4480560" cy="118872"/>
          </a:xfrm>
          <a:prstGeom prst="roundRect">
            <a:avLst>
              <a:gd fmla="val 23077" name="adj"/>
            </a:avLst>
          </a:prstGeom>
          <a:solidFill>
            <a:srgbClr val="EDE7DD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3"/>
          <p:cNvSpPr/>
          <p:nvPr/>
        </p:nvSpPr>
        <p:spPr>
          <a:xfrm>
            <a:off x="6629400" y="3776472"/>
            <a:ext cx="914400" cy="118872"/>
          </a:xfrm>
          <a:prstGeom prst="roundRect">
            <a:avLst>
              <a:gd fmla="val 23077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3"/>
          <p:cNvSpPr/>
          <p:nvPr/>
        </p:nvSpPr>
        <p:spPr>
          <a:xfrm>
            <a:off x="6400800" y="4471416"/>
            <a:ext cx="5212080" cy="1417320"/>
          </a:xfrm>
          <a:prstGeom prst="roundRect">
            <a:avLst>
              <a:gd fmla="val 5161" name="adj"/>
            </a:avLst>
          </a:prstGeom>
          <a:solidFill>
            <a:srgbClr val="FFFBEF"/>
          </a:solidFill>
          <a:ln cap="flat" cmpd="sng" w="12700">
            <a:solidFill>
              <a:srgbClr val="E7DEC8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3"/>
          <p:cNvSpPr/>
          <p:nvPr/>
        </p:nvSpPr>
        <p:spPr>
          <a:xfrm>
            <a:off x="6611112" y="4681728"/>
            <a:ext cx="713232" cy="256032"/>
          </a:xfrm>
          <a:prstGeom prst="roundRect">
            <a:avLst>
              <a:gd fmla="val 28571" name="adj"/>
            </a:avLst>
          </a:prstGeom>
          <a:solidFill>
            <a:srgbClr val="C5A05A"/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3"/>
          <p:cNvSpPr/>
          <p:nvPr/>
        </p:nvSpPr>
        <p:spPr>
          <a:xfrm>
            <a:off x="6684264" y="4718304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SAL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3"/>
          <p:cNvSpPr/>
          <p:nvPr/>
        </p:nvSpPr>
        <p:spPr>
          <a:xfrm>
            <a:off x="7452360" y="4718304"/>
            <a:ext cx="3886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44% del personal de salud ha perdido datos durante giras y 72% reporta dificultad en el seguimiento de pacientes crónicos.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3"/>
          <p:cNvSpPr/>
          <p:nvPr/>
        </p:nvSpPr>
        <p:spPr>
          <a:xfrm>
            <a:off x="6629400" y="5221224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"/>
          <p:cNvSpPr/>
          <p:nvPr/>
        </p:nvSpPr>
        <p:spPr>
          <a:xfrm>
            <a:off x="10515600" y="5221224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C5A05A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3"/>
          <p:cNvSpPr/>
          <p:nvPr/>
        </p:nvSpPr>
        <p:spPr>
          <a:xfrm>
            <a:off x="6629400" y="5394960"/>
            <a:ext cx="4480560" cy="118872"/>
          </a:xfrm>
          <a:prstGeom prst="roundRect">
            <a:avLst>
              <a:gd fmla="val 23077" name="adj"/>
            </a:avLst>
          </a:prstGeom>
          <a:solidFill>
            <a:srgbClr val="EDE7DD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3"/>
          <p:cNvSpPr/>
          <p:nvPr/>
        </p:nvSpPr>
        <p:spPr>
          <a:xfrm>
            <a:off x="6629400" y="5394960"/>
            <a:ext cx="914400" cy="118872"/>
          </a:xfrm>
          <a:prstGeom prst="roundRect">
            <a:avLst>
              <a:gd fmla="val 23077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3"/>
          <p:cNvSpPr/>
          <p:nvPr/>
        </p:nvSpPr>
        <p:spPr>
          <a:xfrm>
            <a:off x="11430000" y="6419088"/>
            <a:ext cx="29260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"/>
          <p:cNvSpPr/>
          <p:nvPr/>
        </p:nvSpPr>
        <p:spPr>
          <a:xfrm>
            <a:off x="7680960" y="6419088"/>
            <a:ext cx="3291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750"/>
              <a:buFont typeface="Arial"/>
              <a:buNone/>
            </a:pPr>
            <a:r>
              <a:rPr b="0" i="1" lang="en-US" sz="75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Fuentes: documento final + repo RAICES_VIVAS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DFC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C"/>
          </a:solidFill>
          <a:ln cap="flat" cmpd="sng" w="12700">
            <a:solidFill>
              <a:srgbClr val="FFFDF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4"/>
          <p:cNvSpPr/>
          <p:nvPr/>
        </p:nvSpPr>
        <p:spPr>
          <a:xfrm>
            <a:off x="-640080" y="-1097280"/>
            <a:ext cx="2926080" cy="2926080"/>
          </a:xfrm>
          <a:prstGeom prst="ellipse">
            <a:avLst/>
          </a:prstGeom>
          <a:solidFill>
            <a:srgbClr val="E8D9C4">
              <a:alpha val="65098"/>
            </a:srgbClr>
          </a:solidFill>
          <a:ln cap="flat" cmpd="sng" w="12700">
            <a:solidFill>
              <a:srgbClr val="E8D9C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4"/>
          <p:cNvSpPr/>
          <p:nvPr/>
        </p:nvSpPr>
        <p:spPr>
          <a:xfrm>
            <a:off x="10287000" y="5166360"/>
            <a:ext cx="2286000" cy="2286000"/>
          </a:xfrm>
          <a:prstGeom prst="ellipse">
            <a:avLst/>
          </a:prstGeom>
          <a:solidFill>
            <a:srgbClr val="8FA49B">
              <a:alpha val="25098"/>
            </a:srgbClr>
          </a:solidFill>
          <a:ln cap="flat" cmpd="sng" w="12700">
            <a:solidFill>
              <a:srgbClr val="8FA49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4"/>
          <p:cNvSpPr/>
          <p:nvPr/>
        </p:nvSpPr>
        <p:spPr>
          <a:xfrm>
            <a:off x="9784080" y="-640080"/>
            <a:ext cx="2743200" cy="2743200"/>
          </a:xfrm>
          <a:prstGeom prst="ellipse">
            <a:avLst/>
          </a:prstGeom>
          <a:solidFill>
            <a:srgbClr val="C5A05A">
              <a:alpha val="18039"/>
            </a:srgbClr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4"/>
          <p:cNvSpPr/>
          <p:nvPr/>
        </p:nvSpPr>
        <p:spPr>
          <a:xfrm>
            <a:off x="411480" y="310896"/>
            <a:ext cx="11384280" cy="9144"/>
          </a:xfrm>
          <a:prstGeom prst="rect">
            <a:avLst/>
          </a:prstGeom>
          <a:solidFill>
            <a:srgbClr val="D9D1C5">
              <a:alpha val="0"/>
            </a:srgbClr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4"/>
          <p:cNvSpPr/>
          <p:nvPr/>
        </p:nvSpPr>
        <p:spPr>
          <a:xfrm>
            <a:off x="548640" y="164592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RIGOR ACADÉMICO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"/>
          <p:cNvSpPr/>
          <p:nvPr/>
        </p:nvSpPr>
        <p:spPr>
          <a:xfrm>
            <a:off x="548640" y="384048"/>
            <a:ext cx="8138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400"/>
              <a:buFont typeface="Play"/>
              <a:buNone/>
            </a:pPr>
            <a:r>
              <a:rPr b="1" i="0" lang="en-US" sz="24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Metodología de investigación aplicada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4"/>
          <p:cNvSpPr/>
          <p:nvPr/>
        </p:nvSpPr>
        <p:spPr>
          <a:xfrm>
            <a:off x="548640" y="6446520"/>
            <a:ext cx="4023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Raíces Vivas · Entrega Final · CENFOTEC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4"/>
          <p:cNvSpPr/>
          <p:nvPr/>
        </p:nvSpPr>
        <p:spPr>
          <a:xfrm>
            <a:off x="566928" y="868680"/>
            <a:ext cx="55778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El proyecto adoptó un enfoque mixto QUAL → QUAN y un marco ético basado en los principios CARE.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4"/>
          <p:cNvSpPr/>
          <p:nvPr/>
        </p:nvSpPr>
        <p:spPr>
          <a:xfrm>
            <a:off x="566928" y="1234440"/>
            <a:ext cx="6400800" cy="4983480"/>
          </a:xfrm>
          <a:prstGeom prst="roundRect">
            <a:avLst>
              <a:gd fmla="val 1468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4"/>
          <p:cNvSpPr/>
          <p:nvPr/>
        </p:nvSpPr>
        <p:spPr>
          <a:xfrm>
            <a:off x="804672" y="1444752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DISEÑO METODOLÓGICO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4"/>
          <p:cNvSpPr/>
          <p:nvPr/>
        </p:nvSpPr>
        <p:spPr>
          <a:xfrm>
            <a:off x="868680" y="1828800"/>
            <a:ext cx="1600200" cy="914400"/>
          </a:xfrm>
          <a:prstGeom prst="roundRect">
            <a:avLst>
              <a:gd fmla="val 8000" name="adj"/>
            </a:avLst>
          </a:prstGeom>
          <a:solidFill>
            <a:srgbClr val="EEF4F1"/>
          </a:solidFill>
          <a:ln cap="flat" cmpd="sng" w="12700">
            <a:solidFill>
              <a:srgbClr val="D7E6DE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4"/>
          <p:cNvSpPr/>
          <p:nvPr/>
        </p:nvSpPr>
        <p:spPr>
          <a:xfrm>
            <a:off x="1005840" y="1993392"/>
            <a:ext cx="1325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600"/>
              <a:buFont typeface="Play"/>
              <a:buNone/>
            </a:pPr>
            <a:r>
              <a:rPr b="1" i="0" lang="en-US" sz="16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600"/>
              <a:buFont typeface="Play"/>
              <a:buNone/>
            </a:pPr>
            <a:r>
              <a:rPr b="1" i="0" lang="en-US" sz="16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Exploración cualitativa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4"/>
          <p:cNvSpPr/>
          <p:nvPr/>
        </p:nvSpPr>
        <p:spPr>
          <a:xfrm>
            <a:off x="2697480" y="1828800"/>
            <a:ext cx="1600200" cy="914400"/>
          </a:xfrm>
          <a:prstGeom prst="roundRect">
            <a:avLst>
              <a:gd fmla="val 8000" name="adj"/>
            </a:avLst>
          </a:prstGeom>
          <a:solidFill>
            <a:srgbClr val="FFF6F2"/>
          </a:solidFill>
          <a:ln cap="flat" cmpd="sng" w="12700">
            <a:solidFill>
              <a:srgbClr val="EBD4CB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4"/>
          <p:cNvSpPr/>
          <p:nvPr/>
        </p:nvSpPr>
        <p:spPr>
          <a:xfrm>
            <a:off x="2834640" y="1993392"/>
            <a:ext cx="1325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600"/>
              <a:buFont typeface="Play"/>
              <a:buNone/>
            </a:pPr>
            <a:r>
              <a:rPr b="1" i="0" lang="en-US" sz="16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600"/>
              <a:buFont typeface="Play"/>
              <a:buNone/>
            </a:pPr>
            <a:r>
              <a:rPr b="1" i="0" lang="en-US" sz="16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Diseño de instrumentos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4"/>
          <p:cNvSpPr/>
          <p:nvPr/>
        </p:nvSpPr>
        <p:spPr>
          <a:xfrm>
            <a:off x="4526280" y="1828800"/>
            <a:ext cx="1600200" cy="914400"/>
          </a:xfrm>
          <a:prstGeom prst="roundRect">
            <a:avLst>
              <a:gd fmla="val 8000" name="adj"/>
            </a:avLst>
          </a:prstGeom>
          <a:solidFill>
            <a:srgbClr val="FFFBEF"/>
          </a:solidFill>
          <a:ln cap="flat" cmpd="sng" w="12700">
            <a:solidFill>
              <a:srgbClr val="E9DF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4"/>
          <p:cNvSpPr/>
          <p:nvPr/>
        </p:nvSpPr>
        <p:spPr>
          <a:xfrm>
            <a:off x="4663440" y="1993392"/>
            <a:ext cx="1325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600"/>
              <a:buFont typeface="Play"/>
              <a:buNone/>
            </a:pPr>
            <a:r>
              <a:rPr b="1" i="0" lang="en-US" sz="16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600"/>
              <a:buFont typeface="Play"/>
              <a:buNone/>
            </a:pPr>
            <a:r>
              <a:rPr b="1" i="0" lang="en-US" sz="16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Validación cuantitativa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7" name="Google Shape;237;p4"/>
          <p:cNvCxnSpPr/>
          <p:nvPr/>
        </p:nvCxnSpPr>
        <p:spPr>
          <a:xfrm>
            <a:off x="2468880" y="2286000"/>
            <a:ext cx="228600" cy="0"/>
          </a:xfrm>
          <a:prstGeom prst="straightConnector1">
            <a:avLst/>
          </a:prstGeom>
          <a:noFill/>
          <a:ln cap="flat" cmpd="sng" w="12700">
            <a:solidFill>
              <a:srgbClr val="4E6E66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38" name="Google Shape;238;p4"/>
          <p:cNvCxnSpPr/>
          <p:nvPr/>
        </p:nvCxnSpPr>
        <p:spPr>
          <a:xfrm>
            <a:off x="4297680" y="2286000"/>
            <a:ext cx="228600" cy="0"/>
          </a:xfrm>
          <a:prstGeom prst="straightConnector1">
            <a:avLst/>
          </a:prstGeom>
          <a:noFill/>
          <a:ln cap="flat" cmpd="sng" w="12700">
            <a:solidFill>
              <a:srgbClr val="B85C3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39" name="Google Shape;239;p4"/>
          <p:cNvSpPr/>
          <p:nvPr/>
        </p:nvSpPr>
        <p:spPr>
          <a:xfrm>
            <a:off x="1408176" y="1609344"/>
            <a:ext cx="50292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E6E66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4E6E66"/>
                </a:solidFill>
                <a:latin typeface="Arial"/>
                <a:ea typeface="Arial"/>
                <a:cs typeface="Arial"/>
                <a:sym typeface="Arial"/>
              </a:rPr>
              <a:t>QUAL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4"/>
          <p:cNvSpPr/>
          <p:nvPr/>
        </p:nvSpPr>
        <p:spPr>
          <a:xfrm>
            <a:off x="3099816" y="1609344"/>
            <a:ext cx="82296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INTEGRACIÓN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4"/>
          <p:cNvSpPr/>
          <p:nvPr/>
        </p:nvSpPr>
        <p:spPr>
          <a:xfrm>
            <a:off x="5102352" y="1609344"/>
            <a:ext cx="50292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5A05A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C5A05A"/>
                </a:solidFill>
                <a:latin typeface="Arial"/>
                <a:ea typeface="Arial"/>
                <a:cs typeface="Arial"/>
                <a:sym typeface="Arial"/>
              </a:rPr>
              <a:t>QUAN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"/>
          <p:cNvSpPr/>
          <p:nvPr/>
        </p:nvSpPr>
        <p:spPr>
          <a:xfrm>
            <a:off x="868680" y="3154680"/>
            <a:ext cx="1554480" cy="960120"/>
          </a:xfrm>
          <a:prstGeom prst="roundRect">
            <a:avLst>
              <a:gd fmla="val 7619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4"/>
          <p:cNvSpPr/>
          <p:nvPr/>
        </p:nvSpPr>
        <p:spPr>
          <a:xfrm>
            <a:off x="868680" y="3154680"/>
            <a:ext cx="91440" cy="960120"/>
          </a:xfrm>
          <a:prstGeom prst="rect">
            <a:avLst/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4"/>
          <p:cNvSpPr/>
          <p:nvPr/>
        </p:nvSpPr>
        <p:spPr>
          <a:xfrm>
            <a:off x="1069848" y="3319272"/>
            <a:ext cx="124358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E66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4E6E66"/>
                </a:solidFill>
                <a:latin typeface="Play"/>
                <a:ea typeface="Play"/>
                <a:cs typeface="Play"/>
                <a:sym typeface="Play"/>
              </a:rPr>
              <a:t>4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4"/>
          <p:cNvSpPr/>
          <p:nvPr/>
        </p:nvSpPr>
        <p:spPr>
          <a:xfrm>
            <a:off x="1069848" y="3721608"/>
            <a:ext cx="12435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entrevistas semiestructuradas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"/>
          <p:cNvSpPr/>
          <p:nvPr/>
        </p:nvSpPr>
        <p:spPr>
          <a:xfrm>
            <a:off x="2578608" y="3154680"/>
            <a:ext cx="1554480" cy="960120"/>
          </a:xfrm>
          <a:prstGeom prst="roundRect">
            <a:avLst>
              <a:gd fmla="val 7619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4"/>
          <p:cNvSpPr/>
          <p:nvPr/>
        </p:nvSpPr>
        <p:spPr>
          <a:xfrm>
            <a:off x="2578608" y="3154680"/>
            <a:ext cx="91440" cy="960120"/>
          </a:xfrm>
          <a:prstGeom prst="rect">
            <a:avLst/>
          </a:prstGeom>
          <a:solidFill>
            <a:srgbClr val="B85C38"/>
          </a:solidFill>
          <a:ln cap="flat" cmpd="sng" w="12700">
            <a:solidFill>
              <a:srgbClr val="B85C3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4"/>
          <p:cNvSpPr/>
          <p:nvPr/>
        </p:nvSpPr>
        <p:spPr>
          <a:xfrm>
            <a:off x="2779776" y="3319272"/>
            <a:ext cx="124358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B85C38"/>
                </a:solidFill>
                <a:latin typeface="Play"/>
                <a:ea typeface="Play"/>
                <a:cs typeface="Play"/>
                <a:sym typeface="Play"/>
              </a:rPr>
              <a:t>3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4"/>
          <p:cNvSpPr/>
          <p:nvPr/>
        </p:nvSpPr>
        <p:spPr>
          <a:xfrm>
            <a:off x="2779776" y="3721608"/>
            <a:ext cx="12435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observaciones de campo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4"/>
          <p:cNvSpPr/>
          <p:nvPr/>
        </p:nvSpPr>
        <p:spPr>
          <a:xfrm>
            <a:off x="4288536" y="3154680"/>
            <a:ext cx="1554480" cy="960120"/>
          </a:xfrm>
          <a:prstGeom prst="roundRect">
            <a:avLst>
              <a:gd fmla="val 7619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4"/>
          <p:cNvSpPr/>
          <p:nvPr/>
        </p:nvSpPr>
        <p:spPr>
          <a:xfrm>
            <a:off x="4288536" y="3154680"/>
            <a:ext cx="91440" cy="960120"/>
          </a:xfrm>
          <a:prstGeom prst="rect">
            <a:avLst/>
          </a:prstGeom>
          <a:solidFill>
            <a:srgbClr val="C5A05A"/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4"/>
          <p:cNvSpPr/>
          <p:nvPr/>
        </p:nvSpPr>
        <p:spPr>
          <a:xfrm>
            <a:off x="4489704" y="3319272"/>
            <a:ext cx="124358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A05A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C5A05A"/>
                </a:solidFill>
                <a:latin typeface="Play"/>
                <a:ea typeface="Play"/>
                <a:cs typeface="Play"/>
                <a:sym typeface="Play"/>
              </a:rPr>
              <a:t>3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4"/>
          <p:cNvSpPr/>
          <p:nvPr/>
        </p:nvSpPr>
        <p:spPr>
          <a:xfrm>
            <a:off x="4489704" y="3721608"/>
            <a:ext cx="12435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encuestas Likert y multiselección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"/>
          <p:cNvSpPr/>
          <p:nvPr/>
        </p:nvSpPr>
        <p:spPr>
          <a:xfrm>
            <a:off x="5998464" y="3154680"/>
            <a:ext cx="694944" cy="960120"/>
          </a:xfrm>
          <a:prstGeom prst="roundRect">
            <a:avLst>
              <a:gd fmla="val 10526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4"/>
          <p:cNvSpPr/>
          <p:nvPr/>
        </p:nvSpPr>
        <p:spPr>
          <a:xfrm>
            <a:off x="5998464" y="3154680"/>
            <a:ext cx="91440" cy="960120"/>
          </a:xfrm>
          <a:prstGeom prst="rect">
            <a:avLst/>
          </a:prstGeom>
          <a:solidFill>
            <a:srgbClr val="133A32"/>
          </a:solidFill>
          <a:ln cap="flat" cmpd="sng" w="12700">
            <a:solidFill>
              <a:srgbClr val="133A32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4"/>
          <p:cNvSpPr/>
          <p:nvPr/>
        </p:nvSpPr>
        <p:spPr>
          <a:xfrm>
            <a:off x="6199632" y="331927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75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4"/>
          <p:cNvSpPr/>
          <p:nvPr/>
        </p:nvSpPr>
        <p:spPr>
          <a:xfrm>
            <a:off x="6199632" y="3721608"/>
            <a:ext cx="384048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participantes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4"/>
          <p:cNvSpPr/>
          <p:nvPr/>
        </p:nvSpPr>
        <p:spPr>
          <a:xfrm>
            <a:off x="868680" y="4617720"/>
            <a:ext cx="2880360" cy="841248"/>
          </a:xfrm>
          <a:prstGeom prst="roundRect">
            <a:avLst>
              <a:gd fmla="val 8696" name="adj"/>
            </a:avLst>
          </a:prstGeom>
          <a:solidFill>
            <a:srgbClr val="FCF8F2"/>
          </a:solidFill>
          <a:ln cap="flat" cmpd="sng" w="12700">
            <a:solidFill>
              <a:srgbClr val="E8D9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4"/>
          <p:cNvSpPr/>
          <p:nvPr/>
        </p:nvSpPr>
        <p:spPr>
          <a:xfrm>
            <a:off x="1033272" y="4764024"/>
            <a:ext cx="2551176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26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1E2A26"/>
                </a:solidFill>
                <a:latin typeface="Arial"/>
                <a:ea typeface="Arial"/>
                <a:cs typeface="Arial"/>
                <a:sym typeface="Arial"/>
              </a:rPr>
              <a:t>“Consentimiento en tres niveles: comunitario, individual y cultural.”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4"/>
          <p:cNvSpPr/>
          <p:nvPr/>
        </p:nvSpPr>
        <p:spPr>
          <a:xfrm>
            <a:off x="3895344" y="4617720"/>
            <a:ext cx="2788920" cy="841248"/>
          </a:xfrm>
          <a:prstGeom prst="roundRect">
            <a:avLst>
              <a:gd fmla="val 8696" name="adj"/>
            </a:avLst>
          </a:prstGeom>
          <a:solidFill>
            <a:srgbClr val="FCF8F2"/>
          </a:solidFill>
          <a:ln cap="flat" cmpd="sng" w="12700">
            <a:solidFill>
              <a:srgbClr val="E8D9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4"/>
          <p:cNvSpPr/>
          <p:nvPr/>
        </p:nvSpPr>
        <p:spPr>
          <a:xfrm>
            <a:off x="4059936" y="4764024"/>
            <a:ext cx="24597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26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1E2A26"/>
                </a:solidFill>
                <a:latin typeface="Arial"/>
                <a:ea typeface="Arial"/>
                <a:cs typeface="Arial"/>
                <a:sym typeface="Arial"/>
              </a:rPr>
              <a:t>“La muestra fue intencional, guiada por accesibilidad y representatividad de realidades tecnológicas distintas.”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4"/>
          <p:cNvSpPr/>
          <p:nvPr/>
        </p:nvSpPr>
        <p:spPr>
          <a:xfrm>
            <a:off x="7223760" y="1234440"/>
            <a:ext cx="4389120" cy="4983480"/>
          </a:xfrm>
          <a:prstGeom prst="roundRect">
            <a:avLst>
              <a:gd fmla="val 1667" name="adj"/>
            </a:avLst>
          </a:prstGeom>
          <a:solidFill>
            <a:srgbClr val="FFFDFC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4"/>
          <p:cNvSpPr/>
          <p:nvPr/>
        </p:nvSpPr>
        <p:spPr>
          <a:xfrm>
            <a:off x="7452360" y="1444752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QUÉ APORTÓ LA METODOLOGÍA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4"/>
          <p:cNvSpPr/>
          <p:nvPr/>
        </p:nvSpPr>
        <p:spPr>
          <a:xfrm>
            <a:off x="7452360" y="1700784"/>
            <a:ext cx="36576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La combinación de entrevistas, observación y encuestas permitió traducir hallazgos de contexto en decisiones de producto y arquitectura.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4"/>
          <p:cNvSpPr/>
          <p:nvPr/>
        </p:nvSpPr>
        <p:spPr>
          <a:xfrm>
            <a:off x="7479792" y="2514600"/>
            <a:ext cx="365760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Reveló necesidades que no surgen en un formulario estándar</a:t>
            </a:r>
            <a:br>
              <a:rPr b="0" i="0" lang="en-US" sz="11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Validó la necesidad de control comunitario sobre el dato</a:t>
            </a:r>
            <a:br>
              <a:rPr b="0" i="0" lang="en-US" sz="11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Justificó el soporte offline, multilingüe y multimódulo</a:t>
            </a:r>
            <a:br>
              <a:rPr b="0" i="0" lang="en-US" sz="11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Alineó diseño técnico con principios CARE y con el territorio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4"/>
          <p:cNvSpPr/>
          <p:nvPr/>
        </p:nvSpPr>
        <p:spPr>
          <a:xfrm>
            <a:off x="7479792" y="4206240"/>
            <a:ext cx="3675888" cy="9144"/>
          </a:xfrm>
          <a:prstGeom prst="rect">
            <a:avLst/>
          </a:prstGeom>
          <a:solidFill>
            <a:srgbClr val="D9D1C5">
              <a:alpha val="0"/>
            </a:srgbClr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4"/>
          <p:cNvSpPr/>
          <p:nvPr/>
        </p:nvSpPr>
        <p:spPr>
          <a:xfrm>
            <a:off x="7479792" y="4407408"/>
            <a:ext cx="155448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Territorios incluidos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4"/>
          <p:cNvSpPr/>
          <p:nvPr/>
        </p:nvSpPr>
        <p:spPr>
          <a:xfrm>
            <a:off x="7479792" y="4663440"/>
            <a:ext cx="932688" cy="256032"/>
          </a:xfrm>
          <a:prstGeom prst="roundRect">
            <a:avLst>
              <a:gd fmla="val 28571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4"/>
          <p:cNvSpPr/>
          <p:nvPr/>
        </p:nvSpPr>
        <p:spPr>
          <a:xfrm>
            <a:off x="7552944" y="4700016"/>
            <a:ext cx="78638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Guatuso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4"/>
          <p:cNvSpPr/>
          <p:nvPr/>
        </p:nvSpPr>
        <p:spPr>
          <a:xfrm>
            <a:off x="8522208" y="4663440"/>
            <a:ext cx="1143000" cy="256032"/>
          </a:xfrm>
          <a:prstGeom prst="roundRect">
            <a:avLst>
              <a:gd fmla="val 28571" name="adj"/>
            </a:avLst>
          </a:prstGeom>
          <a:solidFill>
            <a:srgbClr val="B85C38"/>
          </a:solidFill>
          <a:ln cap="flat" cmpd="sng" w="12700">
            <a:solidFill>
              <a:srgbClr val="B85C3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4"/>
          <p:cNvSpPr/>
          <p:nvPr/>
        </p:nvSpPr>
        <p:spPr>
          <a:xfrm>
            <a:off x="8595360" y="4700016"/>
            <a:ext cx="99669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Talamanca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4"/>
          <p:cNvSpPr/>
          <p:nvPr/>
        </p:nvSpPr>
        <p:spPr>
          <a:xfrm>
            <a:off x="9784080" y="4663440"/>
            <a:ext cx="960120" cy="256032"/>
          </a:xfrm>
          <a:prstGeom prst="roundRect">
            <a:avLst>
              <a:gd fmla="val 28571" name="adj"/>
            </a:avLst>
          </a:prstGeom>
          <a:solidFill>
            <a:srgbClr val="C5A05A"/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4"/>
          <p:cNvSpPr/>
          <p:nvPr/>
        </p:nvSpPr>
        <p:spPr>
          <a:xfrm>
            <a:off x="9857232" y="4700016"/>
            <a:ext cx="81381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Boruca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"/>
          <p:cNvSpPr/>
          <p:nvPr/>
        </p:nvSpPr>
        <p:spPr>
          <a:xfrm>
            <a:off x="10863072" y="4663440"/>
            <a:ext cx="502920" cy="256032"/>
          </a:xfrm>
          <a:prstGeom prst="roundRect">
            <a:avLst>
              <a:gd fmla="val 28571" name="adj"/>
            </a:avLst>
          </a:prstGeom>
          <a:solidFill>
            <a:srgbClr val="8FA49B"/>
          </a:solidFill>
          <a:ln cap="flat" cmpd="sng" w="12700">
            <a:solidFill>
              <a:srgbClr val="8FA49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4"/>
          <p:cNvSpPr/>
          <p:nvPr/>
        </p:nvSpPr>
        <p:spPr>
          <a:xfrm>
            <a:off x="10936224" y="4700016"/>
            <a:ext cx="35661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+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"/>
          <p:cNvSpPr/>
          <p:nvPr/>
        </p:nvSpPr>
        <p:spPr>
          <a:xfrm>
            <a:off x="7479792" y="519379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Resultado: cinco hallazgos transversales que guiaron toda la propuesta.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"/>
          <p:cNvSpPr/>
          <p:nvPr/>
        </p:nvSpPr>
        <p:spPr>
          <a:xfrm>
            <a:off x="11430000" y="6419088"/>
            <a:ext cx="29260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"/>
          <p:cNvSpPr/>
          <p:nvPr/>
        </p:nvSpPr>
        <p:spPr>
          <a:xfrm>
            <a:off x="7680960" y="6419088"/>
            <a:ext cx="3291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750"/>
              <a:buFont typeface="Arial"/>
              <a:buNone/>
            </a:pPr>
            <a:r>
              <a:rPr b="0" i="1" lang="en-US" sz="75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Fuentes: documento final + repo RAICES_VIVAS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DFC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C"/>
          </a:solidFill>
          <a:ln cap="flat" cmpd="sng" w="12700">
            <a:solidFill>
              <a:srgbClr val="FFFDF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5"/>
          <p:cNvSpPr/>
          <p:nvPr/>
        </p:nvSpPr>
        <p:spPr>
          <a:xfrm>
            <a:off x="-640080" y="-1097280"/>
            <a:ext cx="2926080" cy="2926080"/>
          </a:xfrm>
          <a:prstGeom prst="ellipse">
            <a:avLst/>
          </a:prstGeom>
          <a:solidFill>
            <a:srgbClr val="E8D9C4">
              <a:alpha val="65098"/>
            </a:srgbClr>
          </a:solidFill>
          <a:ln cap="flat" cmpd="sng" w="12700">
            <a:solidFill>
              <a:srgbClr val="E8D9C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5"/>
          <p:cNvSpPr/>
          <p:nvPr/>
        </p:nvSpPr>
        <p:spPr>
          <a:xfrm>
            <a:off x="10287000" y="5166360"/>
            <a:ext cx="2286000" cy="2286000"/>
          </a:xfrm>
          <a:prstGeom prst="ellipse">
            <a:avLst/>
          </a:prstGeom>
          <a:solidFill>
            <a:srgbClr val="8FA49B">
              <a:alpha val="25098"/>
            </a:srgbClr>
          </a:solidFill>
          <a:ln cap="flat" cmpd="sng" w="12700">
            <a:solidFill>
              <a:srgbClr val="8FA49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5"/>
          <p:cNvSpPr/>
          <p:nvPr/>
        </p:nvSpPr>
        <p:spPr>
          <a:xfrm>
            <a:off x="9784080" y="-640080"/>
            <a:ext cx="2743200" cy="2743200"/>
          </a:xfrm>
          <a:prstGeom prst="ellipse">
            <a:avLst/>
          </a:prstGeom>
          <a:solidFill>
            <a:srgbClr val="C5A05A">
              <a:alpha val="18039"/>
            </a:srgbClr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5"/>
          <p:cNvSpPr/>
          <p:nvPr/>
        </p:nvSpPr>
        <p:spPr>
          <a:xfrm>
            <a:off x="411480" y="310896"/>
            <a:ext cx="11384280" cy="9144"/>
          </a:xfrm>
          <a:prstGeom prst="rect">
            <a:avLst/>
          </a:prstGeom>
          <a:solidFill>
            <a:srgbClr val="D9D1C5">
              <a:alpha val="0"/>
            </a:srgbClr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5"/>
          <p:cNvSpPr/>
          <p:nvPr/>
        </p:nvSpPr>
        <p:spPr>
          <a:xfrm>
            <a:off x="548640" y="164592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SÍNTESIS ANALÍTICA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5"/>
          <p:cNvSpPr/>
          <p:nvPr/>
        </p:nvSpPr>
        <p:spPr>
          <a:xfrm>
            <a:off x="548652" y="384050"/>
            <a:ext cx="10080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400"/>
              <a:buFont typeface="Play"/>
              <a:buNone/>
            </a:pPr>
            <a:r>
              <a:rPr b="1" i="0" lang="en-US" sz="24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Hallazgos transversales: tres módulos, una misma necesidad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5"/>
          <p:cNvSpPr/>
          <p:nvPr/>
        </p:nvSpPr>
        <p:spPr>
          <a:xfrm>
            <a:off x="548640" y="6446520"/>
            <a:ext cx="4023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Raíces Vivas · Entrega Final · CENFOTEC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5"/>
          <p:cNvSpPr/>
          <p:nvPr/>
        </p:nvSpPr>
        <p:spPr>
          <a:xfrm>
            <a:off x="566928" y="868680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Los datos convergen en una idea central: el sistema debía ser usable, soberano y resiliente en territorios de alta complejidad.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5"/>
          <p:cNvSpPr/>
          <p:nvPr/>
        </p:nvSpPr>
        <p:spPr>
          <a:xfrm>
            <a:off x="566928" y="1234440"/>
            <a:ext cx="2971800" cy="4983480"/>
          </a:xfrm>
          <a:prstGeom prst="roundRect">
            <a:avLst>
              <a:gd fmla="val 2462" name="adj"/>
            </a:avLst>
          </a:prstGeom>
          <a:solidFill>
            <a:srgbClr val="F4FAF7"/>
          </a:solidFill>
          <a:ln cap="flat" cmpd="sng" w="12700">
            <a:solidFill>
              <a:srgbClr val="E7DED1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5"/>
          <p:cNvSpPr/>
          <p:nvPr/>
        </p:nvSpPr>
        <p:spPr>
          <a:xfrm>
            <a:off x="768096" y="1481328"/>
            <a:ext cx="2560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EDU · Educación intercultural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5"/>
          <p:cNvSpPr/>
          <p:nvPr/>
        </p:nvSpPr>
        <p:spPr>
          <a:xfrm>
            <a:off x="768096" y="1792224"/>
            <a:ext cx="2560320" cy="9144"/>
          </a:xfrm>
          <a:prstGeom prst="rect">
            <a:avLst/>
          </a:prstGeom>
          <a:solidFill>
            <a:srgbClr val="D9D1C5">
              <a:alpha val="0"/>
            </a:srgbClr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5"/>
          <p:cNvSpPr/>
          <p:nvPr/>
        </p:nvSpPr>
        <p:spPr>
          <a:xfrm>
            <a:off x="768096" y="2048256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5"/>
          <p:cNvSpPr/>
          <p:nvPr/>
        </p:nvSpPr>
        <p:spPr>
          <a:xfrm>
            <a:off x="2679192" y="2048256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4E6E66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5"/>
          <p:cNvSpPr/>
          <p:nvPr/>
        </p:nvSpPr>
        <p:spPr>
          <a:xfrm>
            <a:off x="768096" y="2221992"/>
            <a:ext cx="2505456" cy="137160"/>
          </a:xfrm>
          <a:prstGeom prst="roundRect">
            <a:avLst>
              <a:gd fmla="val 20000" name="adj"/>
            </a:avLst>
          </a:prstGeom>
          <a:solidFill>
            <a:srgbClr val="EDE7DD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5"/>
          <p:cNvSpPr/>
          <p:nvPr/>
        </p:nvSpPr>
        <p:spPr>
          <a:xfrm>
            <a:off x="768096" y="2221992"/>
            <a:ext cx="914400" cy="137160"/>
          </a:xfrm>
          <a:prstGeom prst="roundRect">
            <a:avLst>
              <a:gd fmla="val 20000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5"/>
          <p:cNvSpPr/>
          <p:nvPr/>
        </p:nvSpPr>
        <p:spPr>
          <a:xfrm>
            <a:off x="768096" y="2852928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5"/>
          <p:cNvSpPr/>
          <p:nvPr/>
        </p:nvSpPr>
        <p:spPr>
          <a:xfrm>
            <a:off x="2679192" y="2852928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4E6E66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5"/>
          <p:cNvSpPr/>
          <p:nvPr/>
        </p:nvSpPr>
        <p:spPr>
          <a:xfrm>
            <a:off x="768096" y="3026664"/>
            <a:ext cx="2505456" cy="137160"/>
          </a:xfrm>
          <a:prstGeom prst="roundRect">
            <a:avLst>
              <a:gd fmla="val 20000" name="adj"/>
            </a:avLst>
          </a:prstGeom>
          <a:solidFill>
            <a:srgbClr val="EDE7DD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"/>
          <p:cNvSpPr/>
          <p:nvPr/>
        </p:nvSpPr>
        <p:spPr>
          <a:xfrm>
            <a:off x="768096" y="3026664"/>
            <a:ext cx="914400" cy="137160"/>
          </a:xfrm>
          <a:prstGeom prst="roundRect">
            <a:avLst>
              <a:gd fmla="val 20000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5"/>
          <p:cNvSpPr/>
          <p:nvPr/>
        </p:nvSpPr>
        <p:spPr>
          <a:xfrm>
            <a:off x="768096" y="3657600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5"/>
          <p:cNvSpPr/>
          <p:nvPr/>
        </p:nvSpPr>
        <p:spPr>
          <a:xfrm>
            <a:off x="2679192" y="3657600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4E6E66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5"/>
          <p:cNvSpPr/>
          <p:nvPr/>
        </p:nvSpPr>
        <p:spPr>
          <a:xfrm>
            <a:off x="768096" y="3831336"/>
            <a:ext cx="2505456" cy="137160"/>
          </a:xfrm>
          <a:prstGeom prst="roundRect">
            <a:avLst>
              <a:gd fmla="val 20000" name="adj"/>
            </a:avLst>
          </a:prstGeom>
          <a:solidFill>
            <a:srgbClr val="EDE7DD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5"/>
          <p:cNvSpPr/>
          <p:nvPr/>
        </p:nvSpPr>
        <p:spPr>
          <a:xfrm>
            <a:off x="768096" y="3831336"/>
            <a:ext cx="914400" cy="137160"/>
          </a:xfrm>
          <a:prstGeom prst="roundRect">
            <a:avLst>
              <a:gd fmla="val 20000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5"/>
          <p:cNvSpPr/>
          <p:nvPr/>
        </p:nvSpPr>
        <p:spPr>
          <a:xfrm>
            <a:off x="768096" y="4526280"/>
            <a:ext cx="2542032" cy="868680"/>
          </a:xfrm>
          <a:prstGeom prst="roundRect">
            <a:avLst>
              <a:gd fmla="val 8421" name="adj"/>
            </a:avLst>
          </a:prstGeom>
          <a:solidFill>
            <a:srgbClr val="FCF8F2"/>
          </a:solidFill>
          <a:ln cap="flat" cmpd="sng" w="12700">
            <a:solidFill>
              <a:srgbClr val="E8D9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5"/>
          <p:cNvSpPr/>
          <p:nvPr/>
        </p:nvSpPr>
        <p:spPr>
          <a:xfrm>
            <a:off x="932688" y="4672584"/>
            <a:ext cx="2212848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26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1E2A26"/>
                </a:solidFill>
                <a:latin typeface="Arial"/>
                <a:ea typeface="Arial"/>
                <a:cs typeface="Arial"/>
                <a:sym typeface="Arial"/>
              </a:rPr>
              <a:t>“La brecha no es actitudinal, sino instrumental.”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5"/>
          <p:cNvSpPr/>
          <p:nvPr/>
        </p:nvSpPr>
        <p:spPr>
          <a:xfrm>
            <a:off x="4096512" y="1234440"/>
            <a:ext cx="2971800" cy="4983480"/>
          </a:xfrm>
          <a:prstGeom prst="roundRect">
            <a:avLst>
              <a:gd fmla="val 2462" name="adj"/>
            </a:avLst>
          </a:prstGeom>
          <a:solidFill>
            <a:srgbClr val="FFF7F4"/>
          </a:solidFill>
          <a:ln cap="flat" cmpd="sng" w="12700">
            <a:solidFill>
              <a:srgbClr val="E7DED1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5"/>
          <p:cNvSpPr/>
          <p:nvPr/>
        </p:nvSpPr>
        <p:spPr>
          <a:xfrm>
            <a:off x="4297680" y="1481328"/>
            <a:ext cx="2560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SAB · Saberes ancestrales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5"/>
          <p:cNvSpPr/>
          <p:nvPr/>
        </p:nvSpPr>
        <p:spPr>
          <a:xfrm>
            <a:off x="4297680" y="1792224"/>
            <a:ext cx="2560320" cy="9144"/>
          </a:xfrm>
          <a:prstGeom prst="rect">
            <a:avLst/>
          </a:prstGeom>
          <a:solidFill>
            <a:srgbClr val="D9D1C5">
              <a:alpha val="0"/>
            </a:srgbClr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5"/>
          <p:cNvSpPr/>
          <p:nvPr/>
        </p:nvSpPr>
        <p:spPr>
          <a:xfrm>
            <a:off x="4297680" y="2048256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5"/>
          <p:cNvSpPr/>
          <p:nvPr/>
        </p:nvSpPr>
        <p:spPr>
          <a:xfrm>
            <a:off x="6208776" y="2048256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B85C38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5"/>
          <p:cNvSpPr/>
          <p:nvPr/>
        </p:nvSpPr>
        <p:spPr>
          <a:xfrm>
            <a:off x="4297680" y="2221992"/>
            <a:ext cx="2505456" cy="137160"/>
          </a:xfrm>
          <a:prstGeom prst="roundRect">
            <a:avLst>
              <a:gd fmla="val 20000" name="adj"/>
            </a:avLst>
          </a:prstGeom>
          <a:solidFill>
            <a:srgbClr val="EDE7DD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5"/>
          <p:cNvSpPr/>
          <p:nvPr/>
        </p:nvSpPr>
        <p:spPr>
          <a:xfrm>
            <a:off x="4297680" y="2221992"/>
            <a:ext cx="914400" cy="137160"/>
          </a:xfrm>
          <a:prstGeom prst="roundRect">
            <a:avLst>
              <a:gd fmla="val 20000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5"/>
          <p:cNvSpPr/>
          <p:nvPr/>
        </p:nvSpPr>
        <p:spPr>
          <a:xfrm>
            <a:off x="4297680" y="2852928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5"/>
          <p:cNvSpPr/>
          <p:nvPr/>
        </p:nvSpPr>
        <p:spPr>
          <a:xfrm>
            <a:off x="6208776" y="2852928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B85C38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5"/>
          <p:cNvSpPr/>
          <p:nvPr/>
        </p:nvSpPr>
        <p:spPr>
          <a:xfrm>
            <a:off x="4297680" y="3026664"/>
            <a:ext cx="2505456" cy="137160"/>
          </a:xfrm>
          <a:prstGeom prst="roundRect">
            <a:avLst>
              <a:gd fmla="val 20000" name="adj"/>
            </a:avLst>
          </a:prstGeom>
          <a:solidFill>
            <a:srgbClr val="EDE7DD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5"/>
          <p:cNvSpPr/>
          <p:nvPr/>
        </p:nvSpPr>
        <p:spPr>
          <a:xfrm>
            <a:off x="4297680" y="3026664"/>
            <a:ext cx="914400" cy="137160"/>
          </a:xfrm>
          <a:prstGeom prst="roundRect">
            <a:avLst>
              <a:gd fmla="val 20000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5"/>
          <p:cNvSpPr/>
          <p:nvPr/>
        </p:nvSpPr>
        <p:spPr>
          <a:xfrm>
            <a:off x="4297680" y="3657600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5"/>
          <p:cNvSpPr/>
          <p:nvPr/>
        </p:nvSpPr>
        <p:spPr>
          <a:xfrm>
            <a:off x="6208776" y="3657600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B85C38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5"/>
          <p:cNvSpPr/>
          <p:nvPr/>
        </p:nvSpPr>
        <p:spPr>
          <a:xfrm>
            <a:off x="4297680" y="3831336"/>
            <a:ext cx="2505456" cy="137160"/>
          </a:xfrm>
          <a:prstGeom prst="roundRect">
            <a:avLst>
              <a:gd fmla="val 20000" name="adj"/>
            </a:avLst>
          </a:prstGeom>
          <a:solidFill>
            <a:srgbClr val="EDE7DD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5"/>
          <p:cNvSpPr/>
          <p:nvPr/>
        </p:nvSpPr>
        <p:spPr>
          <a:xfrm>
            <a:off x="4297680" y="3831336"/>
            <a:ext cx="914400" cy="137160"/>
          </a:xfrm>
          <a:prstGeom prst="roundRect">
            <a:avLst>
              <a:gd fmla="val 20000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5"/>
          <p:cNvSpPr/>
          <p:nvPr/>
        </p:nvSpPr>
        <p:spPr>
          <a:xfrm>
            <a:off x="4297680" y="4526280"/>
            <a:ext cx="2542032" cy="868680"/>
          </a:xfrm>
          <a:prstGeom prst="roundRect">
            <a:avLst>
              <a:gd fmla="val 8421" name="adj"/>
            </a:avLst>
          </a:prstGeom>
          <a:solidFill>
            <a:srgbClr val="FCF8F2"/>
          </a:solidFill>
          <a:ln cap="flat" cmpd="sng" w="12700">
            <a:solidFill>
              <a:srgbClr val="E8D9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5"/>
          <p:cNvSpPr/>
          <p:nvPr/>
        </p:nvSpPr>
        <p:spPr>
          <a:xfrm>
            <a:off x="4462272" y="4672584"/>
            <a:ext cx="2212848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26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1E2A26"/>
                </a:solidFill>
                <a:latin typeface="Arial"/>
                <a:ea typeface="Arial"/>
                <a:cs typeface="Arial"/>
                <a:sym typeface="Arial"/>
              </a:rPr>
              <a:t>“La gobernanza cultural no podía ser una capa opcional.”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5"/>
          <p:cNvSpPr/>
          <p:nvPr/>
        </p:nvSpPr>
        <p:spPr>
          <a:xfrm>
            <a:off x="7626096" y="1234440"/>
            <a:ext cx="2971800" cy="4983480"/>
          </a:xfrm>
          <a:prstGeom prst="roundRect">
            <a:avLst>
              <a:gd fmla="val 2462" name="adj"/>
            </a:avLst>
          </a:prstGeom>
          <a:solidFill>
            <a:srgbClr val="FFFBEF"/>
          </a:solidFill>
          <a:ln cap="flat" cmpd="sng" w="12700">
            <a:solidFill>
              <a:srgbClr val="E7DED1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5"/>
          <p:cNvSpPr/>
          <p:nvPr/>
        </p:nvSpPr>
        <p:spPr>
          <a:xfrm>
            <a:off x="7827264" y="1481328"/>
            <a:ext cx="25603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SAL · Salud comunitaria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5"/>
          <p:cNvSpPr/>
          <p:nvPr/>
        </p:nvSpPr>
        <p:spPr>
          <a:xfrm>
            <a:off x="7827264" y="1792224"/>
            <a:ext cx="2560320" cy="9144"/>
          </a:xfrm>
          <a:prstGeom prst="rect">
            <a:avLst/>
          </a:prstGeom>
          <a:solidFill>
            <a:srgbClr val="D9D1C5">
              <a:alpha val="0"/>
            </a:srgbClr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5"/>
          <p:cNvSpPr/>
          <p:nvPr/>
        </p:nvSpPr>
        <p:spPr>
          <a:xfrm>
            <a:off x="7827264" y="2048256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5"/>
          <p:cNvSpPr/>
          <p:nvPr/>
        </p:nvSpPr>
        <p:spPr>
          <a:xfrm>
            <a:off x="9738360" y="2048256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C5A05A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5"/>
          <p:cNvSpPr/>
          <p:nvPr/>
        </p:nvSpPr>
        <p:spPr>
          <a:xfrm>
            <a:off x="7827264" y="2221992"/>
            <a:ext cx="2505456" cy="137160"/>
          </a:xfrm>
          <a:prstGeom prst="roundRect">
            <a:avLst>
              <a:gd fmla="val 20000" name="adj"/>
            </a:avLst>
          </a:prstGeom>
          <a:solidFill>
            <a:srgbClr val="EDE7DD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5"/>
          <p:cNvSpPr/>
          <p:nvPr/>
        </p:nvSpPr>
        <p:spPr>
          <a:xfrm>
            <a:off x="7827264" y="2221992"/>
            <a:ext cx="914400" cy="137160"/>
          </a:xfrm>
          <a:prstGeom prst="roundRect">
            <a:avLst>
              <a:gd fmla="val 20000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5"/>
          <p:cNvSpPr/>
          <p:nvPr/>
        </p:nvSpPr>
        <p:spPr>
          <a:xfrm>
            <a:off x="7827264" y="2852928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5"/>
          <p:cNvSpPr/>
          <p:nvPr/>
        </p:nvSpPr>
        <p:spPr>
          <a:xfrm>
            <a:off x="9738360" y="2852928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C5A05A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5"/>
          <p:cNvSpPr/>
          <p:nvPr/>
        </p:nvSpPr>
        <p:spPr>
          <a:xfrm>
            <a:off x="7827264" y="3026664"/>
            <a:ext cx="2505456" cy="137160"/>
          </a:xfrm>
          <a:prstGeom prst="roundRect">
            <a:avLst>
              <a:gd fmla="val 20000" name="adj"/>
            </a:avLst>
          </a:prstGeom>
          <a:solidFill>
            <a:srgbClr val="EDE7DD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5"/>
          <p:cNvSpPr/>
          <p:nvPr/>
        </p:nvSpPr>
        <p:spPr>
          <a:xfrm>
            <a:off x="7827264" y="3026664"/>
            <a:ext cx="914400" cy="137160"/>
          </a:xfrm>
          <a:prstGeom prst="roundRect">
            <a:avLst>
              <a:gd fmla="val 20000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5"/>
          <p:cNvSpPr/>
          <p:nvPr/>
        </p:nvSpPr>
        <p:spPr>
          <a:xfrm>
            <a:off x="7827264" y="3657600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5"/>
          <p:cNvSpPr/>
          <p:nvPr/>
        </p:nvSpPr>
        <p:spPr>
          <a:xfrm>
            <a:off x="9738360" y="3657600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C5A05A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5"/>
          <p:cNvSpPr/>
          <p:nvPr/>
        </p:nvSpPr>
        <p:spPr>
          <a:xfrm>
            <a:off x="7827264" y="3831336"/>
            <a:ext cx="2505456" cy="137160"/>
          </a:xfrm>
          <a:prstGeom prst="roundRect">
            <a:avLst>
              <a:gd fmla="val 20000" name="adj"/>
            </a:avLst>
          </a:prstGeom>
          <a:solidFill>
            <a:srgbClr val="EDE7DD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5"/>
          <p:cNvSpPr/>
          <p:nvPr/>
        </p:nvSpPr>
        <p:spPr>
          <a:xfrm>
            <a:off x="7827264" y="3831336"/>
            <a:ext cx="914400" cy="137160"/>
          </a:xfrm>
          <a:prstGeom prst="roundRect">
            <a:avLst>
              <a:gd fmla="val 20000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5"/>
          <p:cNvSpPr/>
          <p:nvPr/>
        </p:nvSpPr>
        <p:spPr>
          <a:xfrm>
            <a:off x="7827264" y="4526280"/>
            <a:ext cx="2542032" cy="868680"/>
          </a:xfrm>
          <a:prstGeom prst="roundRect">
            <a:avLst>
              <a:gd fmla="val 8421" name="adj"/>
            </a:avLst>
          </a:prstGeom>
          <a:solidFill>
            <a:srgbClr val="FCF8F2"/>
          </a:solidFill>
          <a:ln cap="flat" cmpd="sng" w="12700">
            <a:solidFill>
              <a:srgbClr val="E8D9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5"/>
          <p:cNvSpPr/>
          <p:nvPr/>
        </p:nvSpPr>
        <p:spPr>
          <a:xfrm>
            <a:off x="7991856" y="4672584"/>
            <a:ext cx="2212848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26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1E2A26"/>
                </a:solidFill>
                <a:latin typeface="Arial"/>
                <a:ea typeface="Arial"/>
                <a:cs typeface="Arial"/>
                <a:sym typeface="Arial"/>
              </a:rPr>
              <a:t>“El dato clínico cruza ríos, senderos y ausencia de conectividad.”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5"/>
          <p:cNvSpPr/>
          <p:nvPr/>
        </p:nvSpPr>
        <p:spPr>
          <a:xfrm>
            <a:off x="11430000" y="6419088"/>
            <a:ext cx="29260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5"/>
          <p:cNvSpPr/>
          <p:nvPr/>
        </p:nvSpPr>
        <p:spPr>
          <a:xfrm>
            <a:off x="7680960" y="6419088"/>
            <a:ext cx="3291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750"/>
              <a:buFont typeface="Arial"/>
              <a:buNone/>
            </a:pPr>
            <a:r>
              <a:rPr b="0" i="1" lang="en-US" sz="75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Fuentes: documento final + repo RAICES_VIVAS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DFC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C"/>
          </a:solidFill>
          <a:ln cap="flat" cmpd="sng" w="12700">
            <a:solidFill>
              <a:srgbClr val="FFFDF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6"/>
          <p:cNvSpPr/>
          <p:nvPr/>
        </p:nvSpPr>
        <p:spPr>
          <a:xfrm>
            <a:off x="-640080" y="-1097280"/>
            <a:ext cx="2926080" cy="2926080"/>
          </a:xfrm>
          <a:prstGeom prst="ellipse">
            <a:avLst/>
          </a:prstGeom>
          <a:solidFill>
            <a:srgbClr val="E8D9C4">
              <a:alpha val="65098"/>
            </a:srgbClr>
          </a:solidFill>
          <a:ln cap="flat" cmpd="sng" w="12700">
            <a:solidFill>
              <a:srgbClr val="E8D9C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6"/>
          <p:cNvSpPr/>
          <p:nvPr/>
        </p:nvSpPr>
        <p:spPr>
          <a:xfrm>
            <a:off x="10287000" y="5166360"/>
            <a:ext cx="2286000" cy="2286000"/>
          </a:xfrm>
          <a:prstGeom prst="ellipse">
            <a:avLst/>
          </a:prstGeom>
          <a:solidFill>
            <a:srgbClr val="8FA49B">
              <a:alpha val="25098"/>
            </a:srgbClr>
          </a:solidFill>
          <a:ln cap="flat" cmpd="sng" w="12700">
            <a:solidFill>
              <a:srgbClr val="8FA49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6"/>
          <p:cNvSpPr/>
          <p:nvPr/>
        </p:nvSpPr>
        <p:spPr>
          <a:xfrm>
            <a:off x="9784080" y="-640080"/>
            <a:ext cx="2743200" cy="2743200"/>
          </a:xfrm>
          <a:prstGeom prst="ellipse">
            <a:avLst/>
          </a:prstGeom>
          <a:solidFill>
            <a:srgbClr val="C5A05A">
              <a:alpha val="18039"/>
            </a:srgbClr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6"/>
          <p:cNvSpPr/>
          <p:nvPr/>
        </p:nvSpPr>
        <p:spPr>
          <a:xfrm>
            <a:off x="411480" y="310896"/>
            <a:ext cx="11384280" cy="9144"/>
          </a:xfrm>
          <a:prstGeom prst="rect">
            <a:avLst/>
          </a:prstGeom>
          <a:solidFill>
            <a:srgbClr val="D9D1C5">
              <a:alpha val="0"/>
            </a:srgbClr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6"/>
          <p:cNvSpPr/>
          <p:nvPr/>
        </p:nvSpPr>
        <p:spPr>
          <a:xfrm>
            <a:off x="548640" y="164592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CAPÍTULO 2 · DISEÑO DE LA SOLUCIÓN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6"/>
          <p:cNvSpPr/>
          <p:nvPr/>
        </p:nvSpPr>
        <p:spPr>
          <a:xfrm>
            <a:off x="548654" y="384050"/>
            <a:ext cx="110643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400"/>
              <a:buFont typeface="Play"/>
              <a:buNone/>
            </a:pPr>
            <a:r>
              <a:rPr b="1" i="0" lang="en-US" sz="24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La solución propuesta: una PWA diseñada desde el territorio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6"/>
          <p:cNvSpPr/>
          <p:nvPr/>
        </p:nvSpPr>
        <p:spPr>
          <a:xfrm>
            <a:off x="548640" y="6446520"/>
            <a:ext cx="4023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Raíces Vivas · Entrega Final · CENFOTEC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6"/>
          <p:cNvSpPr/>
          <p:nvPr/>
        </p:nvSpPr>
        <p:spPr>
          <a:xfrm>
            <a:off x="566928" y="868680"/>
            <a:ext cx="67665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Raíces Vivas se concibe como una Progressive Web Application offline-first con soporte multilingüe y gobernanza cultural integrada.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6"/>
          <p:cNvSpPr/>
          <p:nvPr/>
        </p:nvSpPr>
        <p:spPr>
          <a:xfrm>
            <a:off x="566928" y="1234440"/>
            <a:ext cx="5669280" cy="4983480"/>
          </a:xfrm>
          <a:prstGeom prst="roundRect">
            <a:avLst>
              <a:gd fmla="val 1468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6"/>
          <p:cNvSpPr/>
          <p:nvPr/>
        </p:nvSpPr>
        <p:spPr>
          <a:xfrm>
            <a:off x="804672" y="1444752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ARQUITECTURA FUNCIONAL DEL PRODUCTO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6"/>
          <p:cNvSpPr/>
          <p:nvPr/>
        </p:nvSpPr>
        <p:spPr>
          <a:xfrm>
            <a:off x="2514600" y="2331720"/>
            <a:ext cx="1783080" cy="960120"/>
          </a:xfrm>
          <a:prstGeom prst="roundRect">
            <a:avLst>
              <a:gd fmla="val 7619" name="adj"/>
            </a:avLst>
          </a:prstGeom>
          <a:solidFill>
            <a:srgbClr val="EFF5F2"/>
          </a:solidFill>
          <a:ln cap="flat" cmpd="sng" w="12700">
            <a:solidFill>
              <a:srgbClr val="D7E6DE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6"/>
          <p:cNvSpPr/>
          <p:nvPr/>
        </p:nvSpPr>
        <p:spPr>
          <a:xfrm>
            <a:off x="2761488" y="2578608"/>
            <a:ext cx="1280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200"/>
              <a:buFont typeface="Play"/>
              <a:buNone/>
            </a:pPr>
            <a:r>
              <a:rPr b="1" i="0" lang="en-US" sz="22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RAÍCES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200"/>
              <a:buFont typeface="Play"/>
              <a:buNone/>
            </a:pPr>
            <a:r>
              <a:rPr b="1" i="0" lang="en-US" sz="22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VIVAS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6"/>
          <p:cNvSpPr/>
          <p:nvPr/>
        </p:nvSpPr>
        <p:spPr>
          <a:xfrm>
            <a:off x="868680" y="1920240"/>
            <a:ext cx="1234440" cy="749808"/>
          </a:xfrm>
          <a:prstGeom prst="roundRect">
            <a:avLst>
              <a:gd fmla="val 9756" name="adj"/>
            </a:avLst>
          </a:prstGeom>
          <a:solidFill>
            <a:srgbClr val="F4FAF7"/>
          </a:solidFill>
          <a:ln cap="flat" cmpd="sng" w="12700">
            <a:solidFill>
              <a:srgbClr val="D7E6DE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6"/>
          <p:cNvSpPr/>
          <p:nvPr/>
        </p:nvSpPr>
        <p:spPr>
          <a:xfrm>
            <a:off x="1115568" y="2167128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E6E66"/>
              </a:buClr>
              <a:buSzPts val="1800"/>
              <a:buFont typeface="Play"/>
              <a:buNone/>
            </a:pPr>
            <a:r>
              <a:rPr b="1" i="0" lang="en-US" sz="1800" u="none" cap="none" strike="noStrike">
                <a:solidFill>
                  <a:srgbClr val="4E6E66"/>
                </a:solidFill>
                <a:latin typeface="Play"/>
                <a:ea typeface="Play"/>
                <a:cs typeface="Play"/>
                <a:sym typeface="Play"/>
              </a:rPr>
              <a:t>EDU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6"/>
          <p:cNvSpPr/>
          <p:nvPr/>
        </p:nvSpPr>
        <p:spPr>
          <a:xfrm>
            <a:off x="868680" y="3886200"/>
            <a:ext cx="1234440" cy="749808"/>
          </a:xfrm>
          <a:prstGeom prst="roundRect">
            <a:avLst>
              <a:gd fmla="val 9756" name="adj"/>
            </a:avLst>
          </a:prstGeom>
          <a:solidFill>
            <a:srgbClr val="FFF7F4"/>
          </a:solidFill>
          <a:ln cap="flat" cmpd="sng" w="12700">
            <a:solidFill>
              <a:srgbClr val="E8D5CF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6"/>
          <p:cNvSpPr/>
          <p:nvPr/>
        </p:nvSpPr>
        <p:spPr>
          <a:xfrm>
            <a:off x="1115568" y="4133088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1800"/>
              <a:buFont typeface="Play"/>
              <a:buNone/>
            </a:pPr>
            <a:r>
              <a:rPr b="1" i="0" lang="en-US" sz="1800" u="none" cap="none" strike="noStrike">
                <a:solidFill>
                  <a:srgbClr val="B85C38"/>
                </a:solidFill>
                <a:latin typeface="Play"/>
                <a:ea typeface="Play"/>
                <a:cs typeface="Play"/>
                <a:sym typeface="Play"/>
              </a:rPr>
              <a:t>SAB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6"/>
          <p:cNvSpPr/>
          <p:nvPr/>
        </p:nvSpPr>
        <p:spPr>
          <a:xfrm>
            <a:off x="4709160" y="2880360"/>
            <a:ext cx="1234440" cy="749808"/>
          </a:xfrm>
          <a:prstGeom prst="roundRect">
            <a:avLst>
              <a:gd fmla="val 9756" name="adj"/>
            </a:avLst>
          </a:prstGeom>
          <a:solidFill>
            <a:srgbClr val="FFFBEF"/>
          </a:solidFill>
          <a:ln cap="flat" cmpd="sng" w="12700">
            <a:solidFill>
              <a:srgbClr val="E7DEC8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6"/>
          <p:cNvSpPr/>
          <p:nvPr/>
        </p:nvSpPr>
        <p:spPr>
          <a:xfrm>
            <a:off x="4956048" y="3127248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5A05A"/>
              </a:buClr>
              <a:buSzPts val="1800"/>
              <a:buFont typeface="Play"/>
              <a:buNone/>
            </a:pPr>
            <a:r>
              <a:rPr b="1" i="0" lang="en-US" sz="1800" u="none" cap="none" strike="noStrike">
                <a:solidFill>
                  <a:srgbClr val="C5A05A"/>
                </a:solidFill>
                <a:latin typeface="Play"/>
                <a:ea typeface="Play"/>
                <a:cs typeface="Play"/>
                <a:sym typeface="Play"/>
              </a:rPr>
              <a:t>SAL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0" name="Google Shape;370;p6"/>
          <p:cNvCxnSpPr/>
          <p:nvPr/>
        </p:nvCxnSpPr>
        <p:spPr>
          <a:xfrm>
            <a:off x="2103120" y="2295144"/>
            <a:ext cx="411480" cy="374904"/>
          </a:xfrm>
          <a:prstGeom prst="straightConnector1">
            <a:avLst/>
          </a:prstGeom>
          <a:noFill/>
          <a:ln cap="flat" cmpd="sng" w="12700">
            <a:solidFill>
              <a:srgbClr val="4E6E66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371" name="Google Shape;371;p6"/>
          <p:cNvCxnSpPr/>
          <p:nvPr/>
        </p:nvCxnSpPr>
        <p:spPr>
          <a:xfrm flipH="1" rot="10800000">
            <a:off x="2103120" y="2944368"/>
            <a:ext cx="411480" cy="1316736"/>
          </a:xfrm>
          <a:prstGeom prst="straightConnector1">
            <a:avLst/>
          </a:prstGeom>
          <a:noFill/>
          <a:ln cap="flat" cmpd="sng" w="12700">
            <a:solidFill>
              <a:srgbClr val="B85C3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372" name="Google Shape;372;p6"/>
          <p:cNvCxnSpPr/>
          <p:nvPr/>
        </p:nvCxnSpPr>
        <p:spPr>
          <a:xfrm>
            <a:off x="4297680" y="2816352"/>
            <a:ext cx="411480" cy="438912"/>
          </a:xfrm>
          <a:prstGeom prst="straightConnector1">
            <a:avLst/>
          </a:prstGeom>
          <a:noFill/>
          <a:ln cap="flat" cmpd="sng" w="12700">
            <a:solidFill>
              <a:srgbClr val="C5A05A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73" name="Google Shape;373;p6"/>
          <p:cNvSpPr/>
          <p:nvPr/>
        </p:nvSpPr>
        <p:spPr>
          <a:xfrm>
            <a:off x="960120" y="4983480"/>
            <a:ext cx="4572000" cy="841248"/>
          </a:xfrm>
          <a:prstGeom prst="roundRect">
            <a:avLst>
              <a:gd fmla="val 8696" name="adj"/>
            </a:avLst>
          </a:prstGeom>
          <a:solidFill>
            <a:srgbClr val="FBF7F0"/>
          </a:solidFill>
          <a:ln cap="flat" cmpd="sng" w="12700">
            <a:solidFill>
              <a:srgbClr val="E4DBCF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6"/>
          <p:cNvSpPr/>
          <p:nvPr/>
        </p:nvSpPr>
        <p:spPr>
          <a:xfrm>
            <a:off x="1170432" y="5175504"/>
            <a:ext cx="141732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1020"/>
              <a:buFont typeface="Arial"/>
              <a:buNone/>
            </a:pPr>
            <a:r>
              <a:rPr b="1" i="0" lang="en-US" sz="102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Servicios transversales</a:t>
            </a:r>
            <a:endParaRPr b="0" i="0" sz="10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6"/>
          <p:cNvSpPr/>
          <p:nvPr/>
        </p:nvSpPr>
        <p:spPr>
          <a:xfrm>
            <a:off x="2606040" y="5093208"/>
            <a:ext cx="877824" cy="228600"/>
          </a:xfrm>
          <a:prstGeom prst="roundRect">
            <a:avLst>
              <a:gd fmla="val 32000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6"/>
          <p:cNvSpPr/>
          <p:nvPr/>
        </p:nvSpPr>
        <p:spPr>
          <a:xfrm>
            <a:off x="2679192" y="5129784"/>
            <a:ext cx="731520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Roles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6"/>
          <p:cNvSpPr/>
          <p:nvPr/>
        </p:nvSpPr>
        <p:spPr>
          <a:xfrm>
            <a:off x="3584448" y="5093208"/>
            <a:ext cx="1024128" cy="228600"/>
          </a:xfrm>
          <a:prstGeom prst="roundRect">
            <a:avLst>
              <a:gd fmla="val 32000" name="adj"/>
            </a:avLst>
          </a:prstGeom>
          <a:solidFill>
            <a:srgbClr val="B85C38"/>
          </a:solidFill>
          <a:ln cap="flat" cmpd="sng" w="12700">
            <a:solidFill>
              <a:srgbClr val="B85C3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6"/>
          <p:cNvSpPr/>
          <p:nvPr/>
        </p:nvSpPr>
        <p:spPr>
          <a:xfrm>
            <a:off x="3657600" y="5129784"/>
            <a:ext cx="877824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Sync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6"/>
          <p:cNvSpPr/>
          <p:nvPr/>
        </p:nvSpPr>
        <p:spPr>
          <a:xfrm>
            <a:off x="4718304" y="5093208"/>
            <a:ext cx="868680" cy="228600"/>
          </a:xfrm>
          <a:prstGeom prst="roundRect">
            <a:avLst>
              <a:gd fmla="val 32000" name="adj"/>
            </a:avLst>
          </a:prstGeom>
          <a:solidFill>
            <a:srgbClr val="C5A05A"/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6"/>
          <p:cNvSpPr/>
          <p:nvPr/>
        </p:nvSpPr>
        <p:spPr>
          <a:xfrm>
            <a:off x="4791456" y="5129784"/>
            <a:ext cx="722376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i18n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6"/>
          <p:cNvSpPr/>
          <p:nvPr/>
        </p:nvSpPr>
        <p:spPr>
          <a:xfrm>
            <a:off x="2606040" y="5394960"/>
            <a:ext cx="1097280" cy="228600"/>
          </a:xfrm>
          <a:prstGeom prst="roundRect">
            <a:avLst>
              <a:gd fmla="val 32000" name="adj"/>
            </a:avLst>
          </a:prstGeom>
          <a:solidFill>
            <a:srgbClr val="133A32"/>
          </a:solidFill>
          <a:ln cap="flat" cmpd="sng" w="12700">
            <a:solidFill>
              <a:srgbClr val="133A32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6"/>
          <p:cNvSpPr/>
          <p:nvPr/>
        </p:nvSpPr>
        <p:spPr>
          <a:xfrm>
            <a:off x="2679192" y="5431536"/>
            <a:ext cx="950976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6"/>
          <p:cNvSpPr/>
          <p:nvPr/>
        </p:nvSpPr>
        <p:spPr>
          <a:xfrm>
            <a:off x="3822192" y="5394960"/>
            <a:ext cx="1444752" cy="228600"/>
          </a:xfrm>
          <a:prstGeom prst="roundRect">
            <a:avLst>
              <a:gd fmla="val 32000" name="adj"/>
            </a:avLst>
          </a:prstGeom>
          <a:solidFill>
            <a:srgbClr val="8FA49B"/>
          </a:solidFill>
          <a:ln cap="flat" cmpd="sng" w="12700">
            <a:solidFill>
              <a:srgbClr val="8FA49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6"/>
          <p:cNvSpPr/>
          <p:nvPr/>
        </p:nvSpPr>
        <p:spPr>
          <a:xfrm>
            <a:off x="3895344" y="5431536"/>
            <a:ext cx="129844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Consentimiento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6"/>
          <p:cNvSpPr/>
          <p:nvPr/>
        </p:nvSpPr>
        <p:spPr>
          <a:xfrm>
            <a:off x="6446520" y="1234440"/>
            <a:ext cx="5166360" cy="4983480"/>
          </a:xfrm>
          <a:prstGeom prst="roundRect">
            <a:avLst>
              <a:gd fmla="val 1468" name="adj"/>
            </a:avLst>
          </a:prstGeom>
          <a:solidFill>
            <a:srgbClr val="FFFDFC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6"/>
          <p:cNvSpPr/>
          <p:nvPr/>
        </p:nvSpPr>
        <p:spPr>
          <a:xfrm>
            <a:off x="6675120" y="1444752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DECISIONES QUE DIFERENCIARON LA SOLUCIÓN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6"/>
          <p:cNvSpPr/>
          <p:nvPr/>
        </p:nvSpPr>
        <p:spPr>
          <a:xfrm>
            <a:off x="6675120" y="1783080"/>
            <a:ext cx="233172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6"/>
          <p:cNvSpPr/>
          <p:nvPr/>
        </p:nvSpPr>
        <p:spPr>
          <a:xfrm>
            <a:off x="6675120" y="1783080"/>
            <a:ext cx="91440" cy="914400"/>
          </a:xfrm>
          <a:prstGeom prst="rect">
            <a:avLst/>
          </a:prstGeom>
          <a:solidFill>
            <a:srgbClr val="133A32"/>
          </a:solidFill>
          <a:ln cap="flat" cmpd="sng" w="12700">
            <a:solidFill>
              <a:srgbClr val="133A32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6"/>
          <p:cNvSpPr/>
          <p:nvPr/>
        </p:nvSpPr>
        <p:spPr>
          <a:xfrm>
            <a:off x="6876288" y="1947672"/>
            <a:ext cx="202082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PWA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6"/>
          <p:cNvSpPr/>
          <p:nvPr/>
        </p:nvSpPr>
        <p:spPr>
          <a:xfrm>
            <a:off x="6876288" y="2350008"/>
            <a:ext cx="202082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instalable en Android y navegadores modernos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6"/>
          <p:cNvSpPr/>
          <p:nvPr/>
        </p:nvSpPr>
        <p:spPr>
          <a:xfrm>
            <a:off x="9144000" y="1783080"/>
            <a:ext cx="224028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6"/>
          <p:cNvSpPr/>
          <p:nvPr/>
        </p:nvSpPr>
        <p:spPr>
          <a:xfrm>
            <a:off x="9144000" y="1783080"/>
            <a:ext cx="91440" cy="914400"/>
          </a:xfrm>
          <a:prstGeom prst="rect">
            <a:avLst/>
          </a:prstGeom>
          <a:solidFill>
            <a:srgbClr val="B85C38"/>
          </a:solidFill>
          <a:ln cap="flat" cmpd="sng" w="12700">
            <a:solidFill>
              <a:srgbClr val="B85C3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6"/>
          <p:cNvSpPr/>
          <p:nvPr/>
        </p:nvSpPr>
        <p:spPr>
          <a:xfrm>
            <a:off x="9345168" y="1947672"/>
            <a:ext cx="192938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B85C38"/>
                </a:solidFill>
                <a:latin typeface="Play"/>
                <a:ea typeface="Play"/>
                <a:cs typeface="Play"/>
                <a:sym typeface="Play"/>
              </a:rPr>
              <a:t>4 idiomas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6"/>
          <p:cNvSpPr/>
          <p:nvPr/>
        </p:nvSpPr>
        <p:spPr>
          <a:xfrm>
            <a:off x="9345168" y="2350008"/>
            <a:ext cx="19293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español, bribri, cabécar y ngäbere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6"/>
          <p:cNvSpPr/>
          <p:nvPr/>
        </p:nvSpPr>
        <p:spPr>
          <a:xfrm>
            <a:off x="6675120" y="2907792"/>
            <a:ext cx="233172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6"/>
          <p:cNvSpPr/>
          <p:nvPr/>
        </p:nvSpPr>
        <p:spPr>
          <a:xfrm>
            <a:off x="6675120" y="2907792"/>
            <a:ext cx="91440" cy="914400"/>
          </a:xfrm>
          <a:prstGeom prst="rect">
            <a:avLst/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6"/>
          <p:cNvSpPr/>
          <p:nvPr/>
        </p:nvSpPr>
        <p:spPr>
          <a:xfrm>
            <a:off x="6876288" y="3072384"/>
            <a:ext cx="202082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E66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4E6E66"/>
                </a:solidFill>
                <a:latin typeface="Play"/>
                <a:ea typeface="Play"/>
                <a:cs typeface="Play"/>
                <a:sym typeface="Play"/>
              </a:rPr>
              <a:t>CARE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6"/>
          <p:cNvSpPr/>
          <p:nvPr/>
        </p:nvSpPr>
        <p:spPr>
          <a:xfrm>
            <a:off x="6876288" y="3474720"/>
            <a:ext cx="202082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cuatro niveles de acceso y revocación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6"/>
          <p:cNvSpPr/>
          <p:nvPr/>
        </p:nvSpPr>
        <p:spPr>
          <a:xfrm>
            <a:off x="9144000" y="2907792"/>
            <a:ext cx="224028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6"/>
          <p:cNvSpPr/>
          <p:nvPr/>
        </p:nvSpPr>
        <p:spPr>
          <a:xfrm>
            <a:off x="9144000" y="2907792"/>
            <a:ext cx="91440" cy="914400"/>
          </a:xfrm>
          <a:prstGeom prst="rect">
            <a:avLst/>
          </a:prstGeom>
          <a:solidFill>
            <a:srgbClr val="C5A05A"/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6"/>
          <p:cNvSpPr/>
          <p:nvPr/>
        </p:nvSpPr>
        <p:spPr>
          <a:xfrm>
            <a:off x="9345168" y="3072384"/>
            <a:ext cx="192938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A05A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C5A05A"/>
                </a:solidFill>
                <a:latin typeface="Play"/>
                <a:ea typeface="Play"/>
                <a:cs typeface="Play"/>
                <a:sym typeface="Play"/>
              </a:rPr>
              <a:t>AES-256 + TLS 1.3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6"/>
          <p:cNvSpPr/>
          <p:nvPr/>
        </p:nvSpPr>
        <p:spPr>
          <a:xfrm>
            <a:off x="9345168" y="3474720"/>
            <a:ext cx="19293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seguridad en reposo y en tránsito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6"/>
          <p:cNvSpPr/>
          <p:nvPr/>
        </p:nvSpPr>
        <p:spPr>
          <a:xfrm>
            <a:off x="6675120" y="4160520"/>
            <a:ext cx="4572000" cy="841248"/>
          </a:xfrm>
          <a:prstGeom prst="roundRect">
            <a:avLst>
              <a:gd fmla="val 8696" name="adj"/>
            </a:avLst>
          </a:prstGeom>
          <a:solidFill>
            <a:srgbClr val="FCF8F2"/>
          </a:solidFill>
          <a:ln cap="flat" cmpd="sng" w="12700">
            <a:solidFill>
              <a:srgbClr val="E8D9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6"/>
          <p:cNvSpPr/>
          <p:nvPr/>
        </p:nvSpPr>
        <p:spPr>
          <a:xfrm>
            <a:off x="6839712" y="4306824"/>
            <a:ext cx="4242816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26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1E2A26"/>
                </a:solidFill>
                <a:latin typeface="Arial"/>
                <a:ea typeface="Arial"/>
                <a:cs typeface="Arial"/>
                <a:sym typeface="Arial"/>
              </a:rPr>
              <a:t>“La decisión crítica: los datos ceremoniales nunca abandonan el dispositivo local.”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6"/>
          <p:cNvSpPr/>
          <p:nvPr/>
        </p:nvSpPr>
        <p:spPr>
          <a:xfrm>
            <a:off x="6675120" y="5285232"/>
            <a:ext cx="44805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800"/>
              <a:buFont typeface="Play"/>
              <a:buNone/>
            </a:pPr>
            <a:r>
              <a:rPr b="1" i="0" lang="en-US" sz="18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Resultado esperado: continuidad operativa, soberanía del dato y adopción contextual.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6"/>
          <p:cNvSpPr/>
          <p:nvPr/>
        </p:nvSpPr>
        <p:spPr>
          <a:xfrm>
            <a:off x="11430000" y="6419088"/>
            <a:ext cx="29260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6"/>
          <p:cNvSpPr/>
          <p:nvPr/>
        </p:nvSpPr>
        <p:spPr>
          <a:xfrm>
            <a:off x="7680960" y="6419088"/>
            <a:ext cx="3291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750"/>
              <a:buFont typeface="Arial"/>
              <a:buNone/>
            </a:pPr>
            <a:r>
              <a:rPr b="0" i="1" lang="en-US" sz="75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Fuentes: documento final + repo RAICES_VIVAS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DFC"/>
        </a:solidFill>
      </p:bgPr>
    </p:bg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C"/>
          </a:solidFill>
          <a:ln cap="flat" cmpd="sng" w="12700">
            <a:solidFill>
              <a:srgbClr val="FFFDF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7"/>
          <p:cNvSpPr/>
          <p:nvPr/>
        </p:nvSpPr>
        <p:spPr>
          <a:xfrm>
            <a:off x="-640080" y="-1097280"/>
            <a:ext cx="2926080" cy="2926080"/>
          </a:xfrm>
          <a:prstGeom prst="ellipse">
            <a:avLst/>
          </a:prstGeom>
          <a:solidFill>
            <a:srgbClr val="E8D9C4">
              <a:alpha val="65098"/>
            </a:srgbClr>
          </a:solidFill>
          <a:ln cap="flat" cmpd="sng" w="12700">
            <a:solidFill>
              <a:srgbClr val="E8D9C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7"/>
          <p:cNvSpPr/>
          <p:nvPr/>
        </p:nvSpPr>
        <p:spPr>
          <a:xfrm>
            <a:off x="10287000" y="5166360"/>
            <a:ext cx="2286000" cy="2286000"/>
          </a:xfrm>
          <a:prstGeom prst="ellipse">
            <a:avLst/>
          </a:prstGeom>
          <a:solidFill>
            <a:srgbClr val="8FA49B">
              <a:alpha val="25098"/>
            </a:srgbClr>
          </a:solidFill>
          <a:ln cap="flat" cmpd="sng" w="12700">
            <a:solidFill>
              <a:srgbClr val="8FA49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7"/>
          <p:cNvSpPr/>
          <p:nvPr/>
        </p:nvSpPr>
        <p:spPr>
          <a:xfrm>
            <a:off x="9784080" y="-640080"/>
            <a:ext cx="2743200" cy="2743200"/>
          </a:xfrm>
          <a:prstGeom prst="ellipse">
            <a:avLst/>
          </a:prstGeom>
          <a:solidFill>
            <a:srgbClr val="C5A05A">
              <a:alpha val="18039"/>
            </a:srgbClr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7"/>
          <p:cNvSpPr/>
          <p:nvPr/>
        </p:nvSpPr>
        <p:spPr>
          <a:xfrm>
            <a:off x="411480" y="310896"/>
            <a:ext cx="11384280" cy="9144"/>
          </a:xfrm>
          <a:prstGeom prst="rect">
            <a:avLst/>
          </a:prstGeom>
          <a:solidFill>
            <a:srgbClr val="D9D1C5">
              <a:alpha val="0"/>
            </a:srgbClr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7"/>
          <p:cNvSpPr/>
          <p:nvPr/>
        </p:nvSpPr>
        <p:spPr>
          <a:xfrm>
            <a:off x="548640" y="164592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VISTA TÉCNICA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7"/>
          <p:cNvSpPr/>
          <p:nvPr/>
        </p:nvSpPr>
        <p:spPr>
          <a:xfrm>
            <a:off x="548654" y="384050"/>
            <a:ext cx="110643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400"/>
              <a:buFont typeface="Play"/>
              <a:buNone/>
            </a:pPr>
            <a:r>
              <a:rPr b="1" i="0" lang="en-US" sz="24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Arquitectura y gobernanza: donde la técnica se encuentra con la soberanía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7"/>
          <p:cNvSpPr/>
          <p:nvPr/>
        </p:nvSpPr>
        <p:spPr>
          <a:xfrm>
            <a:off x="548640" y="6446520"/>
            <a:ext cx="4023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Raíces Vivas · Entrega Final · CENFOTEC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7"/>
          <p:cNvSpPr/>
          <p:nvPr/>
        </p:nvSpPr>
        <p:spPr>
          <a:xfrm>
            <a:off x="566928" y="868680"/>
            <a:ext cx="5852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La arquitectura offline-first y los niveles CARE se diseñaron como un mismo sistema de control.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7"/>
          <p:cNvSpPr/>
          <p:nvPr/>
        </p:nvSpPr>
        <p:spPr>
          <a:xfrm>
            <a:off x="566928" y="1234440"/>
            <a:ext cx="6400800" cy="4983480"/>
          </a:xfrm>
          <a:prstGeom prst="roundRect">
            <a:avLst>
              <a:gd fmla="val 1468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7"/>
          <p:cNvSpPr/>
          <p:nvPr/>
        </p:nvSpPr>
        <p:spPr>
          <a:xfrm>
            <a:off x="804672" y="1444752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FLUJO TÉCNICO SIMPLIFICADO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7"/>
          <p:cNvSpPr/>
          <p:nvPr/>
        </p:nvSpPr>
        <p:spPr>
          <a:xfrm>
            <a:off x="868680" y="1828800"/>
            <a:ext cx="1143000" cy="685800"/>
          </a:xfrm>
          <a:prstGeom prst="roundRect">
            <a:avLst>
              <a:gd fmla="val 10667" name="adj"/>
            </a:avLst>
          </a:prstGeom>
          <a:solidFill>
            <a:srgbClr val="F4FAF7"/>
          </a:solidFill>
          <a:ln cap="flat" cmpd="sng" w="12700">
            <a:solidFill>
              <a:srgbClr val="D7E6DE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7"/>
          <p:cNvSpPr/>
          <p:nvPr/>
        </p:nvSpPr>
        <p:spPr>
          <a:xfrm>
            <a:off x="987552" y="1993392"/>
            <a:ext cx="89611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Usuarios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Docente · Líder · Salud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7"/>
          <p:cNvSpPr/>
          <p:nvPr/>
        </p:nvSpPr>
        <p:spPr>
          <a:xfrm>
            <a:off x="2331720" y="1691640"/>
            <a:ext cx="1965960" cy="960120"/>
          </a:xfrm>
          <a:prstGeom prst="roundRect">
            <a:avLst>
              <a:gd fmla="val 7619" name="adj"/>
            </a:avLst>
          </a:prstGeom>
          <a:solidFill>
            <a:srgbClr val="FFFDFC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7"/>
          <p:cNvSpPr/>
          <p:nvPr/>
        </p:nvSpPr>
        <p:spPr>
          <a:xfrm>
            <a:off x="2606050" y="1764812"/>
            <a:ext cx="14172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800"/>
              <a:buFont typeface="Play"/>
              <a:buNone/>
            </a:pPr>
            <a:r>
              <a:rPr b="1" i="0" lang="en-US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PWA Raíces Vivas</a:t>
            </a:r>
            <a:endParaRPr b="0" i="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7"/>
          <p:cNvSpPr/>
          <p:nvPr/>
        </p:nvSpPr>
        <p:spPr>
          <a:xfrm>
            <a:off x="2542032" y="2221992"/>
            <a:ext cx="155448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UI multilingüe + formularios ligeros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7"/>
          <p:cNvSpPr/>
          <p:nvPr/>
        </p:nvSpPr>
        <p:spPr>
          <a:xfrm>
            <a:off x="2560320" y="2999232"/>
            <a:ext cx="1508760" cy="713232"/>
          </a:xfrm>
          <a:prstGeom prst="roundRect">
            <a:avLst>
              <a:gd fmla="val 10256" name="adj"/>
            </a:avLst>
          </a:prstGeom>
          <a:solidFill>
            <a:srgbClr val="EFF5F2"/>
          </a:solidFill>
          <a:ln cap="flat" cmpd="sng" w="12700">
            <a:solidFill>
              <a:srgbClr val="D7E6DE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7"/>
          <p:cNvSpPr/>
          <p:nvPr/>
        </p:nvSpPr>
        <p:spPr>
          <a:xfrm>
            <a:off x="2770632" y="3182112"/>
            <a:ext cx="107899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PouchDB local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modo offline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"/>
          <p:cNvSpPr/>
          <p:nvPr/>
        </p:nvSpPr>
        <p:spPr>
          <a:xfrm>
            <a:off x="4617720" y="2999232"/>
            <a:ext cx="1508760" cy="713232"/>
          </a:xfrm>
          <a:prstGeom prst="roundRect">
            <a:avLst>
              <a:gd fmla="val 10256" name="adj"/>
            </a:avLst>
          </a:prstGeom>
          <a:solidFill>
            <a:srgbClr val="FFF6F2"/>
          </a:solidFill>
          <a:ln cap="flat" cmpd="sng" w="12700">
            <a:solidFill>
              <a:srgbClr val="EBD4CB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7"/>
          <p:cNvSpPr/>
          <p:nvPr/>
        </p:nvSpPr>
        <p:spPr>
          <a:xfrm>
            <a:off x="4828032" y="3182112"/>
            <a:ext cx="107899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CouchDB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sync eventual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7"/>
          <p:cNvSpPr/>
          <p:nvPr/>
        </p:nvSpPr>
        <p:spPr>
          <a:xfrm>
            <a:off x="4572000" y="1691640"/>
            <a:ext cx="1965960" cy="960120"/>
          </a:xfrm>
          <a:prstGeom prst="roundRect">
            <a:avLst>
              <a:gd fmla="val 7619" name="adj"/>
            </a:avLst>
          </a:prstGeom>
          <a:solidFill>
            <a:srgbClr val="FBF7F0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7"/>
          <p:cNvSpPr/>
          <p:nvPr/>
        </p:nvSpPr>
        <p:spPr>
          <a:xfrm>
            <a:off x="4773175" y="1764887"/>
            <a:ext cx="15546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800"/>
              <a:buFont typeface="Play"/>
              <a:buNone/>
            </a:pPr>
            <a:r>
              <a:rPr b="1" i="0" lang="en-US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Servicios transversales</a:t>
            </a:r>
            <a:endParaRPr b="0" i="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7"/>
          <p:cNvSpPr/>
          <p:nvPr/>
        </p:nvSpPr>
        <p:spPr>
          <a:xfrm>
            <a:off x="4754880" y="2221992"/>
            <a:ext cx="160020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920"/>
              <a:buFont typeface="Arial"/>
              <a:buNone/>
            </a:pPr>
            <a:r>
              <a:rPr b="0" i="0" lang="en-US" sz="92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roles · auditoría · consentimiento · i18n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36" name="Google Shape;436;p7"/>
          <p:cNvCxnSpPr/>
          <p:nvPr/>
        </p:nvCxnSpPr>
        <p:spPr>
          <a:xfrm>
            <a:off x="2011680" y="2167128"/>
            <a:ext cx="320040" cy="0"/>
          </a:xfrm>
          <a:prstGeom prst="straightConnector1">
            <a:avLst/>
          </a:prstGeom>
          <a:noFill/>
          <a:ln cap="flat" cmpd="sng" w="12700">
            <a:solidFill>
              <a:srgbClr val="4E6E66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37" name="Google Shape;437;p7"/>
          <p:cNvCxnSpPr/>
          <p:nvPr/>
        </p:nvCxnSpPr>
        <p:spPr>
          <a:xfrm>
            <a:off x="4297680" y="2167128"/>
            <a:ext cx="274320" cy="0"/>
          </a:xfrm>
          <a:prstGeom prst="straightConnector1">
            <a:avLst/>
          </a:prstGeom>
          <a:noFill/>
          <a:ln cap="flat" cmpd="sng" w="12700">
            <a:solidFill>
              <a:srgbClr val="B85C3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38" name="Google Shape;438;p7"/>
          <p:cNvCxnSpPr/>
          <p:nvPr/>
        </p:nvCxnSpPr>
        <p:spPr>
          <a:xfrm>
            <a:off x="3319272" y="2651760"/>
            <a:ext cx="0" cy="347472"/>
          </a:xfrm>
          <a:prstGeom prst="straightConnector1">
            <a:avLst/>
          </a:prstGeom>
          <a:noFill/>
          <a:ln cap="flat" cmpd="sng" w="12700">
            <a:solidFill>
              <a:srgbClr val="4E6E66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39" name="Google Shape;439;p7"/>
          <p:cNvCxnSpPr/>
          <p:nvPr/>
        </p:nvCxnSpPr>
        <p:spPr>
          <a:xfrm>
            <a:off x="4069080" y="3355848"/>
            <a:ext cx="548640" cy="0"/>
          </a:xfrm>
          <a:prstGeom prst="straightConnector1">
            <a:avLst/>
          </a:prstGeom>
          <a:noFill/>
          <a:ln cap="flat" cmpd="sng" w="12700">
            <a:solidFill>
              <a:srgbClr val="B85C3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40" name="Google Shape;440;p7"/>
          <p:cNvSpPr/>
          <p:nvPr/>
        </p:nvSpPr>
        <p:spPr>
          <a:xfrm>
            <a:off x="3886200" y="3145536"/>
            <a:ext cx="86868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Sync bidireccional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7"/>
          <p:cNvSpPr/>
          <p:nvPr/>
        </p:nvSpPr>
        <p:spPr>
          <a:xfrm>
            <a:off x="868680" y="4709160"/>
            <a:ext cx="5394960" cy="786384"/>
          </a:xfrm>
          <a:prstGeom prst="roundRect">
            <a:avLst>
              <a:gd fmla="val 9302" name="adj"/>
            </a:avLst>
          </a:prstGeom>
          <a:solidFill>
            <a:srgbClr val="FCF8F2"/>
          </a:solidFill>
          <a:ln cap="flat" cmpd="sng" w="12700">
            <a:solidFill>
              <a:srgbClr val="E8D9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7"/>
          <p:cNvSpPr/>
          <p:nvPr/>
        </p:nvSpPr>
        <p:spPr>
          <a:xfrm>
            <a:off x="1033272" y="4855464"/>
            <a:ext cx="5065776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26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1E2A26"/>
                </a:solidFill>
                <a:latin typeface="Arial"/>
                <a:ea typeface="Arial"/>
                <a:cs typeface="Arial"/>
                <a:sym typeface="Arial"/>
              </a:rPr>
              <a:t>“Si el dispositivo recupera conectividad, sincroniza. Si no, el sistema sigue operando.”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7"/>
          <p:cNvSpPr/>
          <p:nvPr/>
        </p:nvSpPr>
        <p:spPr>
          <a:xfrm>
            <a:off x="7223760" y="1234440"/>
            <a:ext cx="4389120" cy="4983480"/>
          </a:xfrm>
          <a:prstGeom prst="roundRect">
            <a:avLst>
              <a:gd fmla="val 1667" name="adj"/>
            </a:avLst>
          </a:prstGeom>
          <a:solidFill>
            <a:srgbClr val="FFFDFC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7"/>
          <p:cNvSpPr/>
          <p:nvPr/>
        </p:nvSpPr>
        <p:spPr>
          <a:xfrm>
            <a:off x="7452360" y="1444752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NIVELES CARE IMPLEMENTADOS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7"/>
          <p:cNvSpPr/>
          <p:nvPr/>
        </p:nvSpPr>
        <p:spPr>
          <a:xfrm>
            <a:off x="7479792" y="1810512"/>
            <a:ext cx="868680" cy="384048"/>
          </a:xfrm>
          <a:prstGeom prst="roundRect">
            <a:avLst>
              <a:gd fmla="val 14286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7"/>
          <p:cNvSpPr/>
          <p:nvPr/>
        </p:nvSpPr>
        <p:spPr>
          <a:xfrm>
            <a:off x="7479792" y="1938528"/>
            <a:ext cx="86868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60"/>
              <a:buFont typeface="Arial"/>
              <a:buNone/>
            </a:pPr>
            <a:r>
              <a:rPr b="1" i="0" lang="en-US" sz="96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  <a:endParaRPr b="0" i="0" sz="9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7"/>
          <p:cNvSpPr/>
          <p:nvPr/>
        </p:nvSpPr>
        <p:spPr>
          <a:xfrm>
            <a:off x="8485632" y="1856232"/>
            <a:ext cx="2011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60"/>
              <a:buFont typeface="Arial"/>
              <a:buNone/>
            </a:pPr>
            <a:r>
              <a:rPr b="0" i="0" lang="en-US" sz="96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Cualquier usuario autenticado</a:t>
            </a:r>
            <a:endParaRPr b="0" i="0" sz="9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7"/>
          <p:cNvSpPr/>
          <p:nvPr/>
        </p:nvSpPr>
        <p:spPr>
          <a:xfrm>
            <a:off x="10680192" y="1892808"/>
            <a:ext cx="658368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860"/>
              <a:buFont typeface="Arial"/>
              <a:buNone/>
            </a:pPr>
            <a:r>
              <a:rPr b="1" i="0" lang="en-US" sz="86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Sincroniza</a:t>
            </a:r>
            <a:endParaRPr b="0" i="0" sz="8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7"/>
          <p:cNvSpPr/>
          <p:nvPr/>
        </p:nvSpPr>
        <p:spPr>
          <a:xfrm>
            <a:off x="7479792" y="2258568"/>
            <a:ext cx="3886200" cy="9144"/>
          </a:xfrm>
          <a:prstGeom prst="rect">
            <a:avLst/>
          </a:prstGeom>
          <a:solidFill>
            <a:srgbClr val="D9D1C5">
              <a:alpha val="0"/>
            </a:srgbClr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7"/>
          <p:cNvSpPr/>
          <p:nvPr/>
        </p:nvSpPr>
        <p:spPr>
          <a:xfrm>
            <a:off x="7479792" y="2596896"/>
            <a:ext cx="868680" cy="384048"/>
          </a:xfrm>
          <a:prstGeom prst="roundRect">
            <a:avLst>
              <a:gd fmla="val 14286" name="adj"/>
            </a:avLst>
          </a:prstGeom>
          <a:solidFill>
            <a:srgbClr val="8FA49B"/>
          </a:solidFill>
          <a:ln cap="flat" cmpd="sng" w="12700">
            <a:solidFill>
              <a:srgbClr val="8FA49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7"/>
          <p:cNvSpPr/>
          <p:nvPr/>
        </p:nvSpPr>
        <p:spPr>
          <a:xfrm>
            <a:off x="7479792" y="2724912"/>
            <a:ext cx="86868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60"/>
              <a:buFont typeface="Arial"/>
              <a:buNone/>
            </a:pPr>
            <a:r>
              <a:rPr b="1" i="0" lang="en-US" sz="96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Comunitario</a:t>
            </a:r>
            <a:endParaRPr b="0" i="0" sz="9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7"/>
          <p:cNvSpPr/>
          <p:nvPr/>
        </p:nvSpPr>
        <p:spPr>
          <a:xfrm>
            <a:off x="8485632" y="2642616"/>
            <a:ext cx="2011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60"/>
              <a:buFont typeface="Arial"/>
              <a:buNone/>
            </a:pPr>
            <a:r>
              <a:rPr b="0" i="0" lang="en-US" sz="96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Miembros del pueblo</a:t>
            </a:r>
            <a:endParaRPr b="0" i="0" sz="9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7"/>
          <p:cNvSpPr/>
          <p:nvPr/>
        </p:nvSpPr>
        <p:spPr>
          <a:xfrm>
            <a:off x="10680192" y="2679192"/>
            <a:ext cx="658368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860"/>
              <a:buFont typeface="Arial"/>
              <a:buNone/>
            </a:pPr>
            <a:r>
              <a:rPr b="1" i="0" lang="en-US" sz="86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Sincroniza</a:t>
            </a:r>
            <a:endParaRPr b="0" i="0" sz="8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7"/>
          <p:cNvSpPr/>
          <p:nvPr/>
        </p:nvSpPr>
        <p:spPr>
          <a:xfrm>
            <a:off x="7479792" y="3044952"/>
            <a:ext cx="3886200" cy="9144"/>
          </a:xfrm>
          <a:prstGeom prst="rect">
            <a:avLst/>
          </a:prstGeom>
          <a:solidFill>
            <a:srgbClr val="D9D1C5">
              <a:alpha val="0"/>
            </a:srgbClr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7"/>
          <p:cNvSpPr/>
          <p:nvPr/>
        </p:nvSpPr>
        <p:spPr>
          <a:xfrm>
            <a:off x="7479792" y="3383280"/>
            <a:ext cx="868680" cy="384048"/>
          </a:xfrm>
          <a:prstGeom prst="roundRect">
            <a:avLst>
              <a:gd fmla="val 14286" name="adj"/>
            </a:avLst>
          </a:prstGeom>
          <a:solidFill>
            <a:srgbClr val="B85C38"/>
          </a:solidFill>
          <a:ln cap="flat" cmpd="sng" w="12700">
            <a:solidFill>
              <a:srgbClr val="B85C3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7"/>
          <p:cNvSpPr/>
          <p:nvPr/>
        </p:nvSpPr>
        <p:spPr>
          <a:xfrm>
            <a:off x="7479792" y="3511296"/>
            <a:ext cx="86868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60"/>
              <a:buFont typeface="Arial"/>
              <a:buNone/>
            </a:pPr>
            <a:r>
              <a:rPr b="1" i="0" lang="en-US" sz="96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Restringido</a:t>
            </a:r>
            <a:endParaRPr b="0" i="0" sz="9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7"/>
          <p:cNvSpPr/>
          <p:nvPr/>
        </p:nvSpPr>
        <p:spPr>
          <a:xfrm>
            <a:off x="8485632" y="3429000"/>
            <a:ext cx="2011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60"/>
              <a:buFont typeface="Arial"/>
              <a:buNone/>
            </a:pPr>
            <a:r>
              <a:rPr b="0" i="0" lang="en-US" sz="96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Roles autorizados por consejo o Awá</a:t>
            </a:r>
            <a:endParaRPr b="0" i="0" sz="9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7"/>
          <p:cNvSpPr/>
          <p:nvPr/>
        </p:nvSpPr>
        <p:spPr>
          <a:xfrm>
            <a:off x="10680192" y="3465576"/>
            <a:ext cx="658368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860"/>
              <a:buFont typeface="Arial"/>
              <a:buNone/>
            </a:pPr>
            <a:r>
              <a:rPr b="1" i="0" lang="en-US" sz="86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Sincroniza cifrado</a:t>
            </a:r>
            <a:endParaRPr b="0" i="0" sz="8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7"/>
          <p:cNvSpPr/>
          <p:nvPr/>
        </p:nvSpPr>
        <p:spPr>
          <a:xfrm>
            <a:off x="7479792" y="3831336"/>
            <a:ext cx="3886200" cy="9144"/>
          </a:xfrm>
          <a:prstGeom prst="rect">
            <a:avLst/>
          </a:prstGeom>
          <a:solidFill>
            <a:srgbClr val="D9D1C5">
              <a:alpha val="0"/>
            </a:srgbClr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7"/>
          <p:cNvSpPr/>
          <p:nvPr/>
        </p:nvSpPr>
        <p:spPr>
          <a:xfrm>
            <a:off x="7479792" y="4169664"/>
            <a:ext cx="868680" cy="384048"/>
          </a:xfrm>
          <a:prstGeom prst="roundRect">
            <a:avLst>
              <a:gd fmla="val 14286" name="adj"/>
            </a:avLst>
          </a:prstGeom>
          <a:solidFill>
            <a:srgbClr val="133A32"/>
          </a:solidFill>
          <a:ln cap="flat" cmpd="sng" w="12700">
            <a:solidFill>
              <a:srgbClr val="133A32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7"/>
          <p:cNvSpPr/>
          <p:nvPr/>
        </p:nvSpPr>
        <p:spPr>
          <a:xfrm>
            <a:off x="7479792" y="4297680"/>
            <a:ext cx="86868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60"/>
              <a:buFont typeface="Arial"/>
              <a:buNone/>
            </a:pPr>
            <a:r>
              <a:rPr b="1" i="0" lang="en-US" sz="96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Ceremonial</a:t>
            </a:r>
            <a:endParaRPr b="0" i="0" sz="9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7"/>
          <p:cNvSpPr/>
          <p:nvPr/>
        </p:nvSpPr>
        <p:spPr>
          <a:xfrm>
            <a:off x="8485632" y="4215384"/>
            <a:ext cx="2011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60"/>
              <a:buFont typeface="Arial"/>
              <a:buNone/>
            </a:pPr>
            <a:r>
              <a:rPr b="1" i="0" lang="en-US" sz="96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Solo autoridad máxima</a:t>
            </a:r>
            <a:endParaRPr b="0" i="0" sz="9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7"/>
          <p:cNvSpPr/>
          <p:nvPr/>
        </p:nvSpPr>
        <p:spPr>
          <a:xfrm>
            <a:off x="10680192" y="4251960"/>
            <a:ext cx="658368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F5146"/>
              </a:buClr>
              <a:buSzPts val="860"/>
              <a:buFont typeface="Arial"/>
              <a:buNone/>
            </a:pPr>
            <a:r>
              <a:rPr b="1" i="0" lang="en-US" sz="860" u="none" cap="none" strike="noStrike">
                <a:solidFill>
                  <a:srgbClr val="AF5146"/>
                </a:solidFill>
                <a:latin typeface="Arial"/>
                <a:ea typeface="Arial"/>
                <a:cs typeface="Arial"/>
                <a:sym typeface="Arial"/>
              </a:rPr>
              <a:t>No sale del dispositivo</a:t>
            </a:r>
            <a:endParaRPr b="0" i="0" sz="8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7"/>
          <p:cNvSpPr/>
          <p:nvPr/>
        </p:nvSpPr>
        <p:spPr>
          <a:xfrm>
            <a:off x="7479792" y="4617720"/>
            <a:ext cx="3886200" cy="9144"/>
          </a:xfrm>
          <a:prstGeom prst="rect">
            <a:avLst/>
          </a:prstGeom>
          <a:solidFill>
            <a:srgbClr val="D9D1C5">
              <a:alpha val="0"/>
            </a:srgbClr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7"/>
          <p:cNvSpPr/>
          <p:nvPr/>
        </p:nvSpPr>
        <p:spPr>
          <a:xfrm>
            <a:off x="7479792" y="5047488"/>
            <a:ext cx="118872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Principio rector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7"/>
          <p:cNvSpPr/>
          <p:nvPr/>
        </p:nvSpPr>
        <p:spPr>
          <a:xfrm>
            <a:off x="7479792" y="5266944"/>
            <a:ext cx="3611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La revocación comunitaria prevalece sobre cualquier conflicto de sincronización.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7"/>
          <p:cNvSpPr/>
          <p:nvPr/>
        </p:nvSpPr>
        <p:spPr>
          <a:xfrm>
            <a:off x="11430000" y="6419088"/>
            <a:ext cx="29260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7"/>
          <p:cNvSpPr/>
          <p:nvPr/>
        </p:nvSpPr>
        <p:spPr>
          <a:xfrm>
            <a:off x="7680960" y="6419088"/>
            <a:ext cx="3291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750"/>
              <a:buFont typeface="Arial"/>
              <a:buNone/>
            </a:pPr>
            <a:r>
              <a:rPr b="0" i="1" lang="en-US" sz="75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Fuentes: documento final + repo RAICES_VIVAS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8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33A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8"/>
          <p:cNvSpPr/>
          <p:nvPr/>
        </p:nvSpPr>
        <p:spPr>
          <a:xfrm>
            <a:off x="320040" y="0"/>
            <a:ext cx="11871655" cy="502920"/>
          </a:xfrm>
          <a:prstGeom prst="rect">
            <a:avLst/>
          </a:prstGeom>
          <a:solidFill>
            <a:srgbClr val="E9DE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8"/>
          <p:cNvSpPr txBox="1"/>
          <p:nvPr/>
        </p:nvSpPr>
        <p:spPr>
          <a:xfrm>
            <a:off x="731520" y="914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85C38"/>
                </a:solidFill>
                <a:latin typeface="Calibri"/>
                <a:ea typeface="Calibri"/>
                <a:cs typeface="Calibri"/>
                <a:sym typeface="Calibri"/>
              </a:rPr>
              <a:t>ANEXO TÉCNICO · A.1</a:t>
            </a:r>
            <a:endParaRPr/>
          </a:p>
        </p:txBody>
      </p:sp>
      <p:sp>
        <p:nvSpPr>
          <p:cNvPr id="477" name="Google Shape;477;p8"/>
          <p:cNvSpPr txBox="1"/>
          <p:nvPr/>
        </p:nvSpPr>
        <p:spPr>
          <a:xfrm>
            <a:off x="10698480" y="91440"/>
            <a:ext cx="1188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Raíces Vivas · Entrega Final · CENFOTEC</a:t>
            </a:r>
            <a:endParaRPr/>
          </a:p>
        </p:txBody>
      </p:sp>
      <p:sp>
        <p:nvSpPr>
          <p:cNvPr id="478" name="Google Shape;478;p8"/>
          <p:cNvSpPr txBox="1"/>
          <p:nvPr/>
        </p:nvSpPr>
        <p:spPr>
          <a:xfrm>
            <a:off x="731520" y="640080"/>
            <a:ext cx="106070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33A32"/>
                </a:solidFill>
                <a:latin typeface="Calibri"/>
                <a:ea typeface="Calibri"/>
                <a:cs typeface="Calibri"/>
                <a:sym typeface="Calibri"/>
              </a:rPr>
              <a:t>DFD Nivel 0 — Diagrama de contexto</a:t>
            </a:r>
            <a:endParaRPr/>
          </a:p>
        </p:txBody>
      </p:sp>
      <p:sp>
        <p:nvSpPr>
          <p:cNvPr id="479" name="Google Shape;479;p8"/>
          <p:cNvSpPr txBox="1"/>
          <p:nvPr/>
        </p:nvSpPr>
        <p:spPr>
          <a:xfrm>
            <a:off x="731520" y="1325880"/>
            <a:ext cx="10607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6E66"/>
                </a:solidFill>
                <a:latin typeface="Calibri"/>
                <a:ea typeface="Calibri"/>
                <a:cs typeface="Calibri"/>
                <a:sym typeface="Calibri"/>
              </a:rPr>
              <a:t>Notación DeMarco–Yourdon</a:t>
            </a:r>
            <a:endParaRPr/>
          </a:p>
        </p:txBody>
      </p:sp>
      <p:sp>
        <p:nvSpPr>
          <p:cNvPr id="480" name="Google Shape;480;p8"/>
          <p:cNvSpPr/>
          <p:nvPr/>
        </p:nvSpPr>
        <p:spPr>
          <a:xfrm>
            <a:off x="685800" y="1828800"/>
            <a:ext cx="10789920" cy="40233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9DEC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agram_dfd_nivel0.png" id="481" name="Google Shape;48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49717" y="1929384"/>
            <a:ext cx="5662084" cy="3822191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8"/>
          <p:cNvSpPr/>
          <p:nvPr/>
        </p:nvSpPr>
        <p:spPr>
          <a:xfrm>
            <a:off x="320040" y="5989320"/>
            <a:ext cx="11871655" cy="685800"/>
          </a:xfrm>
          <a:prstGeom prst="rect">
            <a:avLst/>
          </a:prstGeom>
          <a:solidFill>
            <a:srgbClr val="133A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Servicios transversales</a:t>
            </a:r>
            <a:endParaRPr/>
          </a:p>
        </p:txBody>
      </p:sp>
      <p:sp>
        <p:nvSpPr>
          <p:cNvPr id="483" name="Google Shape;483;p8"/>
          <p:cNvSpPr txBox="1"/>
          <p:nvPr/>
        </p:nvSpPr>
        <p:spPr>
          <a:xfrm>
            <a:off x="731520" y="6035040"/>
            <a:ext cx="10607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5EDE0"/>
                </a:solidFill>
                <a:latin typeface="Calibri"/>
                <a:ea typeface="Calibri"/>
                <a:cs typeface="Calibri"/>
                <a:sym typeface="Calibri"/>
              </a:rPr>
              <a:t>El sistema Raíces Vivas modelado como proceso único rodeado de sus entidades externas (6 actores humanos + 3 sistemas: MEP, CCSS/EDUS, ODS/UNESCO). Cada arista es un flujo de datos etiquetado.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9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33A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9"/>
          <p:cNvSpPr/>
          <p:nvPr/>
        </p:nvSpPr>
        <p:spPr>
          <a:xfrm>
            <a:off x="320040" y="0"/>
            <a:ext cx="11871655" cy="502920"/>
          </a:xfrm>
          <a:prstGeom prst="rect">
            <a:avLst/>
          </a:prstGeom>
          <a:solidFill>
            <a:srgbClr val="E9DE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9"/>
          <p:cNvSpPr txBox="1"/>
          <p:nvPr/>
        </p:nvSpPr>
        <p:spPr>
          <a:xfrm>
            <a:off x="731520" y="914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85C38"/>
                </a:solidFill>
                <a:latin typeface="Calibri"/>
                <a:ea typeface="Calibri"/>
                <a:cs typeface="Calibri"/>
                <a:sym typeface="Calibri"/>
              </a:rPr>
              <a:t>ANEXO TÉCNICO · A.2</a:t>
            </a:r>
            <a:endParaRPr/>
          </a:p>
        </p:txBody>
      </p:sp>
      <p:sp>
        <p:nvSpPr>
          <p:cNvPr id="492" name="Google Shape;492;p9"/>
          <p:cNvSpPr txBox="1"/>
          <p:nvPr/>
        </p:nvSpPr>
        <p:spPr>
          <a:xfrm>
            <a:off x="10698480" y="91440"/>
            <a:ext cx="1188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Raíces Vivas · Entrega Final · CENFOTEC</a:t>
            </a:r>
            <a:endParaRPr/>
          </a:p>
        </p:txBody>
      </p:sp>
      <p:sp>
        <p:nvSpPr>
          <p:cNvPr id="493" name="Google Shape;493;p9"/>
          <p:cNvSpPr txBox="1"/>
          <p:nvPr/>
        </p:nvSpPr>
        <p:spPr>
          <a:xfrm>
            <a:off x="731520" y="640080"/>
            <a:ext cx="106070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33A32"/>
                </a:solidFill>
                <a:latin typeface="Calibri"/>
                <a:ea typeface="Calibri"/>
                <a:cs typeface="Calibri"/>
                <a:sym typeface="Calibri"/>
              </a:rPr>
              <a:t>DFD Nivel 1 — Descomposición funcional</a:t>
            </a:r>
            <a:endParaRPr/>
          </a:p>
        </p:txBody>
      </p:sp>
      <p:sp>
        <p:nvSpPr>
          <p:cNvPr id="494" name="Google Shape;494;p9"/>
          <p:cNvSpPr txBox="1"/>
          <p:nvPr/>
        </p:nvSpPr>
        <p:spPr>
          <a:xfrm>
            <a:off x="731520" y="1325880"/>
            <a:ext cx="10607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6E66"/>
                </a:solidFill>
                <a:latin typeface="Calibri"/>
                <a:ea typeface="Calibri"/>
                <a:cs typeface="Calibri"/>
                <a:sym typeface="Calibri"/>
              </a:rPr>
              <a:t>Procesos · almacenes · flujos</a:t>
            </a:r>
            <a:endParaRPr/>
          </a:p>
        </p:txBody>
      </p:sp>
      <p:sp>
        <p:nvSpPr>
          <p:cNvPr id="495" name="Google Shape;495;p9"/>
          <p:cNvSpPr/>
          <p:nvPr/>
        </p:nvSpPr>
        <p:spPr>
          <a:xfrm>
            <a:off x="685800" y="1828800"/>
            <a:ext cx="10789920" cy="40233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9DEC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agram_dfd_nivel1.png" id="496" name="Google Shape;496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84029" y="1929384"/>
            <a:ext cx="5793461" cy="3822191"/>
          </a:xfrm>
          <a:prstGeom prst="rect">
            <a:avLst/>
          </a:prstGeom>
          <a:noFill/>
          <a:ln>
            <a:noFill/>
          </a:ln>
        </p:spPr>
      </p:pic>
      <p:sp>
        <p:nvSpPr>
          <p:cNvPr id="497" name="Google Shape;497;p9"/>
          <p:cNvSpPr/>
          <p:nvPr/>
        </p:nvSpPr>
        <p:spPr>
          <a:xfrm>
            <a:off x="320040" y="5989320"/>
            <a:ext cx="11871655" cy="685800"/>
          </a:xfrm>
          <a:prstGeom prst="rect">
            <a:avLst/>
          </a:prstGeom>
          <a:solidFill>
            <a:srgbClr val="133A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9"/>
          <p:cNvSpPr txBox="1"/>
          <p:nvPr/>
        </p:nvSpPr>
        <p:spPr>
          <a:xfrm>
            <a:off x="731520" y="6035040"/>
            <a:ext cx="10607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5EDE0"/>
                </a:solidFill>
                <a:latin typeface="Calibri"/>
                <a:ea typeface="Calibri"/>
                <a:cs typeface="Calibri"/>
                <a:sym typeface="Calibri"/>
              </a:rPr>
              <a:t>Cuatro procesos hijos (EDU · SAB · SAL · Transversales) y cinco almacenes de datos (D1 catálogo, D2 PouchDB, D3 log auditoría, D4 i18n, D5 CouchDB). Representa la base offline-first del sistema.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DFC"/>
        </a:solidFill>
      </p:bgPr>
    </p:bg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C"/>
          </a:solidFill>
          <a:ln cap="flat" cmpd="sng" w="12700">
            <a:solidFill>
              <a:srgbClr val="FFFDF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10"/>
          <p:cNvSpPr/>
          <p:nvPr/>
        </p:nvSpPr>
        <p:spPr>
          <a:xfrm>
            <a:off x="-640080" y="-1097280"/>
            <a:ext cx="2926080" cy="2926080"/>
          </a:xfrm>
          <a:prstGeom prst="ellipse">
            <a:avLst/>
          </a:prstGeom>
          <a:solidFill>
            <a:srgbClr val="E8D9C4">
              <a:alpha val="65098"/>
            </a:srgbClr>
          </a:solidFill>
          <a:ln cap="flat" cmpd="sng" w="12700">
            <a:solidFill>
              <a:srgbClr val="E8D9C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6" name="Google Shape;506;p10"/>
          <p:cNvSpPr/>
          <p:nvPr/>
        </p:nvSpPr>
        <p:spPr>
          <a:xfrm>
            <a:off x="10287000" y="5166360"/>
            <a:ext cx="2286000" cy="2286000"/>
          </a:xfrm>
          <a:prstGeom prst="ellipse">
            <a:avLst/>
          </a:prstGeom>
          <a:solidFill>
            <a:srgbClr val="8FA49B">
              <a:alpha val="25098"/>
            </a:srgbClr>
          </a:solidFill>
          <a:ln cap="flat" cmpd="sng" w="12700">
            <a:solidFill>
              <a:srgbClr val="8FA49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p10"/>
          <p:cNvSpPr/>
          <p:nvPr/>
        </p:nvSpPr>
        <p:spPr>
          <a:xfrm>
            <a:off x="9784080" y="-640080"/>
            <a:ext cx="2743200" cy="2743200"/>
          </a:xfrm>
          <a:prstGeom prst="ellipse">
            <a:avLst/>
          </a:prstGeom>
          <a:solidFill>
            <a:srgbClr val="C5A05A">
              <a:alpha val="18039"/>
            </a:srgbClr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" name="Google Shape;508;p10"/>
          <p:cNvSpPr/>
          <p:nvPr/>
        </p:nvSpPr>
        <p:spPr>
          <a:xfrm>
            <a:off x="411480" y="310896"/>
            <a:ext cx="11384280" cy="9144"/>
          </a:xfrm>
          <a:prstGeom prst="rect">
            <a:avLst/>
          </a:prstGeom>
          <a:solidFill>
            <a:srgbClr val="D9D1C5">
              <a:alpha val="0"/>
            </a:srgbClr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9" name="Google Shape;509;p10"/>
          <p:cNvSpPr/>
          <p:nvPr/>
        </p:nvSpPr>
        <p:spPr>
          <a:xfrm>
            <a:off x="548640" y="164592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GESTIÓN DE REQUISITOS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10"/>
          <p:cNvSpPr/>
          <p:nvPr/>
        </p:nvSpPr>
        <p:spPr>
          <a:xfrm>
            <a:off x="548640" y="384048"/>
            <a:ext cx="8138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400"/>
              <a:buFont typeface="Play"/>
              <a:buNone/>
            </a:pPr>
            <a:r>
              <a:rPr b="1" i="0" lang="en-US" sz="24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Trazabilidad: del requerimiento al sprint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10"/>
          <p:cNvSpPr/>
          <p:nvPr/>
        </p:nvSpPr>
        <p:spPr>
          <a:xfrm>
            <a:off x="548640" y="6446520"/>
            <a:ext cx="4023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Raíces Vivas · Entrega Final · CENFOTEC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10"/>
          <p:cNvSpPr/>
          <p:nvPr/>
        </p:nvSpPr>
        <p:spPr>
          <a:xfrm>
            <a:off x="566928" y="868680"/>
            <a:ext cx="7680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La propuesta no se quedó en ideas. Fue estructurada como requerimientos, casos de uso, modelo de datos, WBS y ejecución por sprint.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10"/>
          <p:cNvSpPr/>
          <p:nvPr/>
        </p:nvSpPr>
        <p:spPr>
          <a:xfrm>
            <a:off x="566928" y="1234440"/>
            <a:ext cx="6400800" cy="4983480"/>
          </a:xfrm>
          <a:prstGeom prst="roundRect">
            <a:avLst>
              <a:gd fmla="val 1468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10"/>
          <p:cNvSpPr/>
          <p:nvPr/>
        </p:nvSpPr>
        <p:spPr>
          <a:xfrm>
            <a:off x="804672" y="1444752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CADENA DE TRAZABILIDAD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10"/>
          <p:cNvSpPr/>
          <p:nvPr/>
        </p:nvSpPr>
        <p:spPr>
          <a:xfrm>
            <a:off x="841248" y="2011680"/>
            <a:ext cx="960120" cy="868680"/>
          </a:xfrm>
          <a:prstGeom prst="roundRect">
            <a:avLst>
              <a:gd fmla="val 8421" name="adj"/>
            </a:avLst>
          </a:prstGeom>
          <a:solidFill>
            <a:srgbClr val="EFF5F2"/>
          </a:solidFill>
          <a:ln cap="flat" cmpd="sng" w="12700">
            <a:solidFill>
              <a:srgbClr val="DCD4C7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6" name="Google Shape;516;p10"/>
          <p:cNvSpPr/>
          <p:nvPr/>
        </p:nvSpPr>
        <p:spPr>
          <a:xfrm>
            <a:off x="914400" y="2295144"/>
            <a:ext cx="8138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E6E66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4E6E66"/>
                </a:solidFill>
                <a:latin typeface="Arial"/>
                <a:ea typeface="Arial"/>
                <a:cs typeface="Arial"/>
                <a:sym typeface="Arial"/>
              </a:rPr>
              <a:t>23 RF + 4 RNF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17" name="Google Shape;517;p10"/>
          <p:cNvCxnSpPr/>
          <p:nvPr/>
        </p:nvCxnSpPr>
        <p:spPr>
          <a:xfrm>
            <a:off x="1801368" y="2450592"/>
            <a:ext cx="320040" cy="0"/>
          </a:xfrm>
          <a:prstGeom prst="straightConnector1">
            <a:avLst/>
          </a:prstGeom>
          <a:noFill/>
          <a:ln cap="flat" cmpd="sng" w="12700">
            <a:solidFill>
              <a:srgbClr val="8FA49B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18" name="Google Shape;518;p10"/>
          <p:cNvSpPr/>
          <p:nvPr/>
        </p:nvSpPr>
        <p:spPr>
          <a:xfrm>
            <a:off x="2121408" y="2011680"/>
            <a:ext cx="960120" cy="868680"/>
          </a:xfrm>
          <a:prstGeom prst="roundRect">
            <a:avLst>
              <a:gd fmla="val 8421" name="adj"/>
            </a:avLst>
          </a:prstGeom>
          <a:solidFill>
            <a:srgbClr val="FFF6F2"/>
          </a:solidFill>
          <a:ln cap="flat" cmpd="sng" w="12700">
            <a:solidFill>
              <a:srgbClr val="DCD4C7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p10"/>
          <p:cNvSpPr/>
          <p:nvPr/>
        </p:nvSpPr>
        <p:spPr>
          <a:xfrm>
            <a:off x="2194560" y="2295144"/>
            <a:ext cx="8138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23 CU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0" name="Google Shape;520;p10"/>
          <p:cNvCxnSpPr/>
          <p:nvPr/>
        </p:nvCxnSpPr>
        <p:spPr>
          <a:xfrm>
            <a:off x="3081528" y="2450592"/>
            <a:ext cx="137160" cy="0"/>
          </a:xfrm>
          <a:prstGeom prst="straightConnector1">
            <a:avLst/>
          </a:prstGeom>
          <a:noFill/>
          <a:ln cap="flat" cmpd="sng" w="12700">
            <a:solidFill>
              <a:srgbClr val="8FA49B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21" name="Google Shape;521;p10"/>
          <p:cNvSpPr/>
          <p:nvPr/>
        </p:nvSpPr>
        <p:spPr>
          <a:xfrm>
            <a:off x="3218688" y="2011680"/>
            <a:ext cx="960120" cy="868680"/>
          </a:xfrm>
          <a:prstGeom prst="roundRect">
            <a:avLst>
              <a:gd fmla="val 8421" name="adj"/>
            </a:avLst>
          </a:prstGeom>
          <a:solidFill>
            <a:srgbClr val="FFFBEF"/>
          </a:solidFill>
          <a:ln cap="flat" cmpd="sng" w="12700">
            <a:solidFill>
              <a:srgbClr val="DCD4C7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10"/>
          <p:cNvSpPr/>
          <p:nvPr/>
        </p:nvSpPr>
        <p:spPr>
          <a:xfrm>
            <a:off x="3291840" y="2295144"/>
            <a:ext cx="8138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5A05A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C5A05A"/>
                </a:solidFill>
                <a:latin typeface="Arial"/>
                <a:ea typeface="Arial"/>
                <a:cs typeface="Arial"/>
                <a:sym typeface="Arial"/>
              </a:rPr>
              <a:t>38 entidades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3" name="Google Shape;523;p10"/>
          <p:cNvCxnSpPr/>
          <p:nvPr/>
        </p:nvCxnSpPr>
        <p:spPr>
          <a:xfrm>
            <a:off x="4178808" y="2450592"/>
            <a:ext cx="320040" cy="0"/>
          </a:xfrm>
          <a:prstGeom prst="straightConnector1">
            <a:avLst/>
          </a:prstGeom>
          <a:noFill/>
          <a:ln cap="flat" cmpd="sng" w="12700">
            <a:solidFill>
              <a:srgbClr val="8FA49B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24" name="Google Shape;524;p10"/>
          <p:cNvSpPr/>
          <p:nvPr/>
        </p:nvSpPr>
        <p:spPr>
          <a:xfrm>
            <a:off x="4498848" y="2011680"/>
            <a:ext cx="960120" cy="868680"/>
          </a:xfrm>
          <a:prstGeom prst="roundRect">
            <a:avLst>
              <a:gd fmla="val 8421" name="adj"/>
            </a:avLst>
          </a:prstGeom>
          <a:solidFill>
            <a:srgbClr val="F6F1E7"/>
          </a:solidFill>
          <a:ln cap="flat" cmpd="sng" w="12700">
            <a:solidFill>
              <a:srgbClr val="DCD4C7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5" name="Google Shape;525;p10"/>
          <p:cNvSpPr/>
          <p:nvPr/>
        </p:nvSpPr>
        <p:spPr>
          <a:xfrm>
            <a:off x="4572000" y="2295144"/>
            <a:ext cx="8138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WBS / paquetes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6" name="Google Shape;526;p10"/>
          <p:cNvCxnSpPr/>
          <p:nvPr/>
        </p:nvCxnSpPr>
        <p:spPr>
          <a:xfrm>
            <a:off x="5458968" y="2450592"/>
            <a:ext cx="320040" cy="0"/>
          </a:xfrm>
          <a:prstGeom prst="straightConnector1">
            <a:avLst/>
          </a:prstGeom>
          <a:noFill/>
          <a:ln cap="flat" cmpd="sng" w="12700">
            <a:solidFill>
              <a:srgbClr val="8FA49B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27" name="Google Shape;527;p10"/>
          <p:cNvSpPr/>
          <p:nvPr/>
        </p:nvSpPr>
        <p:spPr>
          <a:xfrm>
            <a:off x="5779008" y="2011680"/>
            <a:ext cx="960120" cy="868680"/>
          </a:xfrm>
          <a:prstGeom prst="roundRect">
            <a:avLst>
              <a:gd fmla="val 8421" name="adj"/>
            </a:avLst>
          </a:prstGeom>
          <a:solidFill>
            <a:srgbClr val="EEF4F1"/>
          </a:solidFill>
          <a:ln cap="flat" cmpd="sng" w="12700">
            <a:solidFill>
              <a:srgbClr val="DCD4C7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8" name="Google Shape;528;p10"/>
          <p:cNvSpPr/>
          <p:nvPr/>
        </p:nvSpPr>
        <p:spPr>
          <a:xfrm>
            <a:off x="5852160" y="2295144"/>
            <a:ext cx="8138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FA49B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8FA49B"/>
                </a:solidFill>
                <a:latin typeface="Arial"/>
                <a:ea typeface="Arial"/>
                <a:cs typeface="Arial"/>
                <a:sym typeface="Arial"/>
              </a:rPr>
              <a:t>Sprints / tareas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10"/>
          <p:cNvSpPr/>
          <p:nvPr/>
        </p:nvSpPr>
        <p:spPr>
          <a:xfrm>
            <a:off x="841248" y="3246120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800"/>
              <a:buFont typeface="Play"/>
              <a:buNone/>
            </a:pPr>
            <a:r>
              <a:rPr b="1" i="0" lang="en-US" sz="18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100% de trazabilidad reportada entre RF y CU, con cobertura explícita en la RTM del proyecto.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10"/>
          <p:cNvSpPr/>
          <p:nvPr/>
        </p:nvSpPr>
        <p:spPr>
          <a:xfrm>
            <a:off x="841248" y="3794760"/>
            <a:ext cx="155448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Priorización MoSCoW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10"/>
          <p:cNvSpPr/>
          <p:nvPr/>
        </p:nvSpPr>
        <p:spPr>
          <a:xfrm>
            <a:off x="841248" y="4032504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10"/>
          <p:cNvSpPr/>
          <p:nvPr/>
        </p:nvSpPr>
        <p:spPr>
          <a:xfrm>
            <a:off x="5184648" y="4032504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4E6E66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10"/>
          <p:cNvSpPr/>
          <p:nvPr/>
        </p:nvSpPr>
        <p:spPr>
          <a:xfrm>
            <a:off x="841248" y="4206240"/>
            <a:ext cx="4937760" cy="128016"/>
          </a:xfrm>
          <a:prstGeom prst="roundRect">
            <a:avLst>
              <a:gd fmla="val 21429" name="adj"/>
            </a:avLst>
          </a:prstGeom>
          <a:solidFill>
            <a:srgbClr val="EDE7DD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4" name="Google Shape;534;p10"/>
          <p:cNvSpPr/>
          <p:nvPr/>
        </p:nvSpPr>
        <p:spPr>
          <a:xfrm>
            <a:off x="841248" y="4206240"/>
            <a:ext cx="914400" cy="128016"/>
          </a:xfrm>
          <a:prstGeom prst="roundRect">
            <a:avLst>
              <a:gd fmla="val 21429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p10"/>
          <p:cNvSpPr/>
          <p:nvPr/>
        </p:nvSpPr>
        <p:spPr>
          <a:xfrm>
            <a:off x="841248" y="4654296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"/>
          <p:cNvSpPr/>
          <p:nvPr/>
        </p:nvSpPr>
        <p:spPr>
          <a:xfrm>
            <a:off x="5184648" y="4654296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B85C38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p10"/>
          <p:cNvSpPr/>
          <p:nvPr/>
        </p:nvSpPr>
        <p:spPr>
          <a:xfrm>
            <a:off x="841248" y="4828032"/>
            <a:ext cx="4937760" cy="128016"/>
          </a:xfrm>
          <a:prstGeom prst="roundRect">
            <a:avLst>
              <a:gd fmla="val 21429" name="adj"/>
            </a:avLst>
          </a:prstGeom>
          <a:solidFill>
            <a:srgbClr val="EDE7DD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10"/>
          <p:cNvSpPr/>
          <p:nvPr/>
        </p:nvSpPr>
        <p:spPr>
          <a:xfrm>
            <a:off x="841248" y="4828032"/>
            <a:ext cx="914400" cy="128016"/>
          </a:xfrm>
          <a:prstGeom prst="roundRect">
            <a:avLst>
              <a:gd fmla="val 21429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10"/>
          <p:cNvSpPr/>
          <p:nvPr/>
        </p:nvSpPr>
        <p:spPr>
          <a:xfrm>
            <a:off x="841248" y="5276088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10"/>
          <p:cNvSpPr/>
          <p:nvPr/>
        </p:nvSpPr>
        <p:spPr>
          <a:xfrm>
            <a:off x="5184648" y="5276088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C5A05A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10"/>
          <p:cNvSpPr/>
          <p:nvPr/>
        </p:nvSpPr>
        <p:spPr>
          <a:xfrm>
            <a:off x="841248" y="5449824"/>
            <a:ext cx="4937760" cy="128016"/>
          </a:xfrm>
          <a:prstGeom prst="roundRect">
            <a:avLst>
              <a:gd fmla="val 21429" name="adj"/>
            </a:avLst>
          </a:prstGeom>
          <a:solidFill>
            <a:srgbClr val="EDE7DD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2" name="Google Shape;542;p10"/>
          <p:cNvSpPr/>
          <p:nvPr/>
        </p:nvSpPr>
        <p:spPr>
          <a:xfrm>
            <a:off x="841248" y="5449824"/>
            <a:ext cx="914400" cy="128016"/>
          </a:xfrm>
          <a:prstGeom prst="roundRect">
            <a:avLst>
              <a:gd fmla="val 21429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3" name="Google Shape;543;p10"/>
          <p:cNvSpPr/>
          <p:nvPr/>
        </p:nvSpPr>
        <p:spPr>
          <a:xfrm>
            <a:off x="7223760" y="1234440"/>
            <a:ext cx="4389120" cy="4983480"/>
          </a:xfrm>
          <a:prstGeom prst="roundRect">
            <a:avLst>
              <a:gd fmla="val 1667" name="adj"/>
            </a:avLst>
          </a:prstGeom>
          <a:solidFill>
            <a:srgbClr val="FFFDFC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10"/>
          <p:cNvSpPr/>
          <p:nvPr/>
        </p:nvSpPr>
        <p:spPr>
          <a:xfrm>
            <a:off x="7452360" y="1444752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EVIDENCIA ESTRUCTURAL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10"/>
          <p:cNvSpPr/>
          <p:nvPr/>
        </p:nvSpPr>
        <p:spPr>
          <a:xfrm>
            <a:off x="7479792" y="1792224"/>
            <a:ext cx="178308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10"/>
          <p:cNvSpPr/>
          <p:nvPr/>
        </p:nvSpPr>
        <p:spPr>
          <a:xfrm>
            <a:off x="7479792" y="1792224"/>
            <a:ext cx="91440" cy="914400"/>
          </a:xfrm>
          <a:prstGeom prst="rect">
            <a:avLst/>
          </a:prstGeom>
          <a:solidFill>
            <a:srgbClr val="133A32"/>
          </a:solidFill>
          <a:ln cap="flat" cmpd="sng" w="12700">
            <a:solidFill>
              <a:srgbClr val="133A32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" name="Google Shape;547;p10"/>
          <p:cNvSpPr/>
          <p:nvPr/>
        </p:nvSpPr>
        <p:spPr>
          <a:xfrm>
            <a:off x="7680960" y="1956816"/>
            <a:ext cx="147218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23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" name="Google Shape;548;p10"/>
          <p:cNvSpPr/>
          <p:nvPr/>
        </p:nvSpPr>
        <p:spPr>
          <a:xfrm>
            <a:off x="7680960" y="2359152"/>
            <a:ext cx="14721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casos de uso documentados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p10"/>
          <p:cNvSpPr/>
          <p:nvPr/>
        </p:nvSpPr>
        <p:spPr>
          <a:xfrm>
            <a:off x="9436608" y="1792224"/>
            <a:ext cx="178308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10"/>
          <p:cNvSpPr/>
          <p:nvPr/>
        </p:nvSpPr>
        <p:spPr>
          <a:xfrm>
            <a:off x="9436608" y="1792224"/>
            <a:ext cx="91440" cy="914400"/>
          </a:xfrm>
          <a:prstGeom prst="rect">
            <a:avLst/>
          </a:prstGeom>
          <a:solidFill>
            <a:srgbClr val="B85C38"/>
          </a:solidFill>
          <a:ln cap="flat" cmpd="sng" w="12700">
            <a:solidFill>
              <a:srgbClr val="B85C3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1" name="Google Shape;551;p10"/>
          <p:cNvSpPr/>
          <p:nvPr/>
        </p:nvSpPr>
        <p:spPr>
          <a:xfrm>
            <a:off x="9637776" y="1956816"/>
            <a:ext cx="147218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B85C38"/>
                </a:solidFill>
                <a:latin typeface="Play"/>
                <a:ea typeface="Play"/>
                <a:cs typeface="Play"/>
                <a:sym typeface="Play"/>
              </a:rPr>
              <a:t>12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10"/>
          <p:cNvSpPr/>
          <p:nvPr/>
        </p:nvSpPr>
        <p:spPr>
          <a:xfrm>
            <a:off x="9637776" y="2359152"/>
            <a:ext cx="14721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casos expandidos con escenario completo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10"/>
          <p:cNvSpPr/>
          <p:nvPr/>
        </p:nvSpPr>
        <p:spPr>
          <a:xfrm>
            <a:off x="7479792" y="2907792"/>
            <a:ext cx="178308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10"/>
          <p:cNvSpPr/>
          <p:nvPr/>
        </p:nvSpPr>
        <p:spPr>
          <a:xfrm>
            <a:off x="7479792" y="2907792"/>
            <a:ext cx="91440" cy="914400"/>
          </a:xfrm>
          <a:prstGeom prst="rect">
            <a:avLst/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10"/>
          <p:cNvSpPr/>
          <p:nvPr/>
        </p:nvSpPr>
        <p:spPr>
          <a:xfrm>
            <a:off x="7680960" y="3072384"/>
            <a:ext cx="147218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E66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4E6E66"/>
                </a:solidFill>
                <a:latin typeface="Play"/>
                <a:ea typeface="Play"/>
                <a:cs typeface="Play"/>
                <a:sym typeface="Play"/>
              </a:rPr>
              <a:t>4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10"/>
          <p:cNvSpPr/>
          <p:nvPr/>
        </p:nvSpPr>
        <p:spPr>
          <a:xfrm>
            <a:off x="7680960" y="3474720"/>
            <a:ext cx="14721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módulos lógicos del WBS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p10"/>
          <p:cNvSpPr/>
          <p:nvPr/>
        </p:nvSpPr>
        <p:spPr>
          <a:xfrm>
            <a:off x="9436608" y="2907792"/>
            <a:ext cx="178308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10"/>
          <p:cNvSpPr/>
          <p:nvPr/>
        </p:nvSpPr>
        <p:spPr>
          <a:xfrm>
            <a:off x="9436608" y="2907792"/>
            <a:ext cx="91440" cy="914400"/>
          </a:xfrm>
          <a:prstGeom prst="rect">
            <a:avLst/>
          </a:prstGeom>
          <a:solidFill>
            <a:srgbClr val="C5A05A"/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10"/>
          <p:cNvSpPr/>
          <p:nvPr/>
        </p:nvSpPr>
        <p:spPr>
          <a:xfrm>
            <a:off x="9637776" y="3072384"/>
            <a:ext cx="147218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A05A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C5A05A"/>
                </a:solidFill>
                <a:latin typeface="Play"/>
                <a:ea typeface="Play"/>
                <a:cs typeface="Play"/>
                <a:sym typeface="Play"/>
              </a:rPr>
              <a:t>16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10"/>
          <p:cNvSpPr/>
          <p:nvPr/>
        </p:nvSpPr>
        <p:spPr>
          <a:xfrm>
            <a:off x="9637776" y="3474720"/>
            <a:ext cx="14721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paquetes de trabajo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10"/>
          <p:cNvSpPr/>
          <p:nvPr/>
        </p:nvSpPr>
        <p:spPr>
          <a:xfrm>
            <a:off x="7479792" y="4169664"/>
            <a:ext cx="37033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La RTM permitió vincular prioridad, actor, validación, cobertura y estado de cada requerimiento.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10"/>
          <p:cNvSpPr/>
          <p:nvPr/>
        </p:nvSpPr>
        <p:spPr>
          <a:xfrm>
            <a:off x="7479792" y="4709160"/>
            <a:ext cx="3703320" cy="841248"/>
          </a:xfrm>
          <a:prstGeom prst="roundRect">
            <a:avLst>
              <a:gd fmla="val 8696" name="adj"/>
            </a:avLst>
          </a:prstGeom>
          <a:solidFill>
            <a:srgbClr val="FCF8F2"/>
          </a:solidFill>
          <a:ln cap="flat" cmpd="sng" w="12700">
            <a:solidFill>
              <a:srgbClr val="E8D9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10"/>
          <p:cNvSpPr/>
          <p:nvPr/>
        </p:nvSpPr>
        <p:spPr>
          <a:xfrm>
            <a:off x="7644384" y="4855464"/>
            <a:ext cx="33741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26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1E2A26"/>
                </a:solidFill>
                <a:latin typeface="Arial"/>
                <a:ea typeface="Arial"/>
                <a:cs typeface="Arial"/>
                <a:sym typeface="Arial"/>
              </a:rPr>
              <a:t>“La trazabilidad fue un mecanismo de control, pero también un dispositivo de calidad académica.”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10"/>
          <p:cNvSpPr/>
          <p:nvPr/>
        </p:nvSpPr>
        <p:spPr>
          <a:xfrm>
            <a:off x="11430000" y="6419088"/>
            <a:ext cx="29260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10"/>
          <p:cNvSpPr/>
          <p:nvPr/>
        </p:nvSpPr>
        <p:spPr>
          <a:xfrm>
            <a:off x="7680960" y="6419088"/>
            <a:ext cx="3291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750"/>
              <a:buFont typeface="Arial"/>
              <a:buNone/>
            </a:pPr>
            <a:r>
              <a:rPr b="0" i="1" lang="en-US" sz="75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Fuentes: documento final + repo RAICES_VIVAS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33A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p11"/>
          <p:cNvSpPr/>
          <p:nvPr/>
        </p:nvSpPr>
        <p:spPr>
          <a:xfrm>
            <a:off x="320040" y="0"/>
            <a:ext cx="11871655" cy="502920"/>
          </a:xfrm>
          <a:prstGeom prst="rect">
            <a:avLst/>
          </a:prstGeom>
          <a:solidFill>
            <a:srgbClr val="E9DE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11"/>
          <p:cNvSpPr txBox="1"/>
          <p:nvPr/>
        </p:nvSpPr>
        <p:spPr>
          <a:xfrm>
            <a:off x="731520" y="914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85C38"/>
                </a:solidFill>
                <a:latin typeface="Calibri"/>
                <a:ea typeface="Calibri"/>
                <a:cs typeface="Calibri"/>
                <a:sym typeface="Calibri"/>
              </a:rPr>
              <a:t>ANEXO TRAZABILIDAD · A.3</a:t>
            </a:r>
            <a:endParaRPr/>
          </a:p>
        </p:txBody>
      </p:sp>
      <p:sp>
        <p:nvSpPr>
          <p:cNvPr id="574" name="Google Shape;574;p11"/>
          <p:cNvSpPr txBox="1"/>
          <p:nvPr/>
        </p:nvSpPr>
        <p:spPr>
          <a:xfrm>
            <a:off x="10698480" y="91440"/>
            <a:ext cx="1188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Raíces Vivas · Entrega Final · CENFOTEC</a:t>
            </a:r>
            <a:endParaRPr/>
          </a:p>
        </p:txBody>
      </p:sp>
      <p:sp>
        <p:nvSpPr>
          <p:cNvPr id="575" name="Google Shape;575;p11"/>
          <p:cNvSpPr txBox="1"/>
          <p:nvPr/>
        </p:nvSpPr>
        <p:spPr>
          <a:xfrm>
            <a:off x="731520" y="640080"/>
            <a:ext cx="106070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33A32"/>
                </a:solidFill>
                <a:latin typeface="Calibri"/>
                <a:ea typeface="Calibri"/>
                <a:cs typeface="Calibri"/>
                <a:sym typeface="Calibri"/>
              </a:rPr>
              <a:t>Casos de Uso — Diagrama UML</a:t>
            </a:r>
            <a:endParaRPr/>
          </a:p>
        </p:txBody>
      </p:sp>
      <p:sp>
        <p:nvSpPr>
          <p:cNvPr id="576" name="Google Shape;576;p11"/>
          <p:cNvSpPr txBox="1"/>
          <p:nvPr/>
        </p:nvSpPr>
        <p:spPr>
          <a:xfrm>
            <a:off x="731520" y="1325880"/>
            <a:ext cx="10607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6E66"/>
                </a:solidFill>
                <a:latin typeface="Calibri"/>
                <a:ea typeface="Calibri"/>
                <a:cs typeface="Calibri"/>
                <a:sym typeface="Calibri"/>
              </a:rPr>
              <a:t>23 casos de uso · 4 módulos</a:t>
            </a:r>
            <a:endParaRPr/>
          </a:p>
        </p:txBody>
      </p:sp>
      <p:sp>
        <p:nvSpPr>
          <p:cNvPr id="577" name="Google Shape;577;p11"/>
          <p:cNvSpPr/>
          <p:nvPr/>
        </p:nvSpPr>
        <p:spPr>
          <a:xfrm>
            <a:off x="685800" y="1828800"/>
            <a:ext cx="10789920" cy="40233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9DEC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agram_usecase.png" id="578" name="Google Shape;578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82521" y="1929384"/>
            <a:ext cx="4796476" cy="3822191"/>
          </a:xfrm>
          <a:prstGeom prst="rect">
            <a:avLst/>
          </a:prstGeom>
          <a:noFill/>
          <a:ln>
            <a:noFill/>
          </a:ln>
        </p:spPr>
      </p:pic>
      <p:sp>
        <p:nvSpPr>
          <p:cNvPr id="579" name="Google Shape;579;p11"/>
          <p:cNvSpPr/>
          <p:nvPr/>
        </p:nvSpPr>
        <p:spPr>
          <a:xfrm>
            <a:off x="320040" y="5989320"/>
            <a:ext cx="11871655" cy="685800"/>
          </a:xfrm>
          <a:prstGeom prst="rect">
            <a:avLst/>
          </a:prstGeom>
          <a:solidFill>
            <a:srgbClr val="133A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11"/>
          <p:cNvSpPr txBox="1"/>
          <p:nvPr/>
        </p:nvSpPr>
        <p:spPr>
          <a:xfrm>
            <a:off x="731520" y="6035040"/>
            <a:ext cx="10607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5EDE0"/>
                </a:solidFill>
                <a:latin typeface="Calibri"/>
                <a:ea typeface="Calibri"/>
                <a:cs typeface="Calibri"/>
                <a:sym typeface="Calibri"/>
              </a:rPr>
              <a:t>Actores (docente · estudiante · portador · consejo · ATAP · admin) conectados a los 23 casos de uso, agrupados por módulo EDU/SAB/SAL/TRANS. Base de la matriz RF↔CU del proyecto.</a:t>
            </a:r>
            <a:endParaRPr/>
          </a:p>
        </p:txBody>
      </p:sp>
      <p:pic>
        <p:nvPicPr>
          <p:cNvPr descr="logo-cenfotec-200x200.png" id="581" name="Google Shape;581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430000" y="6172200"/>
            <a:ext cx="411480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1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33A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12"/>
          <p:cNvSpPr/>
          <p:nvPr/>
        </p:nvSpPr>
        <p:spPr>
          <a:xfrm>
            <a:off x="320040" y="0"/>
            <a:ext cx="11871655" cy="502920"/>
          </a:xfrm>
          <a:prstGeom prst="rect">
            <a:avLst/>
          </a:prstGeom>
          <a:solidFill>
            <a:srgbClr val="E9DE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12"/>
          <p:cNvSpPr txBox="1"/>
          <p:nvPr/>
        </p:nvSpPr>
        <p:spPr>
          <a:xfrm>
            <a:off x="731520" y="914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85C38"/>
                </a:solidFill>
                <a:latin typeface="Calibri"/>
                <a:ea typeface="Calibri"/>
                <a:cs typeface="Calibri"/>
                <a:sym typeface="Calibri"/>
              </a:rPr>
              <a:t>ANEXO TRAZABILIDAD · A.4</a:t>
            </a:r>
            <a:endParaRPr/>
          </a:p>
        </p:txBody>
      </p:sp>
      <p:sp>
        <p:nvSpPr>
          <p:cNvPr id="590" name="Google Shape;590;p12"/>
          <p:cNvSpPr txBox="1"/>
          <p:nvPr/>
        </p:nvSpPr>
        <p:spPr>
          <a:xfrm>
            <a:off x="10698480" y="91440"/>
            <a:ext cx="1188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Raíces Vivas · Entrega Final · CENFOTEC</a:t>
            </a:r>
            <a:endParaRPr/>
          </a:p>
        </p:txBody>
      </p:sp>
      <p:sp>
        <p:nvSpPr>
          <p:cNvPr id="591" name="Google Shape;591;p12"/>
          <p:cNvSpPr txBox="1"/>
          <p:nvPr/>
        </p:nvSpPr>
        <p:spPr>
          <a:xfrm>
            <a:off x="731520" y="640080"/>
            <a:ext cx="106070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33A32"/>
                </a:solidFill>
                <a:latin typeface="Calibri"/>
                <a:ea typeface="Calibri"/>
                <a:cs typeface="Calibri"/>
                <a:sym typeface="Calibri"/>
              </a:rPr>
              <a:t>Actores × Módulos — Matriz de responsabilidades</a:t>
            </a:r>
            <a:endParaRPr/>
          </a:p>
        </p:txBody>
      </p:sp>
      <p:sp>
        <p:nvSpPr>
          <p:cNvPr id="592" name="Google Shape;592;p12"/>
          <p:cNvSpPr txBox="1"/>
          <p:nvPr/>
        </p:nvSpPr>
        <p:spPr>
          <a:xfrm>
            <a:off x="731520" y="1325880"/>
            <a:ext cx="10607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6E66"/>
                </a:solidFill>
                <a:latin typeface="Calibri"/>
                <a:ea typeface="Calibri"/>
                <a:cs typeface="Calibri"/>
                <a:sym typeface="Calibri"/>
              </a:rPr>
              <a:t>Quién interactúa con qué</a:t>
            </a:r>
            <a:endParaRPr/>
          </a:p>
        </p:txBody>
      </p:sp>
      <p:sp>
        <p:nvSpPr>
          <p:cNvPr id="593" name="Google Shape;593;p12"/>
          <p:cNvSpPr/>
          <p:nvPr/>
        </p:nvSpPr>
        <p:spPr>
          <a:xfrm>
            <a:off x="685800" y="1828800"/>
            <a:ext cx="10789920" cy="40233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9DEC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agram_actor_modulo.png" id="594" name="Google Shape;594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11455" y="1929384"/>
            <a:ext cx="7338608" cy="3822191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12"/>
          <p:cNvSpPr/>
          <p:nvPr/>
        </p:nvSpPr>
        <p:spPr>
          <a:xfrm>
            <a:off x="320040" y="5989320"/>
            <a:ext cx="11871655" cy="685800"/>
          </a:xfrm>
          <a:prstGeom prst="rect">
            <a:avLst/>
          </a:prstGeom>
          <a:solidFill>
            <a:srgbClr val="133A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12"/>
          <p:cNvSpPr txBox="1"/>
          <p:nvPr/>
        </p:nvSpPr>
        <p:spPr>
          <a:xfrm>
            <a:off x="731520" y="6035040"/>
            <a:ext cx="10607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5EDE0"/>
                </a:solidFill>
                <a:latin typeface="Calibri"/>
                <a:ea typeface="Calibri"/>
                <a:cs typeface="Calibri"/>
                <a:sym typeface="Calibri"/>
              </a:rPr>
              <a:t>Mapeo bidireccional de los 9 actores primarios y 4 módulos funcionales. Justifica los niveles CARE y la segregación de permisos en la arquitectura.</a:t>
            </a:r>
            <a:endParaRPr/>
          </a:p>
        </p:txBody>
      </p:sp>
      <p:pic>
        <p:nvPicPr>
          <p:cNvPr descr="logo-cenfotec-200x200.png" id="597" name="Google Shape;597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430000" y="6172200"/>
            <a:ext cx="411480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1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33A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3"/>
          <p:cNvSpPr/>
          <p:nvPr/>
        </p:nvSpPr>
        <p:spPr>
          <a:xfrm>
            <a:off x="320040" y="0"/>
            <a:ext cx="11871655" cy="502920"/>
          </a:xfrm>
          <a:prstGeom prst="rect">
            <a:avLst/>
          </a:prstGeom>
          <a:solidFill>
            <a:srgbClr val="E9DE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3"/>
          <p:cNvSpPr txBox="1"/>
          <p:nvPr/>
        </p:nvSpPr>
        <p:spPr>
          <a:xfrm>
            <a:off x="731520" y="914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85C38"/>
                </a:solidFill>
                <a:latin typeface="Calibri"/>
                <a:ea typeface="Calibri"/>
                <a:cs typeface="Calibri"/>
                <a:sym typeface="Calibri"/>
              </a:rPr>
              <a:t>ANEXO TRAZABILIDAD · A.5</a:t>
            </a:r>
            <a:endParaRPr/>
          </a:p>
        </p:txBody>
      </p:sp>
      <p:sp>
        <p:nvSpPr>
          <p:cNvPr id="606" name="Google Shape;606;p13"/>
          <p:cNvSpPr txBox="1"/>
          <p:nvPr/>
        </p:nvSpPr>
        <p:spPr>
          <a:xfrm>
            <a:off x="10698480" y="91440"/>
            <a:ext cx="1188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Raíces Vivas · Entrega Final · CENFOTEC</a:t>
            </a:r>
            <a:endParaRPr/>
          </a:p>
        </p:txBody>
      </p:sp>
      <p:sp>
        <p:nvSpPr>
          <p:cNvPr id="607" name="Google Shape;607;p13"/>
          <p:cNvSpPr txBox="1"/>
          <p:nvPr/>
        </p:nvSpPr>
        <p:spPr>
          <a:xfrm>
            <a:off x="731520" y="640080"/>
            <a:ext cx="106070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33A32"/>
                </a:solidFill>
                <a:latin typeface="Calibri"/>
                <a:ea typeface="Calibri"/>
                <a:cs typeface="Calibri"/>
                <a:sym typeface="Calibri"/>
              </a:rPr>
              <a:t>QFD — Voz del usuario → requerimiento técnico</a:t>
            </a:r>
            <a:endParaRPr/>
          </a:p>
        </p:txBody>
      </p:sp>
      <p:sp>
        <p:nvSpPr>
          <p:cNvPr id="608" name="Google Shape;608;p13"/>
          <p:cNvSpPr txBox="1"/>
          <p:nvPr/>
        </p:nvSpPr>
        <p:spPr>
          <a:xfrm>
            <a:off x="731520" y="1325880"/>
            <a:ext cx="10607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6E66"/>
                </a:solidFill>
                <a:latin typeface="Calibri"/>
                <a:ea typeface="Calibri"/>
                <a:cs typeface="Calibri"/>
                <a:sym typeface="Calibri"/>
              </a:rPr>
              <a:t>Casa de la calidad del proyecto</a:t>
            </a:r>
            <a:endParaRPr/>
          </a:p>
        </p:txBody>
      </p:sp>
      <p:sp>
        <p:nvSpPr>
          <p:cNvPr id="609" name="Google Shape;609;p13"/>
          <p:cNvSpPr/>
          <p:nvPr/>
        </p:nvSpPr>
        <p:spPr>
          <a:xfrm>
            <a:off x="685800" y="1828800"/>
            <a:ext cx="10789920" cy="40233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9DEC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agram_qfd.png" id="610" name="Google Shape;61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5015" y="1929384"/>
            <a:ext cx="4391489" cy="3822191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13"/>
          <p:cNvSpPr/>
          <p:nvPr/>
        </p:nvSpPr>
        <p:spPr>
          <a:xfrm>
            <a:off x="320040" y="5989320"/>
            <a:ext cx="11871655" cy="685800"/>
          </a:xfrm>
          <a:prstGeom prst="rect">
            <a:avLst/>
          </a:prstGeom>
          <a:solidFill>
            <a:srgbClr val="133A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p13"/>
          <p:cNvSpPr txBox="1"/>
          <p:nvPr/>
        </p:nvSpPr>
        <p:spPr>
          <a:xfrm>
            <a:off x="731520" y="6035040"/>
            <a:ext cx="10607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5EDE0"/>
                </a:solidFill>
                <a:latin typeface="Calibri"/>
                <a:ea typeface="Calibri"/>
                <a:cs typeface="Calibri"/>
                <a:sym typeface="Calibri"/>
              </a:rPr>
              <a:t>Priorización de requerimientos funcionales según el peso de cada necesidad levantada en campo. Fundamenta la clasificación MoSCoW (12 Must · 7 Should · 4 Could).</a:t>
            </a:r>
            <a:endParaRPr/>
          </a:p>
        </p:txBody>
      </p:sp>
      <p:pic>
        <p:nvPicPr>
          <p:cNvPr descr="logo-cenfotec-200x200.png" id="613" name="Google Shape;613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430000" y="6172200"/>
            <a:ext cx="411480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DFC"/>
        </a:solidFill>
      </p:bgPr>
    </p:bg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C"/>
          </a:solidFill>
          <a:ln cap="flat" cmpd="sng" w="12700">
            <a:solidFill>
              <a:srgbClr val="FFFDF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0" name="Google Shape;620;p14"/>
          <p:cNvSpPr/>
          <p:nvPr/>
        </p:nvSpPr>
        <p:spPr>
          <a:xfrm>
            <a:off x="-640080" y="-1097280"/>
            <a:ext cx="2926080" cy="2926080"/>
          </a:xfrm>
          <a:prstGeom prst="ellipse">
            <a:avLst/>
          </a:prstGeom>
          <a:solidFill>
            <a:srgbClr val="E8D9C4">
              <a:alpha val="65098"/>
            </a:srgbClr>
          </a:solidFill>
          <a:ln cap="flat" cmpd="sng" w="12700">
            <a:solidFill>
              <a:srgbClr val="E8D9C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4"/>
          <p:cNvSpPr/>
          <p:nvPr/>
        </p:nvSpPr>
        <p:spPr>
          <a:xfrm>
            <a:off x="10287000" y="5166360"/>
            <a:ext cx="2286000" cy="2286000"/>
          </a:xfrm>
          <a:prstGeom prst="ellipse">
            <a:avLst/>
          </a:prstGeom>
          <a:solidFill>
            <a:srgbClr val="8FA49B">
              <a:alpha val="25098"/>
            </a:srgbClr>
          </a:solidFill>
          <a:ln cap="flat" cmpd="sng" w="12700">
            <a:solidFill>
              <a:srgbClr val="8FA49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2" name="Google Shape;622;p14"/>
          <p:cNvSpPr/>
          <p:nvPr/>
        </p:nvSpPr>
        <p:spPr>
          <a:xfrm>
            <a:off x="9784080" y="-640080"/>
            <a:ext cx="2743200" cy="2743200"/>
          </a:xfrm>
          <a:prstGeom prst="ellipse">
            <a:avLst/>
          </a:prstGeom>
          <a:solidFill>
            <a:srgbClr val="C5A05A">
              <a:alpha val="18039"/>
            </a:srgbClr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4"/>
          <p:cNvSpPr/>
          <p:nvPr/>
        </p:nvSpPr>
        <p:spPr>
          <a:xfrm>
            <a:off x="411480" y="310896"/>
            <a:ext cx="11384280" cy="9144"/>
          </a:xfrm>
          <a:prstGeom prst="rect">
            <a:avLst/>
          </a:prstGeom>
          <a:solidFill>
            <a:srgbClr val="D9D1C5">
              <a:alpha val="0"/>
            </a:srgbClr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4" name="Google Shape;624;p14"/>
          <p:cNvSpPr/>
          <p:nvPr/>
        </p:nvSpPr>
        <p:spPr>
          <a:xfrm>
            <a:off x="548640" y="164592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GOBERNANZA DEL PROYECTO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14"/>
          <p:cNvSpPr/>
          <p:nvPr/>
        </p:nvSpPr>
        <p:spPr>
          <a:xfrm>
            <a:off x="548640" y="384048"/>
            <a:ext cx="8138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400"/>
              <a:buFont typeface="Play"/>
              <a:buNone/>
            </a:pPr>
            <a:r>
              <a:rPr b="1" i="0" lang="en-US" sz="24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Modelo operativo de gestión: Obsidian + GitHub + Jira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p14"/>
          <p:cNvSpPr/>
          <p:nvPr/>
        </p:nvSpPr>
        <p:spPr>
          <a:xfrm>
            <a:off x="548640" y="6446520"/>
            <a:ext cx="4023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Raíces Vivas · Entrega Final · CENFOTEC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14"/>
          <p:cNvSpPr/>
          <p:nvPr/>
        </p:nvSpPr>
        <p:spPr>
          <a:xfrm>
            <a:off x="566928" y="868680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El equipo separó conocimiento y operación: documentación en Obsidian, versionado en GitHub y ejecución de sprint en Jira Cloud.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14"/>
          <p:cNvSpPr/>
          <p:nvPr/>
        </p:nvSpPr>
        <p:spPr>
          <a:xfrm>
            <a:off x="566928" y="1234440"/>
            <a:ext cx="7406640" cy="4983480"/>
          </a:xfrm>
          <a:prstGeom prst="roundRect">
            <a:avLst>
              <a:gd fmla="val 1468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9" name="Google Shape;629;p14"/>
          <p:cNvSpPr/>
          <p:nvPr/>
        </p:nvSpPr>
        <p:spPr>
          <a:xfrm>
            <a:off x="804672" y="1444752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ARQUITECTURA HÍBRIDA DE GESTIÓN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p14"/>
          <p:cNvSpPr/>
          <p:nvPr/>
        </p:nvSpPr>
        <p:spPr>
          <a:xfrm>
            <a:off x="914400" y="1874520"/>
            <a:ext cx="1920240" cy="2834640"/>
          </a:xfrm>
          <a:prstGeom prst="roundRect">
            <a:avLst>
              <a:gd fmla="val 3810" name="adj"/>
            </a:avLst>
          </a:prstGeom>
          <a:solidFill>
            <a:srgbClr val="F6FBF8"/>
          </a:solidFill>
          <a:ln cap="flat" cmpd="sng" w="12700">
            <a:solidFill>
              <a:srgbClr val="D7E6DE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1" name="Google Shape;631;p14"/>
          <p:cNvSpPr/>
          <p:nvPr/>
        </p:nvSpPr>
        <p:spPr>
          <a:xfrm>
            <a:off x="1161288" y="2084832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900"/>
              <a:buFont typeface="Play"/>
              <a:buNone/>
            </a:pPr>
            <a:r>
              <a:rPr b="1" i="0" lang="en-US" sz="19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Obsidian Vault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p14"/>
          <p:cNvSpPr/>
          <p:nvPr/>
        </p:nvSpPr>
        <p:spPr>
          <a:xfrm>
            <a:off x="1097280" y="2487168"/>
            <a:ext cx="1572768" cy="1325880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060"/>
              <a:buFont typeface="Arial"/>
              <a:buNone/>
            </a:pPr>
            <a:r>
              <a:rPr b="0" i="0" lang="en-US" sz="106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Requerimientos RF/RNF</a:t>
            </a:r>
            <a:br>
              <a:rPr b="0" i="0" lang="en-US" sz="106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6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Investigación y minutas</a:t>
            </a:r>
            <a:br>
              <a:rPr b="0" i="0" lang="en-US" sz="106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6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ADR, riesgos y RTM</a:t>
            </a:r>
            <a:br>
              <a:rPr b="0" i="0" lang="en-US" sz="106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6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Dataview + SQLSeal dashboards</a:t>
            </a:r>
            <a:br>
              <a:rPr b="0" i="0" lang="en-US" sz="106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6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Frontmatter estructurado</a:t>
            </a:r>
            <a:endParaRPr b="0" i="0" sz="10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14"/>
          <p:cNvSpPr/>
          <p:nvPr/>
        </p:nvSpPr>
        <p:spPr>
          <a:xfrm>
            <a:off x="3246120" y="2057400"/>
            <a:ext cx="1783080" cy="2468880"/>
          </a:xfrm>
          <a:prstGeom prst="roundRect">
            <a:avLst>
              <a:gd fmla="val 4103" name="adj"/>
            </a:avLst>
          </a:prstGeom>
          <a:solidFill>
            <a:srgbClr val="FFFDFC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4" name="Google Shape;634;p14"/>
          <p:cNvSpPr/>
          <p:nvPr/>
        </p:nvSpPr>
        <p:spPr>
          <a:xfrm>
            <a:off x="3365000" y="2176350"/>
            <a:ext cx="1463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Puente de sincronización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14"/>
          <p:cNvSpPr/>
          <p:nvPr/>
        </p:nvSpPr>
        <p:spPr>
          <a:xfrm>
            <a:off x="3456432" y="2670048"/>
            <a:ext cx="1353312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80"/>
              <a:buFont typeface="Arial"/>
              <a:buNone/>
            </a:pPr>
            <a:r>
              <a:rPr b="0" i="0" lang="en-US" sz="9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Plugin obsidian-jira-issue</a:t>
            </a:r>
            <a:br>
              <a:rPr b="0" i="0" lang="en-US" sz="9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jira_key en frontmatter</a:t>
            </a:r>
            <a:br>
              <a:rPr b="0" i="0" lang="en-US" sz="9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API token / REST v3</a:t>
            </a:r>
            <a:br>
              <a:rPr b="0" i="0" lang="en-US" sz="9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9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Scripts de carga y sync</a:t>
            </a:r>
            <a:endParaRPr b="0" i="0" sz="9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14"/>
          <p:cNvSpPr/>
          <p:nvPr/>
        </p:nvSpPr>
        <p:spPr>
          <a:xfrm>
            <a:off x="5440680" y="1874520"/>
            <a:ext cx="1920240" cy="2834640"/>
          </a:xfrm>
          <a:prstGeom prst="roundRect">
            <a:avLst>
              <a:gd fmla="val 3810" name="adj"/>
            </a:avLst>
          </a:prstGeom>
          <a:solidFill>
            <a:srgbClr val="FFF7F4"/>
          </a:solidFill>
          <a:ln cap="flat" cmpd="sng" w="12700">
            <a:solidFill>
              <a:srgbClr val="EBD4CB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7" name="Google Shape;637;p14"/>
          <p:cNvSpPr/>
          <p:nvPr/>
        </p:nvSpPr>
        <p:spPr>
          <a:xfrm>
            <a:off x="5669280" y="2084832"/>
            <a:ext cx="14630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1900"/>
              <a:buFont typeface="Play"/>
              <a:buNone/>
            </a:pPr>
            <a:r>
              <a:rPr b="1" i="0" lang="en-US" sz="1900" u="none" cap="none" strike="noStrike">
                <a:solidFill>
                  <a:srgbClr val="B85C38"/>
                </a:solidFill>
                <a:latin typeface="Play"/>
                <a:ea typeface="Play"/>
                <a:cs typeface="Play"/>
                <a:sym typeface="Play"/>
              </a:rPr>
              <a:t>Jira Cloud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14"/>
          <p:cNvSpPr/>
          <p:nvPr/>
        </p:nvSpPr>
        <p:spPr>
          <a:xfrm>
            <a:off x="5614416" y="2487168"/>
            <a:ext cx="1572768" cy="1325880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060"/>
              <a:buFont typeface="Arial"/>
              <a:buNone/>
            </a:pPr>
            <a:r>
              <a:rPr b="0" i="0" lang="en-US" sz="106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Epics, stories y tasks</a:t>
            </a:r>
            <a:br>
              <a:rPr b="0" i="0" lang="en-US" sz="106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6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Sprints y board visual</a:t>
            </a:r>
            <a:br>
              <a:rPr b="0" i="0" lang="en-US" sz="106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6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Burndown y velocity</a:t>
            </a:r>
            <a:br>
              <a:rPr b="0" i="0" lang="en-US" sz="106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6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Status y asignación</a:t>
            </a:r>
            <a:br>
              <a:rPr b="0" i="0" lang="en-US" sz="106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6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JQL y seguimiento</a:t>
            </a:r>
            <a:endParaRPr b="0" i="0" sz="10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39" name="Google Shape;639;p14"/>
          <p:cNvCxnSpPr/>
          <p:nvPr/>
        </p:nvCxnSpPr>
        <p:spPr>
          <a:xfrm>
            <a:off x="2834640" y="3291840"/>
            <a:ext cx="411480" cy="0"/>
          </a:xfrm>
          <a:prstGeom prst="straightConnector1">
            <a:avLst/>
          </a:prstGeom>
          <a:noFill/>
          <a:ln cap="flat" cmpd="sng" w="12700">
            <a:solidFill>
              <a:srgbClr val="4E6E66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40" name="Google Shape;640;p14"/>
          <p:cNvCxnSpPr/>
          <p:nvPr/>
        </p:nvCxnSpPr>
        <p:spPr>
          <a:xfrm>
            <a:off x="5029200" y="3291840"/>
            <a:ext cx="411480" cy="0"/>
          </a:xfrm>
          <a:prstGeom prst="straightConnector1">
            <a:avLst/>
          </a:prstGeom>
          <a:noFill/>
          <a:ln cap="flat" cmpd="sng" w="12700">
            <a:solidFill>
              <a:srgbClr val="B85C3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641" name="Google Shape;641;p14"/>
          <p:cNvSpPr/>
          <p:nvPr/>
        </p:nvSpPr>
        <p:spPr>
          <a:xfrm>
            <a:off x="941832" y="4882896"/>
            <a:ext cx="182880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E6E66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4E6E66"/>
                </a:solidFill>
                <a:latin typeface="Arial"/>
                <a:ea typeface="Arial"/>
                <a:cs typeface="Arial"/>
                <a:sym typeface="Arial"/>
              </a:rPr>
              <a:t>Documentación = fuente de verdad contextual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14"/>
          <p:cNvSpPr/>
          <p:nvPr/>
        </p:nvSpPr>
        <p:spPr>
          <a:xfrm>
            <a:off x="5458968" y="4882896"/>
            <a:ext cx="182880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Operación = fuente de verdad de estado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14"/>
          <p:cNvSpPr/>
          <p:nvPr/>
        </p:nvSpPr>
        <p:spPr>
          <a:xfrm>
            <a:off x="868680" y="5102352"/>
            <a:ext cx="6858000" cy="658368"/>
          </a:xfrm>
          <a:prstGeom prst="roundRect">
            <a:avLst>
              <a:gd fmla="val 11111" name="adj"/>
            </a:avLst>
          </a:prstGeom>
          <a:solidFill>
            <a:srgbClr val="FBF7F0"/>
          </a:solidFill>
          <a:ln cap="flat" cmpd="sng" w="12700">
            <a:solidFill>
              <a:srgbClr val="E4DBCF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4" name="Google Shape;644;p14"/>
          <p:cNvSpPr/>
          <p:nvPr/>
        </p:nvSpPr>
        <p:spPr>
          <a:xfrm>
            <a:off x="1051560" y="5330952"/>
            <a:ext cx="64922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Resultado: trazabilidad viva, respaldo distribuido, dashboards automáticos y sincronización entre notas del vault y issues de Jira mediante clave vinculante.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5" name="Google Shape;645;p14"/>
          <p:cNvSpPr/>
          <p:nvPr/>
        </p:nvSpPr>
        <p:spPr>
          <a:xfrm>
            <a:off x="8229600" y="1234440"/>
            <a:ext cx="3383280" cy="4983480"/>
          </a:xfrm>
          <a:prstGeom prst="roundRect">
            <a:avLst>
              <a:gd fmla="val 2162" name="adj"/>
            </a:avLst>
          </a:prstGeom>
          <a:solidFill>
            <a:srgbClr val="FFFDFC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6" name="Google Shape;646;p14"/>
          <p:cNvSpPr/>
          <p:nvPr/>
        </p:nvSpPr>
        <p:spPr>
          <a:xfrm>
            <a:off x="8458200" y="1444752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QUÉ GANÓ EL PROYECTO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7" name="Google Shape;647;p14"/>
          <p:cNvSpPr/>
          <p:nvPr/>
        </p:nvSpPr>
        <p:spPr>
          <a:xfrm>
            <a:off x="8485632" y="1792224"/>
            <a:ext cx="141732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8" name="Google Shape;648;p14"/>
          <p:cNvSpPr/>
          <p:nvPr/>
        </p:nvSpPr>
        <p:spPr>
          <a:xfrm>
            <a:off x="8485632" y="1792224"/>
            <a:ext cx="91440" cy="914400"/>
          </a:xfrm>
          <a:prstGeom prst="rect">
            <a:avLst/>
          </a:prstGeom>
          <a:solidFill>
            <a:srgbClr val="133A32"/>
          </a:solidFill>
          <a:ln cap="flat" cmpd="sng" w="12700">
            <a:solidFill>
              <a:srgbClr val="133A32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9" name="Google Shape;649;p14"/>
          <p:cNvSpPr/>
          <p:nvPr/>
        </p:nvSpPr>
        <p:spPr>
          <a:xfrm>
            <a:off x="8686800" y="1956816"/>
            <a:ext cx="110642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22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p14"/>
          <p:cNvSpPr/>
          <p:nvPr/>
        </p:nvSpPr>
        <p:spPr>
          <a:xfrm>
            <a:off x="8686800" y="2359152"/>
            <a:ext cx="110642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plugins activados en el vault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p14"/>
          <p:cNvSpPr/>
          <p:nvPr/>
        </p:nvSpPr>
        <p:spPr>
          <a:xfrm>
            <a:off x="10076688" y="1792224"/>
            <a:ext cx="128016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2" name="Google Shape;652;p14"/>
          <p:cNvSpPr/>
          <p:nvPr/>
        </p:nvSpPr>
        <p:spPr>
          <a:xfrm>
            <a:off x="10076688" y="1792224"/>
            <a:ext cx="91440" cy="914400"/>
          </a:xfrm>
          <a:prstGeom prst="rect">
            <a:avLst/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3" name="Google Shape;653;p14"/>
          <p:cNvSpPr/>
          <p:nvPr/>
        </p:nvSpPr>
        <p:spPr>
          <a:xfrm>
            <a:off x="10277856" y="1956816"/>
            <a:ext cx="9692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E66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4E6E66"/>
                </a:solidFill>
                <a:latin typeface="Play"/>
                <a:ea typeface="Play"/>
                <a:cs typeface="Play"/>
                <a:sym typeface="Play"/>
              </a:rPr>
              <a:t>12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p14"/>
          <p:cNvSpPr/>
          <p:nvPr/>
        </p:nvSpPr>
        <p:spPr>
          <a:xfrm>
            <a:off x="10277856" y="2359152"/>
            <a:ext cx="96926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macros QuickAdd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p14"/>
          <p:cNvSpPr/>
          <p:nvPr/>
        </p:nvSpPr>
        <p:spPr>
          <a:xfrm>
            <a:off x="8485632" y="2907792"/>
            <a:ext cx="141732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6" name="Google Shape;656;p14"/>
          <p:cNvSpPr/>
          <p:nvPr/>
        </p:nvSpPr>
        <p:spPr>
          <a:xfrm>
            <a:off x="8485632" y="2907792"/>
            <a:ext cx="91440" cy="914400"/>
          </a:xfrm>
          <a:prstGeom prst="rect">
            <a:avLst/>
          </a:prstGeom>
          <a:solidFill>
            <a:srgbClr val="B85C38"/>
          </a:solidFill>
          <a:ln cap="flat" cmpd="sng" w="12700">
            <a:solidFill>
              <a:srgbClr val="B85C3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7" name="Google Shape;657;p14"/>
          <p:cNvSpPr/>
          <p:nvPr/>
        </p:nvSpPr>
        <p:spPr>
          <a:xfrm>
            <a:off x="8686800" y="3072384"/>
            <a:ext cx="110642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B85C38"/>
                </a:solidFill>
                <a:latin typeface="Play"/>
                <a:ea typeface="Play"/>
                <a:cs typeface="Play"/>
                <a:sym typeface="Play"/>
              </a:rPr>
              <a:t>Git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14"/>
          <p:cNvSpPr/>
          <p:nvPr/>
        </p:nvSpPr>
        <p:spPr>
          <a:xfrm>
            <a:off x="8686800" y="3474720"/>
            <a:ext cx="110642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historial y respaldo completo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14"/>
          <p:cNvSpPr/>
          <p:nvPr/>
        </p:nvSpPr>
        <p:spPr>
          <a:xfrm>
            <a:off x="10076688" y="2907792"/>
            <a:ext cx="128016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0" name="Google Shape;660;p14"/>
          <p:cNvSpPr/>
          <p:nvPr/>
        </p:nvSpPr>
        <p:spPr>
          <a:xfrm>
            <a:off x="10076688" y="2907792"/>
            <a:ext cx="91440" cy="914400"/>
          </a:xfrm>
          <a:prstGeom prst="rect">
            <a:avLst/>
          </a:prstGeom>
          <a:solidFill>
            <a:srgbClr val="C5A05A"/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1" name="Google Shape;661;p14"/>
          <p:cNvSpPr/>
          <p:nvPr/>
        </p:nvSpPr>
        <p:spPr>
          <a:xfrm>
            <a:off x="10277856" y="3072384"/>
            <a:ext cx="9692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A05A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C5A05A"/>
                </a:solidFill>
                <a:latin typeface="Play"/>
                <a:ea typeface="Play"/>
                <a:cs typeface="Play"/>
                <a:sym typeface="Play"/>
              </a:rPr>
              <a:t>JQL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p14"/>
          <p:cNvSpPr/>
          <p:nvPr/>
        </p:nvSpPr>
        <p:spPr>
          <a:xfrm>
            <a:off x="10277856" y="3474720"/>
            <a:ext cx="96926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tableros y filtros nativos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p14"/>
          <p:cNvSpPr/>
          <p:nvPr/>
        </p:nvSpPr>
        <p:spPr>
          <a:xfrm>
            <a:off x="8485632" y="4187952"/>
            <a:ext cx="2871216" cy="960120"/>
          </a:xfrm>
          <a:prstGeom prst="roundRect">
            <a:avLst>
              <a:gd fmla="val 7619" name="adj"/>
            </a:avLst>
          </a:prstGeom>
          <a:solidFill>
            <a:srgbClr val="FCF8F2"/>
          </a:solidFill>
          <a:ln cap="flat" cmpd="sng" w="12700">
            <a:solidFill>
              <a:srgbClr val="E8D9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14"/>
          <p:cNvSpPr/>
          <p:nvPr/>
        </p:nvSpPr>
        <p:spPr>
          <a:xfrm>
            <a:off x="8650224" y="4334256"/>
            <a:ext cx="2542032" cy="6675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26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1E2A26"/>
                </a:solidFill>
                <a:latin typeface="Arial"/>
                <a:ea typeface="Arial"/>
                <a:cs typeface="Arial"/>
                <a:sym typeface="Arial"/>
              </a:rPr>
              <a:t>“Obsidian conservó la inteligencia documental; Jira concentró la ejecución; GitHub aseguró persistencia y colaboración.”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p14"/>
          <p:cNvSpPr/>
          <p:nvPr/>
        </p:nvSpPr>
        <p:spPr>
          <a:xfrm>
            <a:off x="11430000" y="6419088"/>
            <a:ext cx="29260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14"/>
          <p:cNvSpPr/>
          <p:nvPr/>
        </p:nvSpPr>
        <p:spPr>
          <a:xfrm>
            <a:off x="7680960" y="6419088"/>
            <a:ext cx="3291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750"/>
              <a:buFont typeface="Arial"/>
              <a:buNone/>
            </a:pPr>
            <a:r>
              <a:rPr b="0" i="1" lang="en-US" sz="75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Fuentes: documento final + repo RAICES_VIVAS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DFC"/>
        </a:solidFill>
      </p:bgPr>
    </p:bg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C"/>
          </a:solidFill>
          <a:ln cap="flat" cmpd="sng" w="12700">
            <a:solidFill>
              <a:srgbClr val="FFFDF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3" name="Google Shape;673;p15"/>
          <p:cNvSpPr/>
          <p:nvPr/>
        </p:nvSpPr>
        <p:spPr>
          <a:xfrm>
            <a:off x="-640080" y="-1097280"/>
            <a:ext cx="2926080" cy="2926080"/>
          </a:xfrm>
          <a:prstGeom prst="ellipse">
            <a:avLst/>
          </a:prstGeom>
          <a:solidFill>
            <a:srgbClr val="E8D9C4">
              <a:alpha val="65098"/>
            </a:srgbClr>
          </a:solidFill>
          <a:ln cap="flat" cmpd="sng" w="12700">
            <a:solidFill>
              <a:srgbClr val="E8D9C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4" name="Google Shape;674;p15"/>
          <p:cNvSpPr/>
          <p:nvPr/>
        </p:nvSpPr>
        <p:spPr>
          <a:xfrm>
            <a:off x="10287000" y="5166360"/>
            <a:ext cx="2286000" cy="2286000"/>
          </a:xfrm>
          <a:prstGeom prst="ellipse">
            <a:avLst/>
          </a:prstGeom>
          <a:solidFill>
            <a:srgbClr val="8FA49B">
              <a:alpha val="25098"/>
            </a:srgbClr>
          </a:solidFill>
          <a:ln cap="flat" cmpd="sng" w="12700">
            <a:solidFill>
              <a:srgbClr val="8FA49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15"/>
          <p:cNvSpPr/>
          <p:nvPr/>
        </p:nvSpPr>
        <p:spPr>
          <a:xfrm>
            <a:off x="9784080" y="-640080"/>
            <a:ext cx="2743200" cy="2743200"/>
          </a:xfrm>
          <a:prstGeom prst="ellipse">
            <a:avLst/>
          </a:prstGeom>
          <a:solidFill>
            <a:srgbClr val="C5A05A">
              <a:alpha val="18039"/>
            </a:srgbClr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15"/>
          <p:cNvSpPr/>
          <p:nvPr/>
        </p:nvSpPr>
        <p:spPr>
          <a:xfrm>
            <a:off x="411480" y="310896"/>
            <a:ext cx="11384280" cy="9144"/>
          </a:xfrm>
          <a:prstGeom prst="rect">
            <a:avLst/>
          </a:prstGeom>
          <a:solidFill>
            <a:srgbClr val="D9D1C5">
              <a:alpha val="0"/>
            </a:srgbClr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15"/>
          <p:cNvSpPr/>
          <p:nvPr/>
        </p:nvSpPr>
        <p:spPr>
          <a:xfrm>
            <a:off x="548640" y="164592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CAPÍTULO 3 · GESTIÓN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15"/>
          <p:cNvSpPr/>
          <p:nvPr/>
        </p:nvSpPr>
        <p:spPr>
          <a:xfrm>
            <a:off x="548640" y="384048"/>
            <a:ext cx="8138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400"/>
              <a:buFont typeface="Play"/>
              <a:buNone/>
            </a:pPr>
            <a:r>
              <a:rPr b="1" i="0" lang="en-US" sz="24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Ejecución del proyecto: sprints, control y resultados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15"/>
          <p:cNvSpPr/>
          <p:nvPr/>
        </p:nvSpPr>
        <p:spPr>
          <a:xfrm>
            <a:off x="548640" y="6446520"/>
            <a:ext cx="4023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Raíces Vivas · Entrega Final · CENFOTEC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15"/>
          <p:cNvSpPr/>
          <p:nvPr/>
        </p:nvSpPr>
        <p:spPr>
          <a:xfrm>
            <a:off x="566928" y="868680"/>
            <a:ext cx="74980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La gestión se estructuró en tres sprints adaptados, con 58 tareas, 257 horas reales y una completitud global del 90%.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15"/>
          <p:cNvSpPr/>
          <p:nvPr/>
        </p:nvSpPr>
        <p:spPr>
          <a:xfrm>
            <a:off x="566928" y="1234440"/>
            <a:ext cx="7315200" cy="4983480"/>
          </a:xfrm>
          <a:prstGeom prst="roundRect">
            <a:avLst>
              <a:gd fmla="val 1468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15"/>
          <p:cNvSpPr/>
          <p:nvPr/>
        </p:nvSpPr>
        <p:spPr>
          <a:xfrm>
            <a:off x="804672" y="1444752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ROADMAP EJECUTIVO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83" name="Google Shape;683;p15"/>
          <p:cNvCxnSpPr/>
          <p:nvPr/>
        </p:nvCxnSpPr>
        <p:spPr>
          <a:xfrm>
            <a:off x="1005840" y="4069080"/>
            <a:ext cx="6309360" cy="0"/>
          </a:xfrm>
          <a:prstGeom prst="straightConnector1">
            <a:avLst/>
          </a:prstGeom>
          <a:noFill/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4" name="Google Shape;684;p15"/>
          <p:cNvSpPr/>
          <p:nvPr/>
        </p:nvSpPr>
        <p:spPr>
          <a:xfrm>
            <a:off x="1005840" y="2148840"/>
            <a:ext cx="1874520" cy="1298448"/>
          </a:xfrm>
          <a:prstGeom prst="roundRect">
            <a:avLst>
              <a:gd fmla="val 4225" name="adj"/>
            </a:avLst>
          </a:prstGeom>
          <a:solidFill>
            <a:srgbClr val="FFFDFC"/>
          </a:solidFill>
          <a:ln cap="flat" cmpd="sng" w="12700">
            <a:solidFill>
              <a:srgbClr val="4E6E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15"/>
          <p:cNvSpPr/>
          <p:nvPr/>
        </p:nvSpPr>
        <p:spPr>
          <a:xfrm>
            <a:off x="1005840" y="2148840"/>
            <a:ext cx="1874520" cy="201168"/>
          </a:xfrm>
          <a:prstGeom prst="rect">
            <a:avLst/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6" name="Google Shape;686;p15"/>
          <p:cNvSpPr/>
          <p:nvPr/>
        </p:nvSpPr>
        <p:spPr>
          <a:xfrm>
            <a:off x="1133856" y="2432304"/>
            <a:ext cx="161848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600"/>
              <a:buFont typeface="Play"/>
              <a:buNone/>
            </a:pPr>
            <a:r>
              <a:rPr b="1" i="0" lang="en-US" sz="16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Sprint 01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15"/>
          <p:cNvSpPr/>
          <p:nvPr/>
        </p:nvSpPr>
        <p:spPr>
          <a:xfrm>
            <a:off x="1133856" y="2724912"/>
            <a:ext cx="161848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Análisis e investigación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15"/>
          <p:cNvSpPr/>
          <p:nvPr/>
        </p:nvSpPr>
        <p:spPr>
          <a:xfrm>
            <a:off x="1133856" y="2999232"/>
            <a:ext cx="1618488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880"/>
              <a:buFont typeface="Arial"/>
              <a:buNone/>
            </a:pPr>
            <a:r>
              <a:rPr b="0" i="0" lang="en-US" sz="88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03 feb → 25 feb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15"/>
          <p:cNvSpPr/>
          <p:nvPr/>
        </p:nvSpPr>
        <p:spPr>
          <a:xfrm>
            <a:off x="1133856" y="3218688"/>
            <a:ext cx="1618488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E6E66"/>
              </a:buClr>
              <a:buSzPts val="880"/>
              <a:buFont typeface="Arial"/>
              <a:buNone/>
            </a:pPr>
            <a:r>
              <a:rPr b="1" i="0" lang="en-US" sz="880" u="none" cap="none" strike="noStrike">
                <a:solidFill>
                  <a:srgbClr val="4E6E66"/>
                </a:solidFill>
                <a:latin typeface="Arial"/>
                <a:ea typeface="Arial"/>
                <a:cs typeface="Arial"/>
                <a:sym typeface="Arial"/>
              </a:rPr>
              <a:t>20 tareas · Avance 1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15"/>
          <p:cNvSpPr/>
          <p:nvPr/>
        </p:nvSpPr>
        <p:spPr>
          <a:xfrm>
            <a:off x="1860804" y="3986784"/>
            <a:ext cx="164592" cy="164592"/>
          </a:xfrm>
          <a:prstGeom prst="ellipse">
            <a:avLst/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91" name="Google Shape;691;p15"/>
          <p:cNvCxnSpPr/>
          <p:nvPr/>
        </p:nvCxnSpPr>
        <p:spPr>
          <a:xfrm>
            <a:off x="1943100" y="3447288"/>
            <a:ext cx="0" cy="539496"/>
          </a:xfrm>
          <a:prstGeom prst="straightConnector1">
            <a:avLst/>
          </a:prstGeom>
          <a:noFill/>
          <a:ln cap="flat" cmpd="sng" w="12700">
            <a:solidFill>
              <a:srgbClr val="4E6E6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5"/>
          <p:cNvSpPr/>
          <p:nvPr/>
        </p:nvSpPr>
        <p:spPr>
          <a:xfrm>
            <a:off x="3154680" y="2148840"/>
            <a:ext cx="2057400" cy="1298448"/>
          </a:xfrm>
          <a:prstGeom prst="roundRect">
            <a:avLst>
              <a:gd fmla="val 4225" name="adj"/>
            </a:avLst>
          </a:prstGeom>
          <a:solidFill>
            <a:srgbClr val="FFFDFC"/>
          </a:solidFill>
          <a:ln cap="flat" cmpd="sng" w="12700">
            <a:solidFill>
              <a:srgbClr val="B85C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3" name="Google Shape;693;p15"/>
          <p:cNvSpPr/>
          <p:nvPr/>
        </p:nvSpPr>
        <p:spPr>
          <a:xfrm>
            <a:off x="3154680" y="2148840"/>
            <a:ext cx="2057400" cy="201168"/>
          </a:xfrm>
          <a:prstGeom prst="rect">
            <a:avLst/>
          </a:prstGeom>
          <a:solidFill>
            <a:srgbClr val="B85C38"/>
          </a:solidFill>
          <a:ln cap="flat" cmpd="sng" w="12700">
            <a:solidFill>
              <a:srgbClr val="B85C3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4" name="Google Shape;694;p15"/>
          <p:cNvSpPr/>
          <p:nvPr/>
        </p:nvSpPr>
        <p:spPr>
          <a:xfrm>
            <a:off x="3282696" y="2432304"/>
            <a:ext cx="18013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600"/>
              <a:buFont typeface="Play"/>
              <a:buNone/>
            </a:pPr>
            <a:r>
              <a:rPr b="1" i="0" lang="en-US" sz="16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Sprint 02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15"/>
          <p:cNvSpPr/>
          <p:nvPr/>
        </p:nvSpPr>
        <p:spPr>
          <a:xfrm>
            <a:off x="3282696" y="2724912"/>
            <a:ext cx="18013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Diseño y arquitectura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15"/>
          <p:cNvSpPr/>
          <p:nvPr/>
        </p:nvSpPr>
        <p:spPr>
          <a:xfrm>
            <a:off x="3282696" y="2999232"/>
            <a:ext cx="1801368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880"/>
              <a:buFont typeface="Arial"/>
              <a:buNone/>
            </a:pPr>
            <a:r>
              <a:rPr b="0" i="0" lang="en-US" sz="88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28 feb → 29 mar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15"/>
          <p:cNvSpPr/>
          <p:nvPr/>
        </p:nvSpPr>
        <p:spPr>
          <a:xfrm>
            <a:off x="3282696" y="3218688"/>
            <a:ext cx="1801368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80"/>
              <a:buFont typeface="Arial"/>
              <a:buNone/>
            </a:pPr>
            <a:r>
              <a:rPr b="1" i="0" lang="en-US" sz="88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22 tareas · Avance 2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15"/>
          <p:cNvSpPr/>
          <p:nvPr/>
        </p:nvSpPr>
        <p:spPr>
          <a:xfrm>
            <a:off x="4101084" y="3986784"/>
            <a:ext cx="164592" cy="164592"/>
          </a:xfrm>
          <a:prstGeom prst="ellipse">
            <a:avLst/>
          </a:prstGeom>
          <a:solidFill>
            <a:srgbClr val="B85C38"/>
          </a:solidFill>
          <a:ln cap="flat" cmpd="sng" w="12700">
            <a:solidFill>
              <a:srgbClr val="B85C3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99" name="Google Shape;699;p15"/>
          <p:cNvCxnSpPr/>
          <p:nvPr/>
        </p:nvCxnSpPr>
        <p:spPr>
          <a:xfrm>
            <a:off x="4183380" y="3447288"/>
            <a:ext cx="0" cy="539496"/>
          </a:xfrm>
          <a:prstGeom prst="straightConnector1">
            <a:avLst/>
          </a:prstGeom>
          <a:noFill/>
          <a:ln cap="flat" cmpd="sng" w="12700">
            <a:solidFill>
              <a:srgbClr val="B85C3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0" name="Google Shape;700;p15"/>
          <p:cNvSpPr/>
          <p:nvPr/>
        </p:nvSpPr>
        <p:spPr>
          <a:xfrm>
            <a:off x="5532120" y="2148840"/>
            <a:ext cx="1600200" cy="1298448"/>
          </a:xfrm>
          <a:prstGeom prst="roundRect">
            <a:avLst>
              <a:gd fmla="val 4225" name="adj"/>
            </a:avLst>
          </a:prstGeom>
          <a:solidFill>
            <a:srgbClr val="FFFDFC"/>
          </a:solidFill>
          <a:ln cap="flat" cmpd="sng" w="12700">
            <a:solidFill>
              <a:srgbClr val="C5A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1" name="Google Shape;701;p15"/>
          <p:cNvSpPr/>
          <p:nvPr/>
        </p:nvSpPr>
        <p:spPr>
          <a:xfrm>
            <a:off x="5532120" y="2148840"/>
            <a:ext cx="1600200" cy="201168"/>
          </a:xfrm>
          <a:prstGeom prst="rect">
            <a:avLst/>
          </a:prstGeom>
          <a:solidFill>
            <a:srgbClr val="C5A05A"/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2" name="Google Shape;702;p15"/>
          <p:cNvSpPr/>
          <p:nvPr/>
        </p:nvSpPr>
        <p:spPr>
          <a:xfrm>
            <a:off x="5660136" y="2432304"/>
            <a:ext cx="13441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600"/>
              <a:buFont typeface="Play"/>
              <a:buNone/>
            </a:pPr>
            <a:r>
              <a:rPr b="1" i="0" lang="en-US" sz="16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Sprint 03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15"/>
          <p:cNvSpPr/>
          <p:nvPr/>
        </p:nvSpPr>
        <p:spPr>
          <a:xfrm>
            <a:off x="5660136" y="2724912"/>
            <a:ext cx="13441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MVP y entrega final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15"/>
          <p:cNvSpPr/>
          <p:nvPr/>
        </p:nvSpPr>
        <p:spPr>
          <a:xfrm>
            <a:off x="5660136" y="2999232"/>
            <a:ext cx="1344168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880"/>
              <a:buFont typeface="Arial"/>
              <a:buNone/>
            </a:pPr>
            <a:r>
              <a:rPr b="0" i="0" lang="en-US" sz="88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01 abr → 23 abr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15"/>
          <p:cNvSpPr/>
          <p:nvPr/>
        </p:nvSpPr>
        <p:spPr>
          <a:xfrm>
            <a:off x="5660136" y="3218688"/>
            <a:ext cx="1344168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5A05A"/>
              </a:buClr>
              <a:buSzPts val="880"/>
              <a:buFont typeface="Arial"/>
              <a:buNone/>
            </a:pPr>
            <a:r>
              <a:rPr b="1" i="0" lang="en-US" sz="880" u="none" cap="none" strike="noStrike">
                <a:solidFill>
                  <a:srgbClr val="C5A05A"/>
                </a:solidFill>
                <a:latin typeface="Arial"/>
                <a:ea typeface="Arial"/>
                <a:cs typeface="Arial"/>
                <a:sym typeface="Arial"/>
              </a:rPr>
              <a:t>16 tareas · Avance 3</a:t>
            </a:r>
            <a:endParaRPr b="0" i="0" sz="8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15"/>
          <p:cNvSpPr/>
          <p:nvPr/>
        </p:nvSpPr>
        <p:spPr>
          <a:xfrm>
            <a:off x="6249924" y="3986784"/>
            <a:ext cx="164592" cy="164592"/>
          </a:xfrm>
          <a:prstGeom prst="ellipse">
            <a:avLst/>
          </a:prstGeom>
          <a:solidFill>
            <a:srgbClr val="C5A05A"/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707" name="Google Shape;707;p15"/>
          <p:cNvCxnSpPr/>
          <p:nvPr/>
        </p:nvCxnSpPr>
        <p:spPr>
          <a:xfrm>
            <a:off x="6332220" y="3447288"/>
            <a:ext cx="0" cy="539496"/>
          </a:xfrm>
          <a:prstGeom prst="straightConnector1">
            <a:avLst/>
          </a:prstGeom>
          <a:noFill/>
          <a:ln cap="flat" cmpd="sng" w="12700">
            <a:solidFill>
              <a:srgbClr val="C5A05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8" name="Google Shape;708;p15"/>
          <p:cNvSpPr/>
          <p:nvPr/>
        </p:nvSpPr>
        <p:spPr>
          <a:xfrm>
            <a:off x="1005840" y="4745736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15"/>
          <p:cNvSpPr/>
          <p:nvPr/>
        </p:nvSpPr>
        <p:spPr>
          <a:xfrm>
            <a:off x="6720840" y="4745736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133A32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15"/>
          <p:cNvSpPr/>
          <p:nvPr/>
        </p:nvSpPr>
        <p:spPr>
          <a:xfrm>
            <a:off x="1005840" y="4919472"/>
            <a:ext cx="6309360" cy="155448"/>
          </a:xfrm>
          <a:prstGeom prst="roundRect">
            <a:avLst>
              <a:gd fmla="val 17647" name="adj"/>
            </a:avLst>
          </a:prstGeom>
          <a:solidFill>
            <a:srgbClr val="EDE7DD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1" name="Google Shape;711;p15"/>
          <p:cNvSpPr/>
          <p:nvPr/>
        </p:nvSpPr>
        <p:spPr>
          <a:xfrm>
            <a:off x="1005840" y="4919472"/>
            <a:ext cx="914400" cy="155448"/>
          </a:xfrm>
          <a:prstGeom prst="roundRect">
            <a:avLst>
              <a:gd fmla="val 17647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2" name="Google Shape;712;p15"/>
          <p:cNvSpPr/>
          <p:nvPr/>
        </p:nvSpPr>
        <p:spPr>
          <a:xfrm>
            <a:off x="8183880" y="1234440"/>
            <a:ext cx="3429000" cy="4983480"/>
          </a:xfrm>
          <a:prstGeom prst="roundRect">
            <a:avLst>
              <a:gd fmla="val 2133" name="adj"/>
            </a:avLst>
          </a:prstGeom>
          <a:solidFill>
            <a:srgbClr val="FFFDFC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3" name="Google Shape;713;p15"/>
          <p:cNvSpPr/>
          <p:nvPr/>
        </p:nvSpPr>
        <p:spPr>
          <a:xfrm>
            <a:off x="8412480" y="1444752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INDICADORES DE EJECUCIÓN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4" name="Google Shape;714;p15"/>
          <p:cNvSpPr/>
          <p:nvPr/>
        </p:nvSpPr>
        <p:spPr>
          <a:xfrm>
            <a:off x="8439912" y="1792224"/>
            <a:ext cx="146304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5" name="Google Shape;715;p15"/>
          <p:cNvSpPr/>
          <p:nvPr/>
        </p:nvSpPr>
        <p:spPr>
          <a:xfrm>
            <a:off x="8439912" y="1792224"/>
            <a:ext cx="91440" cy="914400"/>
          </a:xfrm>
          <a:prstGeom prst="rect">
            <a:avLst/>
          </a:prstGeom>
          <a:solidFill>
            <a:srgbClr val="133A32"/>
          </a:solidFill>
          <a:ln cap="flat" cmpd="sng" w="12700">
            <a:solidFill>
              <a:srgbClr val="133A32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6" name="Google Shape;716;p15"/>
          <p:cNvSpPr/>
          <p:nvPr/>
        </p:nvSpPr>
        <p:spPr>
          <a:xfrm>
            <a:off x="8641080" y="1956816"/>
            <a:ext cx="115214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58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15"/>
          <p:cNvSpPr/>
          <p:nvPr/>
        </p:nvSpPr>
        <p:spPr>
          <a:xfrm>
            <a:off x="8641080" y="2359152"/>
            <a:ext cx="115214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tareas ejecutadas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8" name="Google Shape;718;p15"/>
          <p:cNvSpPr/>
          <p:nvPr/>
        </p:nvSpPr>
        <p:spPr>
          <a:xfrm>
            <a:off x="10058400" y="1792224"/>
            <a:ext cx="128016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9" name="Google Shape;719;p15"/>
          <p:cNvSpPr/>
          <p:nvPr/>
        </p:nvSpPr>
        <p:spPr>
          <a:xfrm>
            <a:off x="10058400" y="1792224"/>
            <a:ext cx="91440" cy="914400"/>
          </a:xfrm>
          <a:prstGeom prst="rect">
            <a:avLst/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0" name="Google Shape;720;p15"/>
          <p:cNvSpPr/>
          <p:nvPr/>
        </p:nvSpPr>
        <p:spPr>
          <a:xfrm>
            <a:off x="10259568" y="1956816"/>
            <a:ext cx="9692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E66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4E6E66"/>
                </a:solidFill>
                <a:latin typeface="Play"/>
                <a:ea typeface="Play"/>
                <a:cs typeface="Play"/>
                <a:sym typeface="Play"/>
              </a:rPr>
              <a:t>257/265h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15"/>
          <p:cNvSpPr/>
          <p:nvPr/>
        </p:nvSpPr>
        <p:spPr>
          <a:xfrm>
            <a:off x="10259568" y="2359152"/>
            <a:ext cx="96926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horas reales vs plan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15"/>
          <p:cNvSpPr/>
          <p:nvPr/>
        </p:nvSpPr>
        <p:spPr>
          <a:xfrm>
            <a:off x="8439912" y="2907792"/>
            <a:ext cx="146304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3" name="Google Shape;723;p15"/>
          <p:cNvSpPr/>
          <p:nvPr/>
        </p:nvSpPr>
        <p:spPr>
          <a:xfrm>
            <a:off x="8439912" y="2907792"/>
            <a:ext cx="91440" cy="914400"/>
          </a:xfrm>
          <a:prstGeom prst="rect">
            <a:avLst/>
          </a:prstGeom>
          <a:solidFill>
            <a:srgbClr val="B85C38"/>
          </a:solidFill>
          <a:ln cap="flat" cmpd="sng" w="12700">
            <a:solidFill>
              <a:srgbClr val="B85C3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4" name="Google Shape;724;p15"/>
          <p:cNvSpPr/>
          <p:nvPr/>
        </p:nvSpPr>
        <p:spPr>
          <a:xfrm>
            <a:off x="8641080" y="3072384"/>
            <a:ext cx="115214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B85C38"/>
                </a:solidFill>
                <a:latin typeface="Play"/>
                <a:ea typeface="Play"/>
                <a:cs typeface="Play"/>
                <a:sym typeface="Play"/>
              </a:rPr>
              <a:t>17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5" name="Google Shape;725;p15"/>
          <p:cNvSpPr/>
          <p:nvPr/>
        </p:nvSpPr>
        <p:spPr>
          <a:xfrm>
            <a:off x="8641080" y="3474720"/>
            <a:ext cx="115214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decisiones arquitectónicas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6" name="Google Shape;726;p15"/>
          <p:cNvSpPr/>
          <p:nvPr/>
        </p:nvSpPr>
        <p:spPr>
          <a:xfrm>
            <a:off x="10058400" y="2907792"/>
            <a:ext cx="128016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7" name="Google Shape;727;p15"/>
          <p:cNvSpPr/>
          <p:nvPr/>
        </p:nvSpPr>
        <p:spPr>
          <a:xfrm>
            <a:off x="10058400" y="2907792"/>
            <a:ext cx="91440" cy="914400"/>
          </a:xfrm>
          <a:prstGeom prst="rect">
            <a:avLst/>
          </a:prstGeom>
          <a:solidFill>
            <a:srgbClr val="C5A05A"/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8" name="Google Shape;728;p15"/>
          <p:cNvSpPr/>
          <p:nvPr/>
        </p:nvSpPr>
        <p:spPr>
          <a:xfrm>
            <a:off x="10259568" y="3072384"/>
            <a:ext cx="9692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A05A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C5A05A"/>
                </a:solidFill>
                <a:latin typeface="Play"/>
                <a:ea typeface="Play"/>
                <a:cs typeface="Play"/>
                <a:sym typeface="Play"/>
              </a:rPr>
              <a:t>14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9" name="Google Shape;729;p15"/>
          <p:cNvSpPr/>
          <p:nvPr/>
        </p:nvSpPr>
        <p:spPr>
          <a:xfrm>
            <a:off x="10259568" y="3474720"/>
            <a:ext cx="96926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riesgos gestionados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0" name="Google Shape;730;p15"/>
          <p:cNvSpPr/>
          <p:nvPr/>
        </p:nvSpPr>
        <p:spPr>
          <a:xfrm>
            <a:off x="8439912" y="4023360"/>
            <a:ext cx="146304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1" name="Google Shape;731;p15"/>
          <p:cNvSpPr/>
          <p:nvPr/>
        </p:nvSpPr>
        <p:spPr>
          <a:xfrm>
            <a:off x="8439912" y="4023360"/>
            <a:ext cx="91440" cy="914400"/>
          </a:xfrm>
          <a:prstGeom prst="rect">
            <a:avLst/>
          </a:prstGeom>
          <a:solidFill>
            <a:srgbClr val="8FA49B"/>
          </a:solidFill>
          <a:ln cap="flat" cmpd="sng" w="12700">
            <a:solidFill>
              <a:srgbClr val="8FA49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2" name="Google Shape;732;p15"/>
          <p:cNvSpPr/>
          <p:nvPr/>
        </p:nvSpPr>
        <p:spPr>
          <a:xfrm>
            <a:off x="8641080" y="4187952"/>
            <a:ext cx="115214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A49B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8FA49B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3" name="Google Shape;733;p15"/>
          <p:cNvSpPr/>
          <p:nvPr/>
        </p:nvSpPr>
        <p:spPr>
          <a:xfrm>
            <a:off x="8641080" y="4590288"/>
            <a:ext cx="115214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reuniones documentadas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4" name="Google Shape;734;p15"/>
          <p:cNvSpPr/>
          <p:nvPr/>
        </p:nvSpPr>
        <p:spPr>
          <a:xfrm>
            <a:off x="10058400" y="4023360"/>
            <a:ext cx="128016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5" name="Google Shape;735;p15"/>
          <p:cNvSpPr/>
          <p:nvPr/>
        </p:nvSpPr>
        <p:spPr>
          <a:xfrm>
            <a:off x="10058400" y="4023360"/>
            <a:ext cx="91440" cy="914400"/>
          </a:xfrm>
          <a:prstGeom prst="rect">
            <a:avLst/>
          </a:prstGeom>
          <a:solidFill>
            <a:srgbClr val="133A32"/>
          </a:solidFill>
          <a:ln cap="flat" cmpd="sng" w="12700">
            <a:solidFill>
              <a:srgbClr val="133A32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6" name="Google Shape;736;p15"/>
          <p:cNvSpPr/>
          <p:nvPr/>
        </p:nvSpPr>
        <p:spPr>
          <a:xfrm>
            <a:off x="10259568" y="4187952"/>
            <a:ext cx="96926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-3%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7" name="Google Shape;737;p15"/>
          <p:cNvSpPr/>
          <p:nvPr/>
        </p:nvSpPr>
        <p:spPr>
          <a:xfrm>
            <a:off x="10259568" y="4590288"/>
            <a:ext cx="96926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desviación parcial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8" name="Google Shape;738;p15"/>
          <p:cNvSpPr/>
          <p:nvPr/>
        </p:nvSpPr>
        <p:spPr>
          <a:xfrm>
            <a:off x="8439912" y="5239512"/>
            <a:ext cx="289864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La holgura del proyecto permitió absorber imprevistos sin perder el objetivo de entrega.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15"/>
          <p:cNvSpPr/>
          <p:nvPr/>
        </p:nvSpPr>
        <p:spPr>
          <a:xfrm>
            <a:off x="11430000" y="6419088"/>
            <a:ext cx="29260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15"/>
          <p:cNvSpPr/>
          <p:nvPr/>
        </p:nvSpPr>
        <p:spPr>
          <a:xfrm>
            <a:off x="7680960" y="6419088"/>
            <a:ext cx="3291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750"/>
              <a:buFont typeface="Arial"/>
              <a:buNone/>
            </a:pPr>
            <a:r>
              <a:rPr b="0" i="1" lang="en-US" sz="75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Fuentes: documento final + repo RAICES_VIVAS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DFC"/>
        </a:solidFill>
      </p:bgPr>
    </p:bg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C"/>
          </a:solidFill>
          <a:ln cap="flat" cmpd="sng" w="12700">
            <a:solidFill>
              <a:srgbClr val="FFFDF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7" name="Google Shape;747;p16"/>
          <p:cNvSpPr/>
          <p:nvPr/>
        </p:nvSpPr>
        <p:spPr>
          <a:xfrm>
            <a:off x="-640080" y="-1097280"/>
            <a:ext cx="2926080" cy="2926080"/>
          </a:xfrm>
          <a:prstGeom prst="ellipse">
            <a:avLst/>
          </a:prstGeom>
          <a:solidFill>
            <a:srgbClr val="E8D9C4">
              <a:alpha val="65098"/>
            </a:srgbClr>
          </a:solidFill>
          <a:ln cap="flat" cmpd="sng" w="12700">
            <a:solidFill>
              <a:srgbClr val="E8D9C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8" name="Google Shape;748;p16"/>
          <p:cNvSpPr/>
          <p:nvPr/>
        </p:nvSpPr>
        <p:spPr>
          <a:xfrm>
            <a:off x="10287000" y="5166360"/>
            <a:ext cx="2286000" cy="2286000"/>
          </a:xfrm>
          <a:prstGeom prst="ellipse">
            <a:avLst/>
          </a:prstGeom>
          <a:solidFill>
            <a:srgbClr val="8FA49B">
              <a:alpha val="25098"/>
            </a:srgbClr>
          </a:solidFill>
          <a:ln cap="flat" cmpd="sng" w="12700">
            <a:solidFill>
              <a:srgbClr val="8FA49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9" name="Google Shape;749;p16"/>
          <p:cNvSpPr/>
          <p:nvPr/>
        </p:nvSpPr>
        <p:spPr>
          <a:xfrm>
            <a:off x="9784080" y="-640080"/>
            <a:ext cx="2743200" cy="2743200"/>
          </a:xfrm>
          <a:prstGeom prst="ellipse">
            <a:avLst/>
          </a:prstGeom>
          <a:solidFill>
            <a:srgbClr val="C5A05A">
              <a:alpha val="18039"/>
            </a:srgbClr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0" name="Google Shape;750;p16"/>
          <p:cNvSpPr/>
          <p:nvPr/>
        </p:nvSpPr>
        <p:spPr>
          <a:xfrm>
            <a:off x="411480" y="310896"/>
            <a:ext cx="11384280" cy="9144"/>
          </a:xfrm>
          <a:prstGeom prst="rect">
            <a:avLst/>
          </a:prstGeom>
          <a:solidFill>
            <a:srgbClr val="D9D1C5">
              <a:alpha val="0"/>
            </a:srgbClr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1" name="Google Shape;751;p16"/>
          <p:cNvSpPr/>
          <p:nvPr/>
        </p:nvSpPr>
        <p:spPr>
          <a:xfrm>
            <a:off x="548640" y="164592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GESTIÓN DEL PROYECTO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2" name="Google Shape;752;p16"/>
          <p:cNvSpPr/>
          <p:nvPr/>
        </p:nvSpPr>
        <p:spPr>
          <a:xfrm>
            <a:off x="548640" y="384048"/>
            <a:ext cx="8138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400"/>
              <a:buFont typeface="Play"/>
              <a:buNone/>
            </a:pPr>
            <a:r>
              <a:rPr b="1" i="0" lang="en-US" sz="24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Equipo, control de calidad y aprendizaje organizacional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3" name="Google Shape;753;p16"/>
          <p:cNvSpPr/>
          <p:nvPr/>
        </p:nvSpPr>
        <p:spPr>
          <a:xfrm>
            <a:off x="548640" y="6446520"/>
            <a:ext cx="4023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Raíces Vivas · Entrega Final · CENFOTEC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4" name="Google Shape;754;p16"/>
          <p:cNvSpPr/>
          <p:nvPr/>
        </p:nvSpPr>
        <p:spPr>
          <a:xfrm>
            <a:off x="566928" y="868680"/>
            <a:ext cx="71323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La operación combinó liderazgo funcional, distribución por módulos y control continuo mediante riesgos, ADR y QA.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5" name="Google Shape;755;p16"/>
          <p:cNvSpPr/>
          <p:nvPr/>
        </p:nvSpPr>
        <p:spPr>
          <a:xfrm>
            <a:off x="566928" y="1234440"/>
            <a:ext cx="5029200" cy="4983480"/>
          </a:xfrm>
          <a:prstGeom prst="roundRect">
            <a:avLst>
              <a:gd fmla="val 1468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6" name="Google Shape;756;p16"/>
          <p:cNvSpPr/>
          <p:nvPr/>
        </p:nvSpPr>
        <p:spPr>
          <a:xfrm>
            <a:off x="804672" y="1444752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DISTRIBUCIÓN DEL EQUIPO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16"/>
          <p:cNvSpPr/>
          <p:nvPr/>
        </p:nvSpPr>
        <p:spPr>
          <a:xfrm>
            <a:off x="841248" y="1810512"/>
            <a:ext cx="4480560" cy="1051560"/>
          </a:xfrm>
          <a:prstGeom prst="roundRect">
            <a:avLst>
              <a:gd fmla="val 6957" name="adj"/>
            </a:avLst>
          </a:prstGeom>
          <a:solidFill>
            <a:srgbClr val="FFFDFC"/>
          </a:solidFill>
          <a:ln cap="flat" cmpd="sng" w="12700">
            <a:solidFill>
              <a:srgbClr val="E3DA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8" name="Google Shape;758;p16"/>
          <p:cNvSpPr/>
          <p:nvPr/>
        </p:nvSpPr>
        <p:spPr>
          <a:xfrm>
            <a:off x="841248" y="1810512"/>
            <a:ext cx="91440" cy="1051560"/>
          </a:xfrm>
          <a:prstGeom prst="rect">
            <a:avLst/>
          </a:prstGeom>
          <a:solidFill>
            <a:srgbClr val="133A32"/>
          </a:solidFill>
          <a:ln cap="flat" cmpd="sng" w="12700">
            <a:solidFill>
              <a:srgbClr val="133A32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9" name="Google Shape;759;p16"/>
          <p:cNvSpPr/>
          <p:nvPr/>
        </p:nvSpPr>
        <p:spPr>
          <a:xfrm>
            <a:off x="1051560" y="1975104"/>
            <a:ext cx="19202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500"/>
              <a:buFont typeface="Play"/>
              <a:buNone/>
            </a:pPr>
            <a:r>
              <a:rPr b="1" i="0" lang="en-US" sz="15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Geovanny Alpízar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16"/>
          <p:cNvSpPr/>
          <p:nvPr/>
        </p:nvSpPr>
        <p:spPr>
          <a:xfrm>
            <a:off x="3035808" y="1993392"/>
            <a:ext cx="114300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PM / Arquitecto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1" name="Google Shape;761;p16"/>
          <p:cNvSpPr/>
          <p:nvPr/>
        </p:nvSpPr>
        <p:spPr>
          <a:xfrm>
            <a:off x="1051560" y="2231136"/>
            <a:ext cx="3108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Planificación, arquitectura, integración, documentación, Jira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2" name="Google Shape;762;p16"/>
          <p:cNvSpPr/>
          <p:nvPr/>
        </p:nvSpPr>
        <p:spPr>
          <a:xfrm>
            <a:off x="4315968" y="2249424"/>
            <a:ext cx="68580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103 h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3" name="Google Shape;763;p16"/>
          <p:cNvSpPr/>
          <p:nvPr/>
        </p:nvSpPr>
        <p:spPr>
          <a:xfrm>
            <a:off x="841248" y="3044952"/>
            <a:ext cx="4480560" cy="1051560"/>
          </a:xfrm>
          <a:prstGeom prst="roundRect">
            <a:avLst>
              <a:gd fmla="val 6957" name="adj"/>
            </a:avLst>
          </a:prstGeom>
          <a:solidFill>
            <a:srgbClr val="FFFDFC"/>
          </a:solidFill>
          <a:ln cap="flat" cmpd="sng" w="12700">
            <a:solidFill>
              <a:srgbClr val="E3DA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4" name="Google Shape;764;p16"/>
          <p:cNvSpPr/>
          <p:nvPr/>
        </p:nvSpPr>
        <p:spPr>
          <a:xfrm>
            <a:off x="841248" y="3044952"/>
            <a:ext cx="91440" cy="1051560"/>
          </a:xfrm>
          <a:prstGeom prst="rect">
            <a:avLst/>
          </a:prstGeom>
          <a:solidFill>
            <a:srgbClr val="B85C38"/>
          </a:solidFill>
          <a:ln cap="flat" cmpd="sng" w="12700">
            <a:solidFill>
              <a:srgbClr val="B85C3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5" name="Google Shape;765;p16"/>
          <p:cNvSpPr/>
          <p:nvPr/>
        </p:nvSpPr>
        <p:spPr>
          <a:xfrm>
            <a:off x="1051560" y="3209544"/>
            <a:ext cx="19202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500"/>
              <a:buFont typeface="Play"/>
              <a:buNone/>
            </a:pPr>
            <a:r>
              <a:rPr b="1" i="0" lang="en-US" sz="15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Elkin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16"/>
          <p:cNvSpPr/>
          <p:nvPr/>
        </p:nvSpPr>
        <p:spPr>
          <a:xfrm>
            <a:off x="3035808" y="3227832"/>
            <a:ext cx="114300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Investigación / SAB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7" name="Google Shape;767;p16"/>
          <p:cNvSpPr/>
          <p:nvPr/>
        </p:nvSpPr>
        <p:spPr>
          <a:xfrm>
            <a:off x="1051560" y="3465576"/>
            <a:ext cx="3108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Investigación cualitativa, módulo SAB, traducciones bribri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16"/>
          <p:cNvSpPr/>
          <p:nvPr/>
        </p:nvSpPr>
        <p:spPr>
          <a:xfrm>
            <a:off x="4315968" y="3483864"/>
            <a:ext cx="68580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66 h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9" name="Google Shape;769;p16"/>
          <p:cNvSpPr/>
          <p:nvPr/>
        </p:nvSpPr>
        <p:spPr>
          <a:xfrm>
            <a:off x="841248" y="4279392"/>
            <a:ext cx="4480560" cy="1051560"/>
          </a:xfrm>
          <a:prstGeom prst="roundRect">
            <a:avLst>
              <a:gd fmla="val 6957" name="adj"/>
            </a:avLst>
          </a:prstGeom>
          <a:solidFill>
            <a:srgbClr val="FFFDFC"/>
          </a:solidFill>
          <a:ln cap="flat" cmpd="sng" w="12700">
            <a:solidFill>
              <a:srgbClr val="E3DA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0" name="Google Shape;770;p16"/>
          <p:cNvSpPr/>
          <p:nvPr/>
        </p:nvSpPr>
        <p:spPr>
          <a:xfrm>
            <a:off x="841248" y="4279392"/>
            <a:ext cx="91440" cy="1051560"/>
          </a:xfrm>
          <a:prstGeom prst="rect">
            <a:avLst/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1" name="Google Shape;771;p16"/>
          <p:cNvSpPr/>
          <p:nvPr/>
        </p:nvSpPr>
        <p:spPr>
          <a:xfrm>
            <a:off x="1051560" y="4443984"/>
            <a:ext cx="19202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500"/>
              <a:buFont typeface="Play"/>
              <a:buNone/>
            </a:pPr>
            <a:r>
              <a:rPr b="1" i="0" lang="en-US" sz="15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Santiago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2" name="Google Shape;772;p16"/>
          <p:cNvSpPr/>
          <p:nvPr/>
        </p:nvSpPr>
        <p:spPr>
          <a:xfrm>
            <a:off x="3035808" y="4462272"/>
            <a:ext cx="114300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E6E66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4E6E66"/>
                </a:solidFill>
                <a:latin typeface="Arial"/>
                <a:ea typeface="Arial"/>
                <a:cs typeface="Arial"/>
                <a:sym typeface="Arial"/>
              </a:rPr>
              <a:t>QA / SAL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3" name="Google Shape;773;p16"/>
          <p:cNvSpPr/>
          <p:nvPr/>
        </p:nvSpPr>
        <p:spPr>
          <a:xfrm>
            <a:off x="1051560" y="4700016"/>
            <a:ext cx="3108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Pruebas, módulo SAL, presentaciones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16"/>
          <p:cNvSpPr/>
          <p:nvPr/>
        </p:nvSpPr>
        <p:spPr>
          <a:xfrm>
            <a:off x="4315968" y="4718304"/>
            <a:ext cx="68580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71 h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16"/>
          <p:cNvSpPr/>
          <p:nvPr/>
        </p:nvSpPr>
        <p:spPr>
          <a:xfrm>
            <a:off x="5897880" y="1234440"/>
            <a:ext cx="5715000" cy="4983480"/>
          </a:xfrm>
          <a:prstGeom prst="roundRect">
            <a:avLst>
              <a:gd fmla="val 1468" name="adj"/>
            </a:avLst>
          </a:prstGeom>
          <a:solidFill>
            <a:srgbClr val="FFFDFC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6" name="Google Shape;776;p16"/>
          <p:cNvSpPr/>
          <p:nvPr/>
        </p:nvSpPr>
        <p:spPr>
          <a:xfrm>
            <a:off x="6126480" y="1444752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MECANISMOS DE GOBIERNO Y MEJORA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7" name="Google Shape;777;p16"/>
          <p:cNvSpPr/>
          <p:nvPr/>
        </p:nvSpPr>
        <p:spPr>
          <a:xfrm>
            <a:off x="6144768" y="1792224"/>
            <a:ext cx="150876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8" name="Google Shape;778;p16"/>
          <p:cNvSpPr/>
          <p:nvPr/>
        </p:nvSpPr>
        <p:spPr>
          <a:xfrm>
            <a:off x="6144768" y="1792224"/>
            <a:ext cx="91440" cy="914400"/>
          </a:xfrm>
          <a:prstGeom prst="rect">
            <a:avLst/>
          </a:prstGeom>
          <a:solidFill>
            <a:srgbClr val="133A32"/>
          </a:solidFill>
          <a:ln cap="flat" cmpd="sng" w="12700">
            <a:solidFill>
              <a:srgbClr val="133A32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9" name="Google Shape;779;p16"/>
          <p:cNvSpPr/>
          <p:nvPr/>
        </p:nvSpPr>
        <p:spPr>
          <a:xfrm>
            <a:off x="6336799" y="1865366"/>
            <a:ext cx="11979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ADR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0" name="Google Shape;780;p16"/>
          <p:cNvSpPr/>
          <p:nvPr/>
        </p:nvSpPr>
        <p:spPr>
          <a:xfrm>
            <a:off x="6345925" y="2231125"/>
            <a:ext cx="11979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decisiones registradas y auditables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16"/>
          <p:cNvSpPr/>
          <p:nvPr/>
        </p:nvSpPr>
        <p:spPr>
          <a:xfrm>
            <a:off x="7818120" y="1792224"/>
            <a:ext cx="150876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2" name="Google Shape;782;p16"/>
          <p:cNvSpPr/>
          <p:nvPr/>
        </p:nvSpPr>
        <p:spPr>
          <a:xfrm>
            <a:off x="7818120" y="1792224"/>
            <a:ext cx="91440" cy="914400"/>
          </a:xfrm>
          <a:prstGeom prst="rect">
            <a:avLst/>
          </a:prstGeom>
          <a:solidFill>
            <a:srgbClr val="B85C38"/>
          </a:solidFill>
          <a:ln cap="flat" cmpd="sng" w="12700">
            <a:solidFill>
              <a:srgbClr val="B85C3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3" name="Google Shape;783;p16"/>
          <p:cNvSpPr/>
          <p:nvPr/>
        </p:nvSpPr>
        <p:spPr>
          <a:xfrm>
            <a:off x="8014738" y="1865366"/>
            <a:ext cx="11979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B85C38"/>
                </a:solidFill>
                <a:latin typeface="Play"/>
                <a:ea typeface="Play"/>
                <a:cs typeface="Play"/>
                <a:sym typeface="Play"/>
              </a:rPr>
              <a:t>RSK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16"/>
          <p:cNvSpPr/>
          <p:nvPr/>
        </p:nvSpPr>
        <p:spPr>
          <a:xfrm>
            <a:off x="8019300" y="2231125"/>
            <a:ext cx="11979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riesgos con estrategia y seguimiento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16"/>
          <p:cNvSpPr/>
          <p:nvPr/>
        </p:nvSpPr>
        <p:spPr>
          <a:xfrm>
            <a:off x="9491472" y="1792224"/>
            <a:ext cx="150876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6" name="Google Shape;786;p16"/>
          <p:cNvSpPr/>
          <p:nvPr/>
        </p:nvSpPr>
        <p:spPr>
          <a:xfrm>
            <a:off x="9491472" y="1792224"/>
            <a:ext cx="91440" cy="914400"/>
          </a:xfrm>
          <a:prstGeom prst="rect">
            <a:avLst/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7" name="Google Shape;787;p16"/>
          <p:cNvSpPr/>
          <p:nvPr/>
        </p:nvSpPr>
        <p:spPr>
          <a:xfrm>
            <a:off x="9692690" y="1865366"/>
            <a:ext cx="11979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E66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4E6E66"/>
                </a:solidFill>
                <a:latin typeface="Play"/>
                <a:ea typeface="Play"/>
                <a:cs typeface="Play"/>
                <a:sym typeface="Play"/>
              </a:rPr>
              <a:t>QA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16"/>
          <p:cNvSpPr/>
          <p:nvPr/>
        </p:nvSpPr>
        <p:spPr>
          <a:xfrm>
            <a:off x="9692650" y="2225538"/>
            <a:ext cx="11979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pruebas manuales y E2E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9" name="Google Shape;789;p16"/>
          <p:cNvSpPr/>
          <p:nvPr/>
        </p:nvSpPr>
        <p:spPr>
          <a:xfrm>
            <a:off x="6144768" y="2852928"/>
            <a:ext cx="4892040" cy="9144"/>
          </a:xfrm>
          <a:prstGeom prst="rect">
            <a:avLst/>
          </a:prstGeom>
          <a:solidFill>
            <a:srgbClr val="D9D1C5">
              <a:alpha val="0"/>
            </a:srgbClr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16"/>
          <p:cNvSpPr/>
          <p:nvPr/>
        </p:nvSpPr>
        <p:spPr>
          <a:xfrm>
            <a:off x="6172200" y="3127248"/>
            <a:ext cx="466344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110"/>
              <a:buFont typeface="Arial"/>
              <a:buNone/>
            </a:pPr>
            <a:r>
              <a:rPr b="0" i="0" lang="en-US" sz="111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Templates y convenciones aceleraron la producción de artefactos</a:t>
            </a:r>
            <a:br>
              <a:rPr b="0" i="0" lang="en-US" sz="111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1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Dataview y SQLSeal redujeron la desincronización documental</a:t>
            </a:r>
            <a:br>
              <a:rPr b="0" i="0" lang="en-US" sz="111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1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Las entrevistas cualitativas destaparon requerimientos que la encuesta no veía</a:t>
            </a:r>
            <a:br>
              <a:rPr b="0" i="0" lang="en-US" sz="111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1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La gestión visual y la trazabilidad mejoraron la auditabilidad del proyecto</a:t>
            </a:r>
            <a:endParaRPr b="0" i="0" sz="111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1" name="Google Shape;791;p16"/>
          <p:cNvSpPr/>
          <p:nvPr/>
        </p:nvSpPr>
        <p:spPr>
          <a:xfrm>
            <a:off x="6172200" y="4892040"/>
            <a:ext cx="4663440" cy="841248"/>
          </a:xfrm>
          <a:prstGeom prst="roundRect">
            <a:avLst>
              <a:gd fmla="val 8696" name="adj"/>
            </a:avLst>
          </a:prstGeom>
          <a:solidFill>
            <a:srgbClr val="FCF8F2"/>
          </a:solidFill>
          <a:ln cap="flat" cmpd="sng" w="12700">
            <a:solidFill>
              <a:srgbClr val="E8D9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2" name="Google Shape;792;p16"/>
          <p:cNvSpPr/>
          <p:nvPr/>
        </p:nvSpPr>
        <p:spPr>
          <a:xfrm>
            <a:off x="6336792" y="5038344"/>
            <a:ext cx="4334256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26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1E2A26"/>
                </a:solidFill>
                <a:latin typeface="Arial"/>
                <a:ea typeface="Arial"/>
                <a:cs typeface="Arial"/>
                <a:sym typeface="Arial"/>
              </a:rPr>
              <a:t>“La gestión no fue un anexo del proyecto. Fue parte del producto académico final.”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3" name="Google Shape;793;p16"/>
          <p:cNvSpPr/>
          <p:nvPr/>
        </p:nvSpPr>
        <p:spPr>
          <a:xfrm>
            <a:off x="11430000" y="6419088"/>
            <a:ext cx="29260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4" name="Google Shape;794;p16"/>
          <p:cNvSpPr/>
          <p:nvPr/>
        </p:nvSpPr>
        <p:spPr>
          <a:xfrm>
            <a:off x="7680960" y="6419088"/>
            <a:ext cx="3291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750"/>
              <a:buFont typeface="Arial"/>
              <a:buNone/>
            </a:pPr>
            <a:r>
              <a:rPr b="0" i="1" lang="en-US" sz="75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Fuentes: documento final + repo RAICES_VIVAS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8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0" name="Google Shape;800;p17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33A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1" name="Google Shape;801;p17"/>
          <p:cNvSpPr/>
          <p:nvPr/>
        </p:nvSpPr>
        <p:spPr>
          <a:xfrm>
            <a:off x="320040" y="0"/>
            <a:ext cx="11871655" cy="502920"/>
          </a:xfrm>
          <a:prstGeom prst="rect">
            <a:avLst/>
          </a:prstGeom>
          <a:solidFill>
            <a:srgbClr val="E9DE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2" name="Google Shape;802;p17"/>
          <p:cNvSpPr txBox="1"/>
          <p:nvPr/>
        </p:nvSpPr>
        <p:spPr>
          <a:xfrm>
            <a:off x="731520" y="914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85C38"/>
                </a:solidFill>
                <a:latin typeface="Calibri"/>
                <a:ea typeface="Calibri"/>
                <a:cs typeface="Calibri"/>
                <a:sym typeface="Calibri"/>
              </a:rPr>
              <a:t>ANEXO GESTIÓN · A.6</a:t>
            </a:r>
            <a:endParaRPr/>
          </a:p>
        </p:txBody>
      </p:sp>
      <p:sp>
        <p:nvSpPr>
          <p:cNvPr id="803" name="Google Shape;803;p17"/>
          <p:cNvSpPr txBox="1"/>
          <p:nvPr/>
        </p:nvSpPr>
        <p:spPr>
          <a:xfrm>
            <a:off x="10698480" y="91440"/>
            <a:ext cx="1188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Raíces Vivas · Entrega Final · CENFOTEC</a:t>
            </a:r>
            <a:endParaRPr/>
          </a:p>
        </p:txBody>
      </p:sp>
      <p:sp>
        <p:nvSpPr>
          <p:cNvPr id="804" name="Google Shape;804;p17"/>
          <p:cNvSpPr txBox="1"/>
          <p:nvPr/>
        </p:nvSpPr>
        <p:spPr>
          <a:xfrm>
            <a:off x="731520" y="640080"/>
            <a:ext cx="106070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33A32"/>
                </a:solidFill>
                <a:latin typeface="Calibri"/>
                <a:ea typeface="Calibri"/>
                <a:cs typeface="Calibri"/>
                <a:sym typeface="Calibri"/>
              </a:rPr>
              <a:t>Análisis FODA</a:t>
            </a:r>
            <a:endParaRPr/>
          </a:p>
        </p:txBody>
      </p:sp>
      <p:sp>
        <p:nvSpPr>
          <p:cNvPr id="805" name="Google Shape;805;p17"/>
          <p:cNvSpPr txBox="1"/>
          <p:nvPr/>
        </p:nvSpPr>
        <p:spPr>
          <a:xfrm>
            <a:off x="731520" y="1325880"/>
            <a:ext cx="10607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6E66"/>
                </a:solidFill>
                <a:latin typeface="Calibri"/>
                <a:ea typeface="Calibri"/>
                <a:cs typeface="Calibri"/>
                <a:sym typeface="Calibri"/>
              </a:rPr>
              <a:t>Fortalezas · Oportunidades · Debilidades · Amenazas</a:t>
            </a:r>
            <a:endParaRPr/>
          </a:p>
        </p:txBody>
      </p:sp>
      <p:sp>
        <p:nvSpPr>
          <p:cNvPr id="806" name="Google Shape;806;p17"/>
          <p:cNvSpPr/>
          <p:nvPr/>
        </p:nvSpPr>
        <p:spPr>
          <a:xfrm>
            <a:off x="685800" y="1828800"/>
            <a:ext cx="10789920" cy="40233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9DEC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agram_foda.png" id="807" name="Google Shape;80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2233" y="1929384"/>
            <a:ext cx="4337053" cy="3822191"/>
          </a:xfrm>
          <a:prstGeom prst="rect">
            <a:avLst/>
          </a:prstGeom>
          <a:noFill/>
          <a:ln>
            <a:noFill/>
          </a:ln>
        </p:spPr>
      </p:pic>
      <p:sp>
        <p:nvSpPr>
          <p:cNvPr id="808" name="Google Shape;808;p17"/>
          <p:cNvSpPr/>
          <p:nvPr/>
        </p:nvSpPr>
        <p:spPr>
          <a:xfrm>
            <a:off x="320040" y="5989320"/>
            <a:ext cx="11871655" cy="685800"/>
          </a:xfrm>
          <a:prstGeom prst="rect">
            <a:avLst/>
          </a:prstGeom>
          <a:solidFill>
            <a:srgbClr val="133A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9" name="Google Shape;809;p17"/>
          <p:cNvSpPr txBox="1"/>
          <p:nvPr/>
        </p:nvSpPr>
        <p:spPr>
          <a:xfrm>
            <a:off x="731520" y="6035040"/>
            <a:ext cx="10607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5EDE0"/>
                </a:solidFill>
                <a:latin typeface="Calibri"/>
                <a:ea typeface="Calibri"/>
                <a:cs typeface="Calibri"/>
                <a:sym typeface="Calibri"/>
              </a:rPr>
              <a:t>Diagnóstico estratégico del proyecto en el contexto académico, territorial y técnico. Alimenta el registro de riesgos y el roadmap de continuidad.</a:t>
            </a:r>
            <a:endParaRPr/>
          </a:p>
        </p:txBody>
      </p:sp>
      <p:pic>
        <p:nvPicPr>
          <p:cNvPr descr="logo-cenfotec-200x200.png" id="810" name="Google Shape;810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430000" y="6172200"/>
            <a:ext cx="411480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DE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6" name="Google Shape;816;p18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33A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7" name="Google Shape;817;p18"/>
          <p:cNvSpPr/>
          <p:nvPr/>
        </p:nvSpPr>
        <p:spPr>
          <a:xfrm>
            <a:off x="320040" y="0"/>
            <a:ext cx="11871655" cy="502920"/>
          </a:xfrm>
          <a:prstGeom prst="rect">
            <a:avLst/>
          </a:prstGeom>
          <a:solidFill>
            <a:srgbClr val="E9DE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8" name="Google Shape;818;p18"/>
          <p:cNvSpPr txBox="1"/>
          <p:nvPr/>
        </p:nvSpPr>
        <p:spPr>
          <a:xfrm>
            <a:off x="731520" y="914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85C38"/>
                </a:solidFill>
                <a:latin typeface="Calibri"/>
                <a:ea typeface="Calibri"/>
                <a:cs typeface="Calibri"/>
                <a:sym typeface="Calibri"/>
              </a:rPr>
              <a:t>ANEXO GESTIÓN · A.7</a:t>
            </a:r>
            <a:endParaRPr/>
          </a:p>
        </p:txBody>
      </p:sp>
      <p:sp>
        <p:nvSpPr>
          <p:cNvPr id="819" name="Google Shape;819;p18"/>
          <p:cNvSpPr txBox="1"/>
          <p:nvPr/>
        </p:nvSpPr>
        <p:spPr>
          <a:xfrm>
            <a:off x="10698480" y="91440"/>
            <a:ext cx="1188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555555"/>
                </a:solidFill>
                <a:latin typeface="Calibri"/>
                <a:ea typeface="Calibri"/>
                <a:cs typeface="Calibri"/>
                <a:sym typeface="Calibri"/>
              </a:rPr>
              <a:t>Raíces Vivas · Entrega Final · CENFOTEC</a:t>
            </a:r>
            <a:endParaRPr/>
          </a:p>
        </p:txBody>
      </p:sp>
      <p:sp>
        <p:nvSpPr>
          <p:cNvPr id="820" name="Google Shape;820;p18"/>
          <p:cNvSpPr txBox="1"/>
          <p:nvPr/>
        </p:nvSpPr>
        <p:spPr>
          <a:xfrm>
            <a:off x="731520" y="640080"/>
            <a:ext cx="106070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33A32"/>
                </a:solidFill>
                <a:latin typeface="Calibri"/>
                <a:ea typeface="Calibri"/>
                <a:cs typeface="Calibri"/>
                <a:sym typeface="Calibri"/>
              </a:rPr>
              <a:t>Análisis de causa-raíz — Ishikawa</a:t>
            </a:r>
            <a:endParaRPr/>
          </a:p>
        </p:txBody>
      </p:sp>
      <p:sp>
        <p:nvSpPr>
          <p:cNvPr id="821" name="Google Shape;821;p18"/>
          <p:cNvSpPr txBox="1"/>
          <p:nvPr/>
        </p:nvSpPr>
        <p:spPr>
          <a:xfrm>
            <a:off x="731520" y="1325880"/>
            <a:ext cx="10607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E6E66"/>
                </a:solidFill>
                <a:latin typeface="Calibri"/>
                <a:ea typeface="Calibri"/>
                <a:cs typeface="Calibri"/>
                <a:sym typeface="Calibri"/>
              </a:rPr>
              <a:t>6M · por qué persiste la brecha sociotécnica</a:t>
            </a:r>
            <a:endParaRPr/>
          </a:p>
        </p:txBody>
      </p:sp>
      <p:sp>
        <p:nvSpPr>
          <p:cNvPr id="822" name="Google Shape;822;p18"/>
          <p:cNvSpPr/>
          <p:nvPr/>
        </p:nvSpPr>
        <p:spPr>
          <a:xfrm>
            <a:off x="685800" y="1828800"/>
            <a:ext cx="10789920" cy="40233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9DEC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agram_ishikawa.png" id="823" name="Google Shape;823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00884" y="1929384"/>
            <a:ext cx="5559750" cy="3822191"/>
          </a:xfrm>
          <a:prstGeom prst="rect">
            <a:avLst/>
          </a:prstGeom>
          <a:noFill/>
          <a:ln>
            <a:noFill/>
          </a:ln>
        </p:spPr>
      </p:pic>
      <p:sp>
        <p:nvSpPr>
          <p:cNvPr id="824" name="Google Shape;824;p18"/>
          <p:cNvSpPr/>
          <p:nvPr/>
        </p:nvSpPr>
        <p:spPr>
          <a:xfrm>
            <a:off x="320040" y="5989320"/>
            <a:ext cx="11871655" cy="685800"/>
          </a:xfrm>
          <a:prstGeom prst="rect">
            <a:avLst/>
          </a:prstGeom>
          <a:solidFill>
            <a:srgbClr val="133A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5" name="Google Shape;825;p18"/>
          <p:cNvSpPr txBox="1"/>
          <p:nvPr/>
        </p:nvSpPr>
        <p:spPr>
          <a:xfrm>
            <a:off x="731520" y="6035040"/>
            <a:ext cx="10607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5EDE0"/>
                </a:solidFill>
                <a:latin typeface="Calibri"/>
                <a:ea typeface="Calibri"/>
                <a:cs typeface="Calibri"/>
                <a:sym typeface="Calibri"/>
              </a:rPr>
              <a:t>Espina de pescado que identifica causas estructurales (método, personas, materiales, entorno, tecnología y medición) detrás de la brecha en educación, saberes y salud comunitaria.</a:t>
            </a:r>
            <a:endParaRPr/>
          </a:p>
        </p:txBody>
      </p:sp>
      <p:pic>
        <p:nvPicPr>
          <p:cNvPr descr="logo-cenfotec-200x200.png" id="826" name="Google Shape;82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430000" y="6172200"/>
            <a:ext cx="411480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DFC"/>
        </a:solidFill>
      </p:bgPr>
    </p:bg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C"/>
          </a:solidFill>
          <a:ln cap="flat" cmpd="sng" w="12700">
            <a:solidFill>
              <a:srgbClr val="FFFDF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3" name="Google Shape;833;p19"/>
          <p:cNvSpPr/>
          <p:nvPr/>
        </p:nvSpPr>
        <p:spPr>
          <a:xfrm>
            <a:off x="-640080" y="-1097280"/>
            <a:ext cx="2926080" cy="2926080"/>
          </a:xfrm>
          <a:prstGeom prst="ellipse">
            <a:avLst/>
          </a:prstGeom>
          <a:solidFill>
            <a:srgbClr val="E8D9C4">
              <a:alpha val="65098"/>
            </a:srgbClr>
          </a:solidFill>
          <a:ln cap="flat" cmpd="sng" w="12700">
            <a:solidFill>
              <a:srgbClr val="E8D9C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4" name="Google Shape;834;p19"/>
          <p:cNvSpPr/>
          <p:nvPr/>
        </p:nvSpPr>
        <p:spPr>
          <a:xfrm>
            <a:off x="10287000" y="5166360"/>
            <a:ext cx="2286000" cy="2286000"/>
          </a:xfrm>
          <a:prstGeom prst="ellipse">
            <a:avLst/>
          </a:prstGeom>
          <a:solidFill>
            <a:srgbClr val="8FA49B">
              <a:alpha val="25098"/>
            </a:srgbClr>
          </a:solidFill>
          <a:ln cap="flat" cmpd="sng" w="12700">
            <a:solidFill>
              <a:srgbClr val="8FA49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5" name="Google Shape;835;p19"/>
          <p:cNvSpPr/>
          <p:nvPr/>
        </p:nvSpPr>
        <p:spPr>
          <a:xfrm>
            <a:off x="9784080" y="-640080"/>
            <a:ext cx="2743200" cy="2743200"/>
          </a:xfrm>
          <a:prstGeom prst="ellipse">
            <a:avLst/>
          </a:prstGeom>
          <a:solidFill>
            <a:srgbClr val="C5A05A">
              <a:alpha val="18039"/>
            </a:srgbClr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6" name="Google Shape;836;p19"/>
          <p:cNvSpPr/>
          <p:nvPr/>
        </p:nvSpPr>
        <p:spPr>
          <a:xfrm>
            <a:off x="411480" y="310896"/>
            <a:ext cx="11384280" cy="9144"/>
          </a:xfrm>
          <a:prstGeom prst="rect">
            <a:avLst/>
          </a:prstGeom>
          <a:solidFill>
            <a:srgbClr val="D9D1C5">
              <a:alpha val="0"/>
            </a:srgbClr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7" name="Google Shape;837;p19"/>
          <p:cNvSpPr/>
          <p:nvPr/>
        </p:nvSpPr>
        <p:spPr>
          <a:xfrm>
            <a:off x="548640" y="164592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IMPLEMENTACIÓN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9"/>
          <p:cNvSpPr/>
          <p:nvPr/>
        </p:nvSpPr>
        <p:spPr>
          <a:xfrm>
            <a:off x="548640" y="384048"/>
            <a:ext cx="8138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400"/>
              <a:buFont typeface="Play"/>
              <a:buNone/>
            </a:pPr>
            <a:r>
              <a:rPr b="1" i="0" lang="en-US" sz="24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Estado del MVP y preparación técnica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9"/>
          <p:cNvSpPr/>
          <p:nvPr/>
        </p:nvSpPr>
        <p:spPr>
          <a:xfrm>
            <a:off x="548640" y="6446520"/>
            <a:ext cx="4023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Raíces Vivas · Entrega Final · CENFOTEC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9"/>
          <p:cNvSpPr/>
          <p:nvPr/>
        </p:nvSpPr>
        <p:spPr>
          <a:xfrm>
            <a:off x="566928" y="868680"/>
            <a:ext cx="67665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El MVP consolidó la estructura base de la PWA, el flujo de sincronización y los componentes visibles del módulo EDU.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9"/>
          <p:cNvSpPr/>
          <p:nvPr/>
        </p:nvSpPr>
        <p:spPr>
          <a:xfrm>
            <a:off x="566928" y="1234440"/>
            <a:ext cx="6629400" cy="4983480"/>
          </a:xfrm>
          <a:prstGeom prst="roundRect">
            <a:avLst>
              <a:gd fmla="val 1468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2" name="Google Shape;842;p19"/>
          <p:cNvSpPr/>
          <p:nvPr/>
        </p:nvSpPr>
        <p:spPr>
          <a:xfrm>
            <a:off x="804672" y="1444752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PANTALLAS Y CAPACIDADES IMPLEMENTADAS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9"/>
          <p:cNvSpPr/>
          <p:nvPr/>
        </p:nvSpPr>
        <p:spPr>
          <a:xfrm>
            <a:off x="896112" y="1783080"/>
            <a:ext cx="1444752" cy="3611880"/>
          </a:xfrm>
          <a:prstGeom prst="roundRect">
            <a:avLst>
              <a:gd fmla="val 7595" name="adj"/>
            </a:avLst>
          </a:prstGeom>
          <a:solidFill>
            <a:srgbClr val="111111"/>
          </a:solidFill>
          <a:ln cap="flat" cmpd="sng" w="12700">
            <a:solidFill>
              <a:srgbClr val="133A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4" name="Google Shape;844;p19"/>
          <p:cNvSpPr/>
          <p:nvPr/>
        </p:nvSpPr>
        <p:spPr>
          <a:xfrm>
            <a:off x="1005840" y="1892808"/>
            <a:ext cx="1225296" cy="3392424"/>
          </a:xfrm>
          <a:prstGeom prst="roundRect">
            <a:avLst>
              <a:gd fmla="val 5970" name="adj"/>
            </a:avLst>
          </a:prstGeom>
          <a:solidFill>
            <a:srgbClr val="F8F5EF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5" name="Google Shape;845;p19"/>
          <p:cNvSpPr/>
          <p:nvPr/>
        </p:nvSpPr>
        <p:spPr>
          <a:xfrm>
            <a:off x="1005840" y="1892808"/>
            <a:ext cx="1225296" cy="292608"/>
          </a:xfrm>
          <a:prstGeom prst="rect">
            <a:avLst/>
          </a:prstGeom>
          <a:solidFill>
            <a:srgbClr val="133A32"/>
          </a:solidFill>
          <a:ln cap="flat" cmpd="sng" w="12700">
            <a:solidFill>
              <a:srgbClr val="133A32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6" name="Google Shape;846;p19"/>
          <p:cNvSpPr/>
          <p:nvPr/>
        </p:nvSpPr>
        <p:spPr>
          <a:xfrm>
            <a:off x="1097280" y="1947672"/>
            <a:ext cx="1042416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AppShell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9"/>
          <p:cNvSpPr/>
          <p:nvPr/>
        </p:nvSpPr>
        <p:spPr>
          <a:xfrm>
            <a:off x="1115568" y="2313432"/>
            <a:ext cx="1005840" cy="384048"/>
          </a:xfrm>
          <a:prstGeom prst="roundRect">
            <a:avLst>
              <a:gd fmla="val 7143" name="adj"/>
            </a:avLst>
          </a:prstGeom>
          <a:solidFill>
            <a:srgbClr val="E6EFEA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8" name="Google Shape;848;p19"/>
          <p:cNvSpPr/>
          <p:nvPr/>
        </p:nvSpPr>
        <p:spPr>
          <a:xfrm>
            <a:off x="1207008" y="2423160"/>
            <a:ext cx="82296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Header + BottomNav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9"/>
          <p:cNvSpPr/>
          <p:nvPr/>
        </p:nvSpPr>
        <p:spPr>
          <a:xfrm>
            <a:off x="1115568" y="2807208"/>
            <a:ext cx="1005840" cy="201168"/>
          </a:xfrm>
          <a:prstGeom prst="roundRect">
            <a:avLst>
              <a:gd fmla="val 13636" name="adj"/>
            </a:avLst>
          </a:prstGeom>
          <a:solidFill>
            <a:srgbClr val="E9E3D7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0" name="Google Shape;850;p19"/>
          <p:cNvSpPr/>
          <p:nvPr/>
        </p:nvSpPr>
        <p:spPr>
          <a:xfrm>
            <a:off x="1115568" y="3099816"/>
            <a:ext cx="1005840" cy="201168"/>
          </a:xfrm>
          <a:prstGeom prst="roundRect">
            <a:avLst>
              <a:gd fmla="val 13636" name="adj"/>
            </a:avLst>
          </a:prstGeom>
          <a:solidFill>
            <a:srgbClr val="E9E3D7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1" name="Google Shape;851;p19"/>
          <p:cNvSpPr/>
          <p:nvPr/>
        </p:nvSpPr>
        <p:spPr>
          <a:xfrm>
            <a:off x="1115568" y="3392424"/>
            <a:ext cx="1005840" cy="201168"/>
          </a:xfrm>
          <a:prstGeom prst="roundRect">
            <a:avLst>
              <a:gd fmla="val 13636" name="adj"/>
            </a:avLst>
          </a:prstGeom>
          <a:solidFill>
            <a:srgbClr val="E9E3D7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2" name="Google Shape;852;p19"/>
          <p:cNvSpPr/>
          <p:nvPr/>
        </p:nvSpPr>
        <p:spPr>
          <a:xfrm>
            <a:off x="1133856" y="4919472"/>
            <a:ext cx="969264" cy="146304"/>
          </a:xfrm>
          <a:prstGeom prst="rect">
            <a:avLst/>
          </a:prstGeom>
          <a:solidFill>
            <a:srgbClr val="DDD5C7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3" name="Google Shape;853;p19"/>
          <p:cNvSpPr/>
          <p:nvPr/>
        </p:nvSpPr>
        <p:spPr>
          <a:xfrm>
            <a:off x="1133856" y="5129784"/>
            <a:ext cx="620329" cy="146304"/>
          </a:xfrm>
          <a:prstGeom prst="rect">
            <a:avLst/>
          </a:prstGeom>
          <a:solidFill>
            <a:srgbClr val="8FA49B"/>
          </a:solidFill>
          <a:ln cap="flat" cmpd="sng" w="12700">
            <a:solidFill>
              <a:srgbClr val="8FA49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4" name="Google Shape;854;p19"/>
          <p:cNvSpPr/>
          <p:nvPr/>
        </p:nvSpPr>
        <p:spPr>
          <a:xfrm>
            <a:off x="2487168" y="1783080"/>
            <a:ext cx="1444752" cy="3611880"/>
          </a:xfrm>
          <a:prstGeom prst="roundRect">
            <a:avLst>
              <a:gd fmla="val 7595" name="adj"/>
            </a:avLst>
          </a:prstGeom>
          <a:solidFill>
            <a:srgbClr val="111111"/>
          </a:solidFill>
          <a:ln cap="flat" cmpd="sng" w="12700">
            <a:solidFill>
              <a:srgbClr val="133A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5" name="Google Shape;855;p19"/>
          <p:cNvSpPr/>
          <p:nvPr/>
        </p:nvSpPr>
        <p:spPr>
          <a:xfrm>
            <a:off x="2596896" y="1892808"/>
            <a:ext cx="1225296" cy="3392424"/>
          </a:xfrm>
          <a:prstGeom prst="roundRect">
            <a:avLst>
              <a:gd fmla="val 5970" name="adj"/>
            </a:avLst>
          </a:prstGeom>
          <a:solidFill>
            <a:srgbClr val="F8F5EF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6" name="Google Shape;856;p19"/>
          <p:cNvSpPr/>
          <p:nvPr/>
        </p:nvSpPr>
        <p:spPr>
          <a:xfrm>
            <a:off x="2596896" y="1892808"/>
            <a:ext cx="1225296" cy="292608"/>
          </a:xfrm>
          <a:prstGeom prst="rect">
            <a:avLst/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7" name="Google Shape;857;p19"/>
          <p:cNvSpPr/>
          <p:nvPr/>
        </p:nvSpPr>
        <p:spPr>
          <a:xfrm>
            <a:off x="2688336" y="1947672"/>
            <a:ext cx="1042416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Dashboard EDU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9"/>
          <p:cNvSpPr/>
          <p:nvPr/>
        </p:nvSpPr>
        <p:spPr>
          <a:xfrm>
            <a:off x="2706624" y="2313432"/>
            <a:ext cx="1005840" cy="384048"/>
          </a:xfrm>
          <a:prstGeom prst="roundRect">
            <a:avLst>
              <a:gd fmla="val 7143" name="adj"/>
            </a:avLst>
          </a:prstGeom>
          <a:solidFill>
            <a:srgbClr val="E6EFEA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9" name="Google Shape;859;p19"/>
          <p:cNvSpPr/>
          <p:nvPr/>
        </p:nvSpPr>
        <p:spPr>
          <a:xfrm>
            <a:off x="2798064" y="2423160"/>
            <a:ext cx="82296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Resumen educativo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9"/>
          <p:cNvSpPr/>
          <p:nvPr/>
        </p:nvSpPr>
        <p:spPr>
          <a:xfrm>
            <a:off x="2706624" y="2807208"/>
            <a:ext cx="1005840" cy="201168"/>
          </a:xfrm>
          <a:prstGeom prst="roundRect">
            <a:avLst>
              <a:gd fmla="val 13636" name="adj"/>
            </a:avLst>
          </a:prstGeom>
          <a:solidFill>
            <a:srgbClr val="E9E3D7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1" name="Google Shape;861;p19"/>
          <p:cNvSpPr/>
          <p:nvPr/>
        </p:nvSpPr>
        <p:spPr>
          <a:xfrm>
            <a:off x="2706624" y="3099816"/>
            <a:ext cx="1005840" cy="201168"/>
          </a:xfrm>
          <a:prstGeom prst="roundRect">
            <a:avLst>
              <a:gd fmla="val 13636" name="adj"/>
            </a:avLst>
          </a:prstGeom>
          <a:solidFill>
            <a:srgbClr val="E9E3D7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2" name="Google Shape;862;p19"/>
          <p:cNvSpPr/>
          <p:nvPr/>
        </p:nvSpPr>
        <p:spPr>
          <a:xfrm>
            <a:off x="2706624" y="3392424"/>
            <a:ext cx="1005840" cy="201168"/>
          </a:xfrm>
          <a:prstGeom prst="roundRect">
            <a:avLst>
              <a:gd fmla="val 13636" name="adj"/>
            </a:avLst>
          </a:prstGeom>
          <a:solidFill>
            <a:srgbClr val="E9E3D7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3" name="Google Shape;863;p19"/>
          <p:cNvSpPr/>
          <p:nvPr/>
        </p:nvSpPr>
        <p:spPr>
          <a:xfrm>
            <a:off x="2724912" y="4919472"/>
            <a:ext cx="969264" cy="146304"/>
          </a:xfrm>
          <a:prstGeom prst="rect">
            <a:avLst/>
          </a:prstGeom>
          <a:solidFill>
            <a:srgbClr val="DDD5C7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4" name="Google Shape;864;p19"/>
          <p:cNvSpPr/>
          <p:nvPr/>
        </p:nvSpPr>
        <p:spPr>
          <a:xfrm>
            <a:off x="2724912" y="5129784"/>
            <a:ext cx="620329" cy="146304"/>
          </a:xfrm>
          <a:prstGeom prst="rect">
            <a:avLst/>
          </a:prstGeom>
          <a:solidFill>
            <a:srgbClr val="8FA49B"/>
          </a:solidFill>
          <a:ln cap="flat" cmpd="sng" w="12700">
            <a:solidFill>
              <a:srgbClr val="8FA49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5" name="Google Shape;865;p19"/>
          <p:cNvSpPr/>
          <p:nvPr/>
        </p:nvSpPr>
        <p:spPr>
          <a:xfrm>
            <a:off x="4078224" y="1783080"/>
            <a:ext cx="1444752" cy="3611880"/>
          </a:xfrm>
          <a:prstGeom prst="roundRect">
            <a:avLst>
              <a:gd fmla="val 7595" name="adj"/>
            </a:avLst>
          </a:prstGeom>
          <a:solidFill>
            <a:srgbClr val="111111"/>
          </a:solidFill>
          <a:ln cap="flat" cmpd="sng" w="12700">
            <a:solidFill>
              <a:srgbClr val="133A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6" name="Google Shape;866;p19"/>
          <p:cNvSpPr/>
          <p:nvPr/>
        </p:nvSpPr>
        <p:spPr>
          <a:xfrm>
            <a:off x="4187952" y="1892808"/>
            <a:ext cx="1225296" cy="3392424"/>
          </a:xfrm>
          <a:prstGeom prst="roundRect">
            <a:avLst>
              <a:gd fmla="val 5970" name="adj"/>
            </a:avLst>
          </a:prstGeom>
          <a:solidFill>
            <a:srgbClr val="F8F5EF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7" name="Google Shape;867;p19"/>
          <p:cNvSpPr/>
          <p:nvPr/>
        </p:nvSpPr>
        <p:spPr>
          <a:xfrm>
            <a:off x="4187952" y="1892808"/>
            <a:ext cx="1225296" cy="292608"/>
          </a:xfrm>
          <a:prstGeom prst="rect">
            <a:avLst/>
          </a:prstGeom>
          <a:solidFill>
            <a:srgbClr val="B85C38"/>
          </a:solidFill>
          <a:ln cap="flat" cmpd="sng" w="12700">
            <a:solidFill>
              <a:srgbClr val="B85C3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8" name="Google Shape;868;p19"/>
          <p:cNvSpPr/>
          <p:nvPr/>
        </p:nvSpPr>
        <p:spPr>
          <a:xfrm>
            <a:off x="4279392" y="1947672"/>
            <a:ext cx="1042416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Materiales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19"/>
          <p:cNvSpPr/>
          <p:nvPr/>
        </p:nvSpPr>
        <p:spPr>
          <a:xfrm>
            <a:off x="4297680" y="2313432"/>
            <a:ext cx="1005840" cy="384048"/>
          </a:xfrm>
          <a:prstGeom prst="roundRect">
            <a:avLst>
              <a:gd fmla="val 7143" name="adj"/>
            </a:avLst>
          </a:prstGeom>
          <a:solidFill>
            <a:srgbClr val="E6EFEA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0" name="Google Shape;870;p19"/>
          <p:cNvSpPr/>
          <p:nvPr/>
        </p:nvSpPr>
        <p:spPr>
          <a:xfrm>
            <a:off x="4389120" y="2423160"/>
            <a:ext cx="82296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CRUD multimedia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1" name="Google Shape;871;p19"/>
          <p:cNvSpPr/>
          <p:nvPr/>
        </p:nvSpPr>
        <p:spPr>
          <a:xfrm>
            <a:off x="4297680" y="2807208"/>
            <a:ext cx="1005840" cy="201168"/>
          </a:xfrm>
          <a:prstGeom prst="roundRect">
            <a:avLst>
              <a:gd fmla="val 13636" name="adj"/>
            </a:avLst>
          </a:prstGeom>
          <a:solidFill>
            <a:srgbClr val="E9E3D7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2" name="Google Shape;872;p19"/>
          <p:cNvSpPr/>
          <p:nvPr/>
        </p:nvSpPr>
        <p:spPr>
          <a:xfrm>
            <a:off x="4297680" y="3099816"/>
            <a:ext cx="1005840" cy="201168"/>
          </a:xfrm>
          <a:prstGeom prst="roundRect">
            <a:avLst>
              <a:gd fmla="val 13636" name="adj"/>
            </a:avLst>
          </a:prstGeom>
          <a:solidFill>
            <a:srgbClr val="E9E3D7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3" name="Google Shape;873;p19"/>
          <p:cNvSpPr/>
          <p:nvPr/>
        </p:nvSpPr>
        <p:spPr>
          <a:xfrm>
            <a:off x="4297680" y="3392424"/>
            <a:ext cx="1005840" cy="201168"/>
          </a:xfrm>
          <a:prstGeom prst="roundRect">
            <a:avLst>
              <a:gd fmla="val 13636" name="adj"/>
            </a:avLst>
          </a:prstGeom>
          <a:solidFill>
            <a:srgbClr val="E9E3D7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4" name="Google Shape;874;p19"/>
          <p:cNvSpPr/>
          <p:nvPr/>
        </p:nvSpPr>
        <p:spPr>
          <a:xfrm>
            <a:off x="4315968" y="4919472"/>
            <a:ext cx="969264" cy="146304"/>
          </a:xfrm>
          <a:prstGeom prst="rect">
            <a:avLst/>
          </a:prstGeom>
          <a:solidFill>
            <a:srgbClr val="DDD5C7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5" name="Google Shape;875;p19"/>
          <p:cNvSpPr/>
          <p:nvPr/>
        </p:nvSpPr>
        <p:spPr>
          <a:xfrm>
            <a:off x="4315968" y="5129784"/>
            <a:ext cx="620329" cy="146304"/>
          </a:xfrm>
          <a:prstGeom prst="rect">
            <a:avLst/>
          </a:prstGeom>
          <a:solidFill>
            <a:srgbClr val="8FA49B"/>
          </a:solidFill>
          <a:ln cap="flat" cmpd="sng" w="12700">
            <a:solidFill>
              <a:srgbClr val="8FA49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6" name="Google Shape;876;p19"/>
          <p:cNvSpPr/>
          <p:nvPr/>
        </p:nvSpPr>
        <p:spPr>
          <a:xfrm>
            <a:off x="5669280" y="1783080"/>
            <a:ext cx="1051560" cy="3611880"/>
          </a:xfrm>
          <a:prstGeom prst="roundRect">
            <a:avLst>
              <a:gd fmla="val 10435" name="adj"/>
            </a:avLst>
          </a:prstGeom>
          <a:solidFill>
            <a:srgbClr val="111111"/>
          </a:solidFill>
          <a:ln cap="flat" cmpd="sng" w="12700">
            <a:solidFill>
              <a:srgbClr val="133A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7" name="Google Shape;877;p19"/>
          <p:cNvSpPr/>
          <p:nvPr/>
        </p:nvSpPr>
        <p:spPr>
          <a:xfrm>
            <a:off x="5779008" y="1892808"/>
            <a:ext cx="832104" cy="3392424"/>
          </a:xfrm>
          <a:prstGeom prst="roundRect">
            <a:avLst>
              <a:gd fmla="val 8791" name="adj"/>
            </a:avLst>
          </a:prstGeom>
          <a:solidFill>
            <a:srgbClr val="F8F5EF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8" name="Google Shape;878;p19"/>
          <p:cNvSpPr/>
          <p:nvPr/>
        </p:nvSpPr>
        <p:spPr>
          <a:xfrm>
            <a:off x="5779008" y="1892808"/>
            <a:ext cx="832104" cy="292608"/>
          </a:xfrm>
          <a:prstGeom prst="rect">
            <a:avLst/>
          </a:prstGeom>
          <a:solidFill>
            <a:srgbClr val="C5A05A"/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9" name="Google Shape;879;p19"/>
          <p:cNvSpPr/>
          <p:nvPr/>
        </p:nvSpPr>
        <p:spPr>
          <a:xfrm>
            <a:off x="5870448" y="1947672"/>
            <a:ext cx="649224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Idioma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0" name="Google Shape;880;p19"/>
          <p:cNvSpPr/>
          <p:nvPr/>
        </p:nvSpPr>
        <p:spPr>
          <a:xfrm>
            <a:off x="5888736" y="2313432"/>
            <a:ext cx="612648" cy="384048"/>
          </a:xfrm>
          <a:prstGeom prst="roundRect">
            <a:avLst>
              <a:gd fmla="val 7143" name="adj"/>
            </a:avLst>
          </a:prstGeom>
          <a:solidFill>
            <a:srgbClr val="E6EFEA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1" name="Google Shape;881;p19"/>
          <p:cNvSpPr/>
          <p:nvPr/>
        </p:nvSpPr>
        <p:spPr>
          <a:xfrm>
            <a:off x="5980176" y="2423160"/>
            <a:ext cx="429768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es / bri / cab / ngb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2" name="Google Shape;882;p19"/>
          <p:cNvSpPr/>
          <p:nvPr/>
        </p:nvSpPr>
        <p:spPr>
          <a:xfrm>
            <a:off x="5888736" y="2807208"/>
            <a:ext cx="612648" cy="201168"/>
          </a:xfrm>
          <a:prstGeom prst="roundRect">
            <a:avLst>
              <a:gd fmla="val 13636" name="adj"/>
            </a:avLst>
          </a:prstGeom>
          <a:solidFill>
            <a:srgbClr val="E9E3D7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3" name="Google Shape;883;p19"/>
          <p:cNvSpPr/>
          <p:nvPr/>
        </p:nvSpPr>
        <p:spPr>
          <a:xfrm>
            <a:off x="5888736" y="3099816"/>
            <a:ext cx="612648" cy="201168"/>
          </a:xfrm>
          <a:prstGeom prst="roundRect">
            <a:avLst>
              <a:gd fmla="val 13636" name="adj"/>
            </a:avLst>
          </a:prstGeom>
          <a:solidFill>
            <a:srgbClr val="E9E3D7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4" name="Google Shape;884;p19"/>
          <p:cNvSpPr/>
          <p:nvPr/>
        </p:nvSpPr>
        <p:spPr>
          <a:xfrm>
            <a:off x="5888736" y="3392424"/>
            <a:ext cx="612648" cy="201168"/>
          </a:xfrm>
          <a:prstGeom prst="roundRect">
            <a:avLst>
              <a:gd fmla="val 13636" name="adj"/>
            </a:avLst>
          </a:prstGeom>
          <a:solidFill>
            <a:srgbClr val="E9E3D7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5" name="Google Shape;885;p19"/>
          <p:cNvSpPr/>
          <p:nvPr/>
        </p:nvSpPr>
        <p:spPr>
          <a:xfrm>
            <a:off x="5907024" y="4919472"/>
            <a:ext cx="576072" cy="146304"/>
          </a:xfrm>
          <a:prstGeom prst="rect">
            <a:avLst/>
          </a:prstGeom>
          <a:solidFill>
            <a:srgbClr val="DDD5C7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6" name="Google Shape;886;p19"/>
          <p:cNvSpPr/>
          <p:nvPr/>
        </p:nvSpPr>
        <p:spPr>
          <a:xfrm>
            <a:off x="5907024" y="5129784"/>
            <a:ext cx="368686" cy="146304"/>
          </a:xfrm>
          <a:prstGeom prst="rect">
            <a:avLst/>
          </a:prstGeom>
          <a:solidFill>
            <a:srgbClr val="8FA49B"/>
          </a:solidFill>
          <a:ln cap="flat" cmpd="sng" w="12700">
            <a:solidFill>
              <a:srgbClr val="8FA49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7" name="Google Shape;887;p19"/>
          <p:cNvSpPr/>
          <p:nvPr/>
        </p:nvSpPr>
        <p:spPr>
          <a:xfrm>
            <a:off x="896112" y="5577840"/>
            <a:ext cx="5669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Implementado en Sprint-03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8" name="Google Shape;888;p19"/>
          <p:cNvSpPr/>
          <p:nvPr/>
        </p:nvSpPr>
        <p:spPr>
          <a:xfrm>
            <a:off x="7406640" y="1234440"/>
            <a:ext cx="4206240" cy="4983480"/>
          </a:xfrm>
          <a:prstGeom prst="roundRect">
            <a:avLst>
              <a:gd fmla="val 1739" name="adj"/>
            </a:avLst>
          </a:prstGeom>
          <a:solidFill>
            <a:srgbClr val="FFFDFC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9" name="Google Shape;889;p19"/>
          <p:cNvSpPr/>
          <p:nvPr/>
        </p:nvSpPr>
        <p:spPr>
          <a:xfrm>
            <a:off x="7635240" y="1444752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STACK Y RENDIMIENTO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0" name="Google Shape;890;p19"/>
          <p:cNvSpPr/>
          <p:nvPr/>
        </p:nvSpPr>
        <p:spPr>
          <a:xfrm>
            <a:off x="7662672" y="1792224"/>
            <a:ext cx="132588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1" name="Google Shape;891;p19"/>
          <p:cNvSpPr/>
          <p:nvPr/>
        </p:nvSpPr>
        <p:spPr>
          <a:xfrm>
            <a:off x="7662672" y="1792224"/>
            <a:ext cx="91440" cy="914400"/>
          </a:xfrm>
          <a:prstGeom prst="rect">
            <a:avLst/>
          </a:prstGeom>
          <a:solidFill>
            <a:srgbClr val="133A32"/>
          </a:solidFill>
          <a:ln cap="flat" cmpd="sng" w="12700">
            <a:solidFill>
              <a:srgbClr val="133A32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2" name="Google Shape;892;p19"/>
          <p:cNvSpPr/>
          <p:nvPr/>
        </p:nvSpPr>
        <p:spPr>
          <a:xfrm>
            <a:off x="7863840" y="1956816"/>
            <a:ext cx="101498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000"/>
              <a:buFont typeface="Play"/>
              <a:buNone/>
            </a:pPr>
            <a:r>
              <a:rPr b="1" i="0" lang="en-US" sz="19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React 19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3" name="Google Shape;893;p19"/>
          <p:cNvSpPr/>
          <p:nvPr/>
        </p:nvSpPr>
        <p:spPr>
          <a:xfrm>
            <a:off x="7863851" y="2359150"/>
            <a:ext cx="11247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frontend tipado con TypeScript 5.9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4" name="Google Shape;894;p19"/>
          <p:cNvSpPr/>
          <p:nvPr/>
        </p:nvSpPr>
        <p:spPr>
          <a:xfrm>
            <a:off x="9125712" y="1792224"/>
            <a:ext cx="132588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5" name="Google Shape;895;p19"/>
          <p:cNvSpPr/>
          <p:nvPr/>
        </p:nvSpPr>
        <p:spPr>
          <a:xfrm>
            <a:off x="9125712" y="1792224"/>
            <a:ext cx="91440" cy="914400"/>
          </a:xfrm>
          <a:prstGeom prst="rect">
            <a:avLst/>
          </a:prstGeom>
          <a:solidFill>
            <a:srgbClr val="B85C38"/>
          </a:solidFill>
          <a:ln cap="flat" cmpd="sng" w="12700">
            <a:solidFill>
              <a:srgbClr val="B85C3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6" name="Google Shape;896;p19"/>
          <p:cNvSpPr/>
          <p:nvPr/>
        </p:nvSpPr>
        <p:spPr>
          <a:xfrm>
            <a:off x="9326880" y="1956816"/>
            <a:ext cx="101498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B85C38"/>
                </a:solidFill>
                <a:latin typeface="Play"/>
                <a:ea typeface="Play"/>
                <a:cs typeface="Play"/>
                <a:sym typeface="Play"/>
              </a:rPr>
              <a:t>Vite 8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7" name="Google Shape;897;p19"/>
          <p:cNvSpPr/>
          <p:nvPr/>
        </p:nvSpPr>
        <p:spPr>
          <a:xfrm>
            <a:off x="9326880" y="2359152"/>
            <a:ext cx="10149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build ESM, HMR y tree-shaking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8" name="Google Shape;898;p19"/>
          <p:cNvSpPr/>
          <p:nvPr/>
        </p:nvSpPr>
        <p:spPr>
          <a:xfrm>
            <a:off x="10588752" y="1792224"/>
            <a:ext cx="777240" cy="914400"/>
          </a:xfrm>
          <a:prstGeom prst="roundRect">
            <a:avLst>
              <a:gd fmla="val 9412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9" name="Google Shape;899;p19"/>
          <p:cNvSpPr/>
          <p:nvPr/>
        </p:nvSpPr>
        <p:spPr>
          <a:xfrm>
            <a:off x="10588752" y="1792224"/>
            <a:ext cx="91440" cy="914400"/>
          </a:xfrm>
          <a:prstGeom prst="rect">
            <a:avLst/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0" name="Google Shape;900;p19"/>
          <p:cNvSpPr/>
          <p:nvPr/>
        </p:nvSpPr>
        <p:spPr>
          <a:xfrm>
            <a:off x="10711850" y="1956825"/>
            <a:ext cx="6126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E66"/>
              </a:buClr>
              <a:buSzPts val="2000"/>
              <a:buFont typeface="Play"/>
              <a:buNone/>
            </a:pPr>
            <a:r>
              <a:rPr b="1" i="0" lang="en-US" sz="1900" u="none" cap="none" strike="noStrike">
                <a:solidFill>
                  <a:srgbClr val="4E6E66"/>
                </a:solidFill>
                <a:latin typeface="Play"/>
                <a:ea typeface="Play"/>
                <a:cs typeface="Play"/>
                <a:sym typeface="Play"/>
              </a:rPr>
              <a:t>PWA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" name="Google Shape;901;p19"/>
          <p:cNvSpPr/>
          <p:nvPr/>
        </p:nvSpPr>
        <p:spPr>
          <a:xfrm>
            <a:off x="10789926" y="2359150"/>
            <a:ext cx="5760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workbox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2" name="Google Shape;902;p19"/>
          <p:cNvSpPr/>
          <p:nvPr/>
        </p:nvSpPr>
        <p:spPr>
          <a:xfrm>
            <a:off x="7662672" y="2907792"/>
            <a:ext cx="132588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3" name="Google Shape;903;p19"/>
          <p:cNvSpPr/>
          <p:nvPr/>
        </p:nvSpPr>
        <p:spPr>
          <a:xfrm>
            <a:off x="7662672" y="2907792"/>
            <a:ext cx="91440" cy="914400"/>
          </a:xfrm>
          <a:prstGeom prst="rect">
            <a:avLst/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4" name="Google Shape;904;p19"/>
          <p:cNvSpPr/>
          <p:nvPr/>
        </p:nvSpPr>
        <p:spPr>
          <a:xfrm>
            <a:off x="7863840" y="3072384"/>
            <a:ext cx="101498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E66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4E6E66"/>
                </a:solidFill>
                <a:latin typeface="Play"/>
                <a:ea typeface="Play"/>
                <a:cs typeface="Play"/>
                <a:sym typeface="Play"/>
              </a:rPr>
              <a:t>PouchDB 9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Google Shape;905;p19"/>
          <p:cNvSpPr/>
          <p:nvPr/>
        </p:nvSpPr>
        <p:spPr>
          <a:xfrm>
            <a:off x="7863840" y="3474720"/>
            <a:ext cx="10149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persistencia local y sync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p19"/>
          <p:cNvSpPr/>
          <p:nvPr/>
        </p:nvSpPr>
        <p:spPr>
          <a:xfrm>
            <a:off x="9125712" y="2907792"/>
            <a:ext cx="1325880" cy="9144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7" name="Google Shape;907;p19"/>
          <p:cNvSpPr/>
          <p:nvPr/>
        </p:nvSpPr>
        <p:spPr>
          <a:xfrm>
            <a:off x="9125712" y="2907792"/>
            <a:ext cx="91440" cy="914400"/>
          </a:xfrm>
          <a:prstGeom prst="rect">
            <a:avLst/>
          </a:prstGeom>
          <a:solidFill>
            <a:srgbClr val="C5A05A"/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8" name="Google Shape;908;p19"/>
          <p:cNvSpPr/>
          <p:nvPr/>
        </p:nvSpPr>
        <p:spPr>
          <a:xfrm>
            <a:off x="9326880" y="3072384"/>
            <a:ext cx="101498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5A05A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C5A05A"/>
                </a:solidFill>
                <a:latin typeface="Play"/>
                <a:ea typeface="Play"/>
                <a:cs typeface="Play"/>
                <a:sym typeface="Play"/>
              </a:rPr>
              <a:t>i18next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9" name="Google Shape;909;p19"/>
          <p:cNvSpPr/>
          <p:nvPr/>
        </p:nvSpPr>
        <p:spPr>
          <a:xfrm>
            <a:off x="9326880" y="3474720"/>
            <a:ext cx="101498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motor multilingüe de interfaz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0" name="Google Shape;910;p19"/>
          <p:cNvSpPr/>
          <p:nvPr/>
        </p:nvSpPr>
        <p:spPr>
          <a:xfrm>
            <a:off x="10588752" y="2907792"/>
            <a:ext cx="777240" cy="914400"/>
          </a:xfrm>
          <a:prstGeom prst="roundRect">
            <a:avLst>
              <a:gd fmla="val 9412" name="adj"/>
            </a:avLst>
          </a:prstGeom>
          <a:solidFill>
            <a:srgbClr val="FFFFFF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1" name="Google Shape;911;p19"/>
          <p:cNvSpPr/>
          <p:nvPr/>
        </p:nvSpPr>
        <p:spPr>
          <a:xfrm>
            <a:off x="10588752" y="2907792"/>
            <a:ext cx="91440" cy="914400"/>
          </a:xfrm>
          <a:prstGeom prst="rect">
            <a:avLst/>
          </a:prstGeom>
          <a:solidFill>
            <a:srgbClr val="133A32"/>
          </a:solidFill>
          <a:ln cap="flat" cmpd="sng" w="12700">
            <a:solidFill>
              <a:srgbClr val="133A32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2" name="Google Shape;912;p19"/>
          <p:cNvSpPr/>
          <p:nvPr/>
        </p:nvSpPr>
        <p:spPr>
          <a:xfrm>
            <a:off x="10789920" y="3072384"/>
            <a:ext cx="46634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000"/>
              <a:buFont typeface="Play"/>
              <a:buNone/>
            </a:pPr>
            <a:r>
              <a:rPr b="1" i="0" lang="en-US" sz="20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97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3" name="Google Shape;913;p19"/>
          <p:cNvSpPr/>
          <p:nvPr/>
        </p:nvSpPr>
        <p:spPr>
          <a:xfrm>
            <a:off x="10789926" y="3474725"/>
            <a:ext cx="5346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módulos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4" name="Google Shape;914;p19"/>
          <p:cNvSpPr/>
          <p:nvPr/>
        </p:nvSpPr>
        <p:spPr>
          <a:xfrm>
            <a:off x="7662672" y="4251960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452 KB / 145 KB gzip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5" name="Google Shape;915;p19"/>
          <p:cNvSpPr/>
          <p:nvPr/>
        </p:nvSpPr>
        <p:spPr>
          <a:xfrm>
            <a:off x="10680192" y="4251960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920"/>
              <a:buFont typeface="Arial"/>
              <a:buNone/>
            </a:pPr>
            <a:r>
              <a:rPr b="1" i="0" lang="en-US" sz="9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133A32</a:t>
            </a:r>
            <a:endParaRPr b="0" i="0" sz="9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6" name="Google Shape;916;p19"/>
          <p:cNvSpPr/>
          <p:nvPr/>
        </p:nvSpPr>
        <p:spPr>
          <a:xfrm>
            <a:off x="7662672" y="4425696"/>
            <a:ext cx="3611880" cy="137160"/>
          </a:xfrm>
          <a:prstGeom prst="roundRect">
            <a:avLst>
              <a:gd fmla="val 20000" name="adj"/>
            </a:avLst>
          </a:prstGeom>
          <a:solidFill>
            <a:srgbClr val="EDE7DD"/>
          </a:solidFill>
          <a:ln cap="flat" cmpd="sng" w="12700">
            <a:solidFill>
              <a:srgbClr val="D9D1C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7" name="Google Shape;917;p19"/>
          <p:cNvSpPr/>
          <p:nvPr/>
        </p:nvSpPr>
        <p:spPr>
          <a:xfrm>
            <a:off x="7662672" y="4425696"/>
            <a:ext cx="914400" cy="137160"/>
          </a:xfrm>
          <a:prstGeom prst="roundRect">
            <a:avLst>
              <a:gd fmla="val 20000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8" name="Google Shape;918;p19"/>
          <p:cNvSpPr/>
          <p:nvPr/>
        </p:nvSpPr>
        <p:spPr>
          <a:xfrm>
            <a:off x="7662672" y="5074920"/>
            <a:ext cx="36118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110"/>
              <a:buFont typeface="Arial"/>
              <a:buNone/>
            </a:pPr>
            <a:r>
              <a:rPr b="0" i="0" lang="en-US" sz="111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Meta académica cumplida: diseño funcional, implementación base y evidencia de viabilidad en dispositivos Android económicos.</a:t>
            </a:r>
            <a:endParaRPr b="0" i="0" sz="111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9" name="Google Shape;919;p19"/>
          <p:cNvSpPr/>
          <p:nvPr/>
        </p:nvSpPr>
        <p:spPr>
          <a:xfrm>
            <a:off x="11430000" y="6419088"/>
            <a:ext cx="29260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0" name="Google Shape;920;p19"/>
          <p:cNvSpPr/>
          <p:nvPr/>
        </p:nvSpPr>
        <p:spPr>
          <a:xfrm>
            <a:off x="7680960" y="6419088"/>
            <a:ext cx="3291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750"/>
              <a:buFont typeface="Arial"/>
              <a:buNone/>
            </a:pPr>
            <a:r>
              <a:rPr b="0" i="1" lang="en-US" sz="75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Fuentes: documento final + repo RAICES_VIVAS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DFC"/>
        </a:solidFill>
      </p:bgPr>
    </p:bg>
    <p:spTree>
      <p:nvGrpSpPr>
        <p:cNvPr id="925" name="Shape 9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" name="Google Shape;926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C"/>
          </a:solidFill>
          <a:ln cap="flat" cmpd="sng" w="12700">
            <a:solidFill>
              <a:srgbClr val="FFFDF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7" name="Google Shape;927;p20"/>
          <p:cNvSpPr/>
          <p:nvPr/>
        </p:nvSpPr>
        <p:spPr>
          <a:xfrm>
            <a:off x="-640080" y="-1097280"/>
            <a:ext cx="2926080" cy="2926080"/>
          </a:xfrm>
          <a:prstGeom prst="ellipse">
            <a:avLst/>
          </a:prstGeom>
          <a:solidFill>
            <a:srgbClr val="E8D9C4">
              <a:alpha val="65098"/>
            </a:srgbClr>
          </a:solidFill>
          <a:ln cap="flat" cmpd="sng" w="12700">
            <a:solidFill>
              <a:srgbClr val="E8D9C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8" name="Google Shape;928;p20"/>
          <p:cNvSpPr/>
          <p:nvPr/>
        </p:nvSpPr>
        <p:spPr>
          <a:xfrm>
            <a:off x="10287000" y="5166360"/>
            <a:ext cx="2286000" cy="2286000"/>
          </a:xfrm>
          <a:prstGeom prst="ellipse">
            <a:avLst/>
          </a:prstGeom>
          <a:solidFill>
            <a:srgbClr val="8FA49B">
              <a:alpha val="25098"/>
            </a:srgbClr>
          </a:solidFill>
          <a:ln cap="flat" cmpd="sng" w="12700">
            <a:solidFill>
              <a:srgbClr val="8FA49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9" name="Google Shape;929;p20"/>
          <p:cNvSpPr/>
          <p:nvPr/>
        </p:nvSpPr>
        <p:spPr>
          <a:xfrm>
            <a:off x="9784080" y="-640080"/>
            <a:ext cx="2743200" cy="2743200"/>
          </a:xfrm>
          <a:prstGeom prst="ellipse">
            <a:avLst/>
          </a:prstGeom>
          <a:solidFill>
            <a:srgbClr val="C5A05A">
              <a:alpha val="18039"/>
            </a:srgbClr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0" name="Google Shape;930;p20"/>
          <p:cNvSpPr/>
          <p:nvPr/>
        </p:nvSpPr>
        <p:spPr>
          <a:xfrm>
            <a:off x="411480" y="310896"/>
            <a:ext cx="11384280" cy="9144"/>
          </a:xfrm>
          <a:prstGeom prst="rect">
            <a:avLst/>
          </a:prstGeom>
          <a:solidFill>
            <a:srgbClr val="D9D1C5">
              <a:alpha val="0"/>
            </a:srgbClr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1" name="Google Shape;931;p20"/>
          <p:cNvSpPr/>
          <p:nvPr/>
        </p:nvSpPr>
        <p:spPr>
          <a:xfrm>
            <a:off x="548640" y="164592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CIERRE ANALÍTICO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2" name="Google Shape;932;p20"/>
          <p:cNvSpPr/>
          <p:nvPr/>
        </p:nvSpPr>
        <p:spPr>
          <a:xfrm>
            <a:off x="548640" y="384048"/>
            <a:ext cx="8138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400"/>
              <a:buFont typeface="Play"/>
              <a:buNone/>
            </a:pPr>
            <a:r>
              <a:rPr b="1" i="0" lang="en-US" sz="24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Conclusiones y recomendaciones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3" name="Google Shape;933;p20"/>
          <p:cNvSpPr/>
          <p:nvPr/>
        </p:nvSpPr>
        <p:spPr>
          <a:xfrm>
            <a:off x="548640" y="6446520"/>
            <a:ext cx="4023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Raíces Vivas · Entrega Final · CENFOTEC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4" name="Google Shape;934;p20"/>
          <p:cNvSpPr/>
          <p:nvPr/>
        </p:nvSpPr>
        <p:spPr>
          <a:xfrm>
            <a:off x="566928" y="868680"/>
            <a:ext cx="71323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El proyecto demuestra que una solución tecnológica puede ser rigurosa, contextual y gobernable sin perder viabilidad técnica.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5" name="Google Shape;935;p20"/>
          <p:cNvSpPr/>
          <p:nvPr/>
        </p:nvSpPr>
        <p:spPr>
          <a:xfrm>
            <a:off x="566928" y="1234440"/>
            <a:ext cx="3520440" cy="2743200"/>
          </a:xfrm>
          <a:prstGeom prst="roundRect">
            <a:avLst>
              <a:gd fmla="val 2667" name="adj"/>
            </a:avLst>
          </a:prstGeom>
          <a:solidFill>
            <a:srgbClr val="F4FAF7"/>
          </a:solidFill>
          <a:ln cap="flat" cmpd="sng" w="12700">
            <a:solidFill>
              <a:srgbClr val="E4DBCF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6" name="Google Shape;936;p20"/>
          <p:cNvSpPr/>
          <p:nvPr/>
        </p:nvSpPr>
        <p:spPr>
          <a:xfrm>
            <a:off x="795528" y="1490472"/>
            <a:ext cx="1005840" cy="256032"/>
          </a:xfrm>
          <a:prstGeom prst="roundRect">
            <a:avLst>
              <a:gd fmla="val 28571" name="adj"/>
            </a:avLst>
          </a:prstGeom>
          <a:solidFill>
            <a:srgbClr val="4E6E66"/>
          </a:solidFill>
          <a:ln cap="flat" cmpd="sng" w="12700">
            <a:solidFill>
              <a:srgbClr val="4E6E6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7" name="Google Shape;937;p20"/>
          <p:cNvSpPr/>
          <p:nvPr/>
        </p:nvSpPr>
        <p:spPr>
          <a:xfrm>
            <a:off x="868680" y="1527048"/>
            <a:ext cx="85953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Conclusión 1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8" name="Google Shape;938;p20"/>
          <p:cNvSpPr/>
          <p:nvPr/>
        </p:nvSpPr>
        <p:spPr>
          <a:xfrm>
            <a:off x="795528" y="1865376"/>
            <a:ext cx="306324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900"/>
              <a:buFont typeface="Play"/>
              <a:buNone/>
            </a:pPr>
            <a:r>
              <a:rPr b="1" i="0" lang="en-US" sz="19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Offline-first es necesario y viable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9" name="Google Shape;939;p20"/>
          <p:cNvSpPr/>
          <p:nvPr/>
        </p:nvSpPr>
        <p:spPr>
          <a:xfrm>
            <a:off x="795528" y="2468880"/>
            <a:ext cx="3063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La arquitectura PouchDB/CouchDB permite continuidad operativa en territorios con conectividad limitada o inexistente, sin comprometer usabilidad ni portabilidad.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0" name="Google Shape;940;p20"/>
          <p:cNvSpPr/>
          <p:nvPr/>
        </p:nvSpPr>
        <p:spPr>
          <a:xfrm>
            <a:off x="4334256" y="1234440"/>
            <a:ext cx="3520440" cy="2743200"/>
          </a:xfrm>
          <a:prstGeom prst="roundRect">
            <a:avLst>
              <a:gd fmla="val 2667" name="adj"/>
            </a:avLst>
          </a:prstGeom>
          <a:solidFill>
            <a:srgbClr val="FFF7F4"/>
          </a:solidFill>
          <a:ln cap="flat" cmpd="sng" w="12700">
            <a:solidFill>
              <a:srgbClr val="E4DBCF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1" name="Google Shape;941;p20"/>
          <p:cNvSpPr/>
          <p:nvPr/>
        </p:nvSpPr>
        <p:spPr>
          <a:xfrm>
            <a:off x="4562856" y="1490472"/>
            <a:ext cx="1005840" cy="256032"/>
          </a:xfrm>
          <a:prstGeom prst="roundRect">
            <a:avLst>
              <a:gd fmla="val 28571" name="adj"/>
            </a:avLst>
          </a:prstGeom>
          <a:solidFill>
            <a:srgbClr val="B85C38"/>
          </a:solidFill>
          <a:ln cap="flat" cmpd="sng" w="12700">
            <a:solidFill>
              <a:srgbClr val="B85C3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2" name="Google Shape;942;p20"/>
          <p:cNvSpPr/>
          <p:nvPr/>
        </p:nvSpPr>
        <p:spPr>
          <a:xfrm>
            <a:off x="4636008" y="1527048"/>
            <a:ext cx="85953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Conclusión 2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3" name="Google Shape;943;p20"/>
          <p:cNvSpPr/>
          <p:nvPr/>
        </p:nvSpPr>
        <p:spPr>
          <a:xfrm>
            <a:off x="4562856" y="1865376"/>
            <a:ext cx="306324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900"/>
              <a:buFont typeface="Play"/>
              <a:buNone/>
            </a:pPr>
            <a:r>
              <a:rPr b="1" i="0" lang="en-US" sz="19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CARE debe vivirse como arquitectura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4" name="Google Shape;944;p20"/>
          <p:cNvSpPr/>
          <p:nvPr/>
        </p:nvSpPr>
        <p:spPr>
          <a:xfrm>
            <a:off x="4562856" y="2468880"/>
            <a:ext cx="3063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La gobernanza cultural no puede añadirse al final. Debe incorporarse al modelo de datos, a la sincronización, a la auditoría y a la revocación.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5" name="Google Shape;945;p20"/>
          <p:cNvSpPr/>
          <p:nvPr/>
        </p:nvSpPr>
        <p:spPr>
          <a:xfrm>
            <a:off x="8101584" y="1234440"/>
            <a:ext cx="3520440" cy="2743200"/>
          </a:xfrm>
          <a:prstGeom prst="roundRect">
            <a:avLst>
              <a:gd fmla="val 2667" name="adj"/>
            </a:avLst>
          </a:prstGeom>
          <a:solidFill>
            <a:srgbClr val="FFFBEF"/>
          </a:solidFill>
          <a:ln cap="flat" cmpd="sng" w="12700">
            <a:solidFill>
              <a:srgbClr val="E4DBCF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6" name="Google Shape;946;p20"/>
          <p:cNvSpPr/>
          <p:nvPr/>
        </p:nvSpPr>
        <p:spPr>
          <a:xfrm>
            <a:off x="8330184" y="1490472"/>
            <a:ext cx="1005840" cy="256032"/>
          </a:xfrm>
          <a:prstGeom prst="roundRect">
            <a:avLst>
              <a:gd fmla="val 28571" name="adj"/>
            </a:avLst>
          </a:prstGeom>
          <a:solidFill>
            <a:srgbClr val="C5A05A"/>
          </a:solidFill>
          <a:ln cap="flat" cmpd="sng" w="12700">
            <a:solidFill>
              <a:srgbClr val="C5A05A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7" name="Google Shape;947;p20"/>
          <p:cNvSpPr/>
          <p:nvPr/>
        </p:nvSpPr>
        <p:spPr>
          <a:xfrm>
            <a:off x="8403336" y="1527048"/>
            <a:ext cx="85953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133A32"/>
                </a:solidFill>
                <a:latin typeface="Arial"/>
                <a:ea typeface="Arial"/>
                <a:cs typeface="Arial"/>
                <a:sym typeface="Arial"/>
              </a:rPr>
              <a:t>Conclusión 3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8" name="Google Shape;948;p20"/>
          <p:cNvSpPr/>
          <p:nvPr/>
        </p:nvSpPr>
        <p:spPr>
          <a:xfrm>
            <a:off x="8330184" y="1865376"/>
            <a:ext cx="306324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900"/>
              <a:buFont typeface="Play"/>
              <a:buNone/>
            </a:pPr>
            <a:r>
              <a:rPr b="1" i="0" lang="en-US" sz="19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Las comunidades son socias de diseño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9" name="Google Shape;949;p20"/>
          <p:cNvSpPr/>
          <p:nvPr/>
        </p:nvSpPr>
        <p:spPr>
          <a:xfrm>
            <a:off x="8330184" y="2468880"/>
            <a:ext cx="3063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120"/>
              <a:buFont typeface="Arial"/>
              <a:buNone/>
            </a:pPr>
            <a:r>
              <a:rPr b="0" i="0" lang="en-US" sz="112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La validez del sistema depende de respetar estructuras comunitarias existentes y de reconocer a los actores locales como coautores del diseño.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0" name="Google Shape;950;p20"/>
          <p:cNvSpPr/>
          <p:nvPr/>
        </p:nvSpPr>
        <p:spPr>
          <a:xfrm>
            <a:off x="566928" y="4315968"/>
            <a:ext cx="11055096" cy="1463040"/>
          </a:xfrm>
          <a:prstGeom prst="roundRect">
            <a:avLst>
              <a:gd fmla="val 5000" name="adj"/>
            </a:avLst>
          </a:prstGeom>
          <a:solidFill>
            <a:srgbClr val="FFFDFC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  <a:effectLst>
            <a:outerShdw blurRad="19050" rotWithShape="0" algn="bl" dir="2700000" dist="10160">
              <a:srgbClr val="000000">
                <a:alpha val="1411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1" name="Google Shape;951;p20"/>
          <p:cNvSpPr/>
          <p:nvPr/>
        </p:nvSpPr>
        <p:spPr>
          <a:xfrm>
            <a:off x="804672" y="4535424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RECOMENDACIONES PRIORITARIAS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2" name="Google Shape;952;p20"/>
          <p:cNvSpPr/>
          <p:nvPr/>
        </p:nvSpPr>
        <p:spPr>
          <a:xfrm>
            <a:off x="804672" y="4828032"/>
            <a:ext cx="7315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180"/>
              <a:buFont typeface="Arial"/>
              <a:buNone/>
            </a:pPr>
            <a:r>
              <a:rPr b="0" i="0" lang="en-US" sz="11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Realizar validaciones presenciales con comunidades antes del siguiente sprint de expansión.</a:t>
            </a:r>
            <a:br>
              <a:rPr b="0" i="0" lang="en-US" sz="11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Priorizar el piloto en Guatuso por su mejor infraestructura y menor riesgo técnico inicial.</a:t>
            </a:r>
            <a:br>
              <a:rPr b="0" i="0" lang="en-US" sz="11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8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Completar el mapeo con EDUS y validar traducciones con hablantes nativos y fuentes del MEP.</a:t>
            </a:r>
            <a:endParaRPr b="0" i="0" sz="11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3" name="Google Shape;953;p20"/>
          <p:cNvSpPr/>
          <p:nvPr/>
        </p:nvSpPr>
        <p:spPr>
          <a:xfrm>
            <a:off x="8412480" y="4608576"/>
            <a:ext cx="192024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Contribución académica final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4" name="Google Shape;954;p20"/>
          <p:cNvSpPr/>
          <p:nvPr/>
        </p:nvSpPr>
        <p:spPr>
          <a:xfrm>
            <a:off x="8412475" y="4882901"/>
            <a:ext cx="2743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1800"/>
              <a:buFont typeface="Play"/>
              <a:buNone/>
            </a:pPr>
            <a:r>
              <a:rPr b="1" i="0" lang="en-US" sz="12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Un caso de ingeniería de software donde la gestión, la trazabilidad y la ética de datos son inseparables del diseño técnico.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5" name="Google Shape;955;p20"/>
          <p:cNvSpPr/>
          <p:nvPr/>
        </p:nvSpPr>
        <p:spPr>
          <a:xfrm>
            <a:off x="11430000" y="6419088"/>
            <a:ext cx="29260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6" name="Google Shape;956;p20"/>
          <p:cNvSpPr/>
          <p:nvPr/>
        </p:nvSpPr>
        <p:spPr>
          <a:xfrm>
            <a:off x="7680960" y="6419088"/>
            <a:ext cx="3291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750"/>
              <a:buFont typeface="Arial"/>
              <a:buNone/>
            </a:pPr>
            <a:r>
              <a:rPr b="0" i="1" lang="en-US" sz="75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Fuentes: documento final + repo RAICES_VIVAS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3A32"/>
        </a:solidFill>
      </p:bgPr>
    </p:bg>
    <p:spTree>
      <p:nvGrpSpPr>
        <p:cNvPr id="96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Google Shape;962;p21"/>
          <p:cNvSpPr/>
          <p:nvPr/>
        </p:nvSpPr>
        <p:spPr>
          <a:xfrm>
            <a:off x="-731520" y="3840480"/>
            <a:ext cx="4114800" cy="4114800"/>
          </a:xfrm>
          <a:prstGeom prst="ellipse">
            <a:avLst/>
          </a:prstGeom>
          <a:solidFill>
            <a:srgbClr val="8FA49B">
              <a:alpha val="18039"/>
            </a:srgbClr>
          </a:solidFill>
          <a:ln cap="flat" cmpd="sng" w="12700">
            <a:solidFill>
              <a:srgbClr val="8FA49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3" name="Google Shape;963;p21"/>
          <p:cNvSpPr/>
          <p:nvPr/>
        </p:nvSpPr>
        <p:spPr>
          <a:xfrm>
            <a:off x="8778240" y="-1005840"/>
            <a:ext cx="4206240" cy="4206240"/>
          </a:xfrm>
          <a:prstGeom prst="ellipse">
            <a:avLst/>
          </a:prstGeom>
          <a:solidFill>
            <a:srgbClr val="B85C38">
              <a:alpha val="72156"/>
            </a:srgbClr>
          </a:solidFill>
          <a:ln cap="flat" cmpd="sng" w="12700">
            <a:solidFill>
              <a:srgbClr val="B85C3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4" name="Google Shape;964;p21"/>
          <p:cNvSpPr/>
          <p:nvPr/>
        </p:nvSpPr>
        <p:spPr>
          <a:xfrm>
            <a:off x="868680" y="1051560"/>
            <a:ext cx="3200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D9C4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D9C4"/>
                </a:solidFill>
                <a:latin typeface="Arial"/>
                <a:ea typeface="Arial"/>
                <a:cs typeface="Arial"/>
                <a:sym typeface="Arial"/>
              </a:rPr>
              <a:t>Raíces Vivas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5" name="Google Shape;965;p21"/>
          <p:cNvSpPr/>
          <p:nvPr/>
        </p:nvSpPr>
        <p:spPr>
          <a:xfrm>
            <a:off x="868680" y="1600200"/>
            <a:ext cx="58521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Play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Más que digitalizar procesos,</a:t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Play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se trata de codificar continuidad,</a:t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Play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soberanía y acceso.</a:t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6" name="Google Shape;966;p21"/>
          <p:cNvSpPr/>
          <p:nvPr/>
        </p:nvSpPr>
        <p:spPr>
          <a:xfrm>
            <a:off x="896112" y="3886200"/>
            <a:ext cx="1371600" cy="713232"/>
          </a:xfrm>
          <a:prstGeom prst="roundRect">
            <a:avLst>
              <a:gd fmla="val 10256" name="adj"/>
            </a:avLst>
          </a:prstGeom>
          <a:solidFill>
            <a:srgbClr val="FCF8F2"/>
          </a:solidFill>
          <a:ln cap="flat" cmpd="sng" w="12700">
            <a:solidFill>
              <a:srgbClr val="E8D9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7" name="Google Shape;967;p21"/>
          <p:cNvSpPr/>
          <p:nvPr/>
        </p:nvSpPr>
        <p:spPr>
          <a:xfrm>
            <a:off x="1060704" y="4032504"/>
            <a:ext cx="104241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26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1E2A26"/>
                </a:solidFill>
                <a:latin typeface="Arial"/>
                <a:ea typeface="Arial"/>
                <a:cs typeface="Arial"/>
                <a:sym typeface="Arial"/>
              </a:rPr>
              <a:t>“Gracias”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8" name="Google Shape;968;p21"/>
          <p:cNvSpPr/>
          <p:nvPr/>
        </p:nvSpPr>
        <p:spPr>
          <a:xfrm>
            <a:off x="896112" y="4983480"/>
            <a:ext cx="38404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DFD2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E7DFD2"/>
                </a:solidFill>
                <a:latin typeface="Arial"/>
                <a:ea typeface="Arial"/>
                <a:cs typeface="Arial"/>
                <a:sym typeface="Arial"/>
              </a:rPr>
              <a:t>Equipo: </a:t>
            </a:r>
            <a:r>
              <a:rPr b="1" lang="en-US" sz="1050">
                <a:solidFill>
                  <a:srgbClr val="E7DFD2"/>
                </a:solidFill>
              </a:rPr>
              <a:t>Elkin</a:t>
            </a:r>
            <a:r>
              <a:rPr b="1" i="0" lang="en-US" sz="1050" u="none" cap="none" strike="noStrike">
                <a:solidFill>
                  <a:srgbClr val="E7DFD2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1050" u="none" cap="none" strike="noStrike">
                <a:solidFill>
                  <a:srgbClr val="E7DFD2"/>
                </a:solidFill>
                <a:latin typeface="Arial"/>
                <a:ea typeface="Arial"/>
                <a:cs typeface="Arial"/>
                <a:sym typeface="Arial"/>
              </a:rPr>
              <a:t>· </a:t>
            </a:r>
            <a:r>
              <a:rPr b="1" lang="en-US" sz="1050">
                <a:solidFill>
                  <a:srgbClr val="E7DFD2"/>
                </a:solidFill>
              </a:rPr>
              <a:t>Geovanny</a:t>
            </a:r>
            <a:r>
              <a:rPr b="1" i="0" lang="en-US" sz="1050" u="none" cap="none" strike="noStrike">
                <a:solidFill>
                  <a:srgbClr val="E7DFD2"/>
                </a:solidFill>
                <a:latin typeface="Arial"/>
                <a:ea typeface="Arial"/>
                <a:cs typeface="Arial"/>
                <a:sym typeface="Arial"/>
              </a:rPr>
              <a:t> · Santiago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9" name="Google Shape;969;p21"/>
          <p:cNvSpPr/>
          <p:nvPr/>
        </p:nvSpPr>
        <p:spPr>
          <a:xfrm>
            <a:off x="896112" y="5248656"/>
            <a:ext cx="4206240" cy="1463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DC5B7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CDC5B7"/>
                </a:solidFill>
                <a:latin typeface="Arial"/>
                <a:ea typeface="Arial"/>
                <a:cs typeface="Arial"/>
                <a:sym typeface="Arial"/>
              </a:rPr>
              <a:t>CENFOTEC · Introducción a la Ingeniería de Software · Entrega final 2026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0" name="Google Shape;970;p21"/>
          <p:cNvSpPr/>
          <p:nvPr/>
        </p:nvSpPr>
        <p:spPr>
          <a:xfrm>
            <a:off x="6720840" y="1234440"/>
            <a:ext cx="4572000" cy="4434840"/>
          </a:xfrm>
          <a:prstGeom prst="roundRect">
            <a:avLst>
              <a:gd fmla="val 1649" name="adj"/>
            </a:avLst>
          </a:prstGeom>
          <a:solidFill>
            <a:srgbClr val="FFF8EE"/>
          </a:solidFill>
          <a:ln cap="flat" cmpd="sng" w="12700">
            <a:solidFill>
              <a:srgbClr val="D9D1C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1" name="Google Shape;971;p21"/>
          <p:cNvSpPr/>
          <p:nvPr/>
        </p:nvSpPr>
        <p:spPr>
          <a:xfrm>
            <a:off x="6986016" y="1481328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5C3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5C38"/>
                </a:solidFill>
                <a:latin typeface="Arial"/>
                <a:ea typeface="Arial"/>
                <a:cs typeface="Arial"/>
                <a:sym typeface="Arial"/>
              </a:rPr>
              <a:t>CIERRE PARA EXPOSICIÓN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2" name="Google Shape;972;p21"/>
          <p:cNvSpPr/>
          <p:nvPr/>
        </p:nvSpPr>
        <p:spPr>
          <a:xfrm>
            <a:off x="6986016" y="1874520"/>
            <a:ext cx="379476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Problema real, contextual y medible</a:t>
            </a:r>
            <a:br>
              <a:rPr b="0" i="0" lang="en-US" sz="120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Método mixto con fundamento ético</a:t>
            </a:r>
            <a:br>
              <a:rPr b="0" i="0" lang="en-US" sz="120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Arquitectura coherente con el territorio</a:t>
            </a:r>
            <a:br>
              <a:rPr b="0" i="0" lang="en-US" sz="120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Gestión trazable con Obsidian, GitHub y Jira</a:t>
            </a:r>
            <a:br>
              <a:rPr b="0" i="0" lang="en-US" sz="120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20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• MVP con base técnica demostrable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3" name="Google Shape;973;p21"/>
          <p:cNvSpPr/>
          <p:nvPr/>
        </p:nvSpPr>
        <p:spPr>
          <a:xfrm>
            <a:off x="6986025" y="3326711"/>
            <a:ext cx="2743200" cy="129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3A32"/>
              </a:buClr>
              <a:buSzPts val="2100"/>
              <a:buFont typeface="Play"/>
              <a:buNone/>
            </a:pPr>
            <a:r>
              <a:rPr b="1" i="0" lang="en-US" sz="2100" u="none" cap="none" strike="noStrike">
                <a:solidFill>
                  <a:srgbClr val="133A32"/>
                </a:solidFill>
                <a:latin typeface="Play"/>
                <a:ea typeface="Play"/>
                <a:cs typeface="Play"/>
                <a:sym typeface="Play"/>
              </a:rPr>
              <a:t>Preguntas y discusión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4" name="Google Shape;974;p21"/>
          <p:cNvSpPr/>
          <p:nvPr/>
        </p:nvSpPr>
        <p:spPr>
          <a:xfrm>
            <a:off x="6986016" y="4736592"/>
            <a:ext cx="37490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312D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24312D"/>
                </a:solidFill>
                <a:latin typeface="Arial"/>
                <a:ea typeface="Arial"/>
                <a:cs typeface="Arial"/>
                <a:sym typeface="Arial"/>
              </a:rPr>
              <a:t>La defensa del proyecto puede apoyarse tanto en la evidencia del documento final como en los artefactos vivos del repositorio.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5" name="Google Shape;975;p21"/>
          <p:cNvSpPr/>
          <p:nvPr/>
        </p:nvSpPr>
        <p:spPr>
          <a:xfrm>
            <a:off x="11430000" y="6419088"/>
            <a:ext cx="29260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6" name="Google Shape;976;p21"/>
          <p:cNvSpPr/>
          <p:nvPr/>
        </p:nvSpPr>
        <p:spPr>
          <a:xfrm>
            <a:off x="7680960" y="6419088"/>
            <a:ext cx="3291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A746E"/>
              </a:buClr>
              <a:buSzPts val="750"/>
              <a:buFont typeface="Arial"/>
              <a:buNone/>
            </a:pPr>
            <a:r>
              <a:rPr b="0" i="1" lang="en-US" sz="750" u="none" cap="none" strike="noStrike">
                <a:solidFill>
                  <a:srgbClr val="6A746E"/>
                </a:solidFill>
                <a:latin typeface="Arial"/>
                <a:ea typeface="Arial"/>
                <a:cs typeface="Arial"/>
                <a:sym typeface="Arial"/>
              </a:rPr>
              <a:t>Fuente: documento final + repo RAICES_VIVAS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2026-04-20T04:18:27Z</dcterms:created>
  <dc:creator>OpenAI</dc:creator>
</cp:coreProperties>
</file>